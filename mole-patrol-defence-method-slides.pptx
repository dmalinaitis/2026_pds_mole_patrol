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4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7" d="100"/>
          <a:sy n="107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4A6C1-E561-6344-483F-5B9BB139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2FB5D-5928-85D4-41EC-26FFB80ED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23833-DA6F-1C9F-A572-2F9B6787C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C34D4-4331-E3C5-59B0-1B35FBFE296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5387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6CBE-7BDF-0C72-2C9F-D4D83F221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78FCC-6E72-88A7-790A-6B3830557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7F0F1-B647-7247-C82E-643910E75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70A1E-18A0-7DD4-E007-01F9FA8C6BB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0270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background">
            <a:extLst>
              <a:ext uri="{FF2B5EF4-FFF2-40B4-BE49-F238E27FC236}">
                <a16:creationId xmlns:a16="http://schemas.microsoft.com/office/drawing/2014/main" id="{B4D87856-2875-4026-83DB-287BD50DAA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 dirty="0"/>
          </a:p>
        </p:txBody>
      </p:sp>
      <p:sp>
        <p:nvSpPr>
          <p:cNvPr id="2" name="pipeline-step-1">
            <a:extLst>
              <a:ext uri="{FF2B5EF4-FFF2-40B4-BE49-F238E27FC236}">
                <a16:creationId xmlns:a16="http://schemas.microsoft.com/office/drawing/2014/main" id="{245C9E6F-D781-453B-B0A2-C05DAD6A7D73}"/>
              </a:ext>
            </a:extLst>
          </p:cNvPr>
          <p:cNvSpPr>
            <a:spLocks noGrp="1"/>
          </p:cNvSpPr>
          <p:nvPr/>
        </p:nvSpPr>
        <p:spPr>
          <a:xfrm>
            <a:off x="5334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01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3" name="pipeline-arrow-1">
            <a:extLst>
              <a:ext uri="{FF2B5EF4-FFF2-40B4-BE49-F238E27FC236}">
                <a16:creationId xmlns:a16="http://schemas.microsoft.com/office/drawing/2014/main" id="{B17B087F-BE34-4446-BB04-54CAD7062902}"/>
              </a:ext>
            </a:extLst>
          </p:cNvPr>
          <p:cNvSpPr>
            <a:spLocks noGrp="1"/>
          </p:cNvSpPr>
          <p:nvPr/>
        </p:nvSpPr>
        <p:spPr>
          <a:xfrm>
            <a:off x="20288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" name="pipeline-step-2">
            <a:extLst>
              <a:ext uri="{FF2B5EF4-FFF2-40B4-BE49-F238E27FC236}">
                <a16:creationId xmlns:a16="http://schemas.microsoft.com/office/drawing/2014/main" id="{C9C12EB0-0E6B-4148-86BA-0F8B9A45ACFD}"/>
              </a:ext>
            </a:extLst>
          </p:cNvPr>
          <p:cNvSpPr>
            <a:spLocks noGrp="1"/>
          </p:cNvSpPr>
          <p:nvPr/>
        </p:nvSpPr>
        <p:spPr>
          <a:xfrm>
            <a:off x="25146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02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Feature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extraction</a:t>
            </a:r>
          </a:p>
        </p:txBody>
      </p:sp>
      <p:sp>
        <p:nvSpPr>
          <p:cNvPr id="5" name="pipeline-arrow-2">
            <a:extLst>
              <a:ext uri="{FF2B5EF4-FFF2-40B4-BE49-F238E27FC236}">
                <a16:creationId xmlns:a16="http://schemas.microsoft.com/office/drawing/2014/main" id="{484CC5A3-5D8F-4218-BC73-7EF3E8A93845}"/>
              </a:ext>
            </a:extLst>
          </p:cNvPr>
          <p:cNvSpPr>
            <a:spLocks noGrp="1"/>
          </p:cNvSpPr>
          <p:nvPr/>
        </p:nvSpPr>
        <p:spPr>
          <a:xfrm>
            <a:off x="40100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pipeline-arrow-3">
            <a:extLst>
              <a:ext uri="{FF2B5EF4-FFF2-40B4-BE49-F238E27FC236}">
                <a16:creationId xmlns:a16="http://schemas.microsoft.com/office/drawing/2014/main" id="{E60E3D6C-FC56-4852-8C57-4DFD7A02DA7E}"/>
              </a:ext>
            </a:extLst>
          </p:cNvPr>
          <p:cNvSpPr>
            <a:spLocks noGrp="1"/>
          </p:cNvSpPr>
          <p:nvPr/>
        </p:nvSpPr>
        <p:spPr>
          <a:xfrm>
            <a:off x="59912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pipeline-step-4">
            <a:extLst>
              <a:ext uri="{FF2B5EF4-FFF2-40B4-BE49-F238E27FC236}">
                <a16:creationId xmlns:a16="http://schemas.microsoft.com/office/drawing/2014/main" id="{B05301D9-77C9-4D36-94A0-68371429E2F7}"/>
              </a:ext>
            </a:extLst>
          </p:cNvPr>
          <p:cNvSpPr>
            <a:spLocks noGrp="1"/>
          </p:cNvSpPr>
          <p:nvPr/>
        </p:nvSpPr>
        <p:spPr>
          <a:xfrm>
            <a:off x="64770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04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Train/test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9" name="pipeline-arrow-4">
            <a:extLst>
              <a:ext uri="{FF2B5EF4-FFF2-40B4-BE49-F238E27FC236}">
                <a16:creationId xmlns:a16="http://schemas.microsoft.com/office/drawing/2014/main" id="{59D9EA43-2AD5-4C68-A5FA-7C6372BC6BE7}"/>
              </a:ext>
            </a:extLst>
          </p:cNvPr>
          <p:cNvSpPr>
            <a:spLocks noGrp="1"/>
          </p:cNvSpPr>
          <p:nvPr/>
        </p:nvSpPr>
        <p:spPr>
          <a:xfrm>
            <a:off x="79724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pipeline-step-5">
            <a:extLst>
              <a:ext uri="{FF2B5EF4-FFF2-40B4-BE49-F238E27FC236}">
                <a16:creationId xmlns:a16="http://schemas.microsoft.com/office/drawing/2014/main" id="{ECD2D5F5-1A0A-4E31-87D0-5155726B26FE}"/>
              </a:ext>
            </a:extLst>
          </p:cNvPr>
          <p:cNvSpPr>
            <a:spLocks noGrp="1"/>
          </p:cNvSpPr>
          <p:nvPr/>
        </p:nvSpPr>
        <p:spPr>
          <a:xfrm>
            <a:off x="84582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05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Model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11" name="pipeline-arrow-5">
            <a:extLst>
              <a:ext uri="{FF2B5EF4-FFF2-40B4-BE49-F238E27FC236}">
                <a16:creationId xmlns:a16="http://schemas.microsoft.com/office/drawing/2014/main" id="{8DE9F7DA-871D-4279-B6E7-8E2642729776}"/>
              </a:ext>
            </a:extLst>
          </p:cNvPr>
          <p:cNvSpPr>
            <a:spLocks noGrp="1"/>
          </p:cNvSpPr>
          <p:nvPr/>
        </p:nvSpPr>
        <p:spPr>
          <a:xfrm>
            <a:off x="99536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pipeline-step-6">
            <a:extLst>
              <a:ext uri="{FF2B5EF4-FFF2-40B4-BE49-F238E27FC236}">
                <a16:creationId xmlns:a16="http://schemas.microsoft.com/office/drawing/2014/main" id="{681D6A92-7214-475D-BC63-7D2A06D37B23}"/>
              </a:ext>
            </a:extLst>
          </p:cNvPr>
          <p:cNvSpPr>
            <a:spLocks noGrp="1"/>
          </p:cNvSpPr>
          <p:nvPr/>
        </p:nvSpPr>
        <p:spPr>
          <a:xfrm>
            <a:off x="10439400" y="2781300"/>
            <a:ext cx="1428750" cy="876300"/>
          </a:xfrm>
          <a:prstGeom prst="rect">
            <a:avLst/>
          </a:prstGeom>
          <a:solidFill>
            <a:srgbClr val="DDEDE7"/>
          </a:solidFill>
          <a:ln w="9525">
            <a:solidFill>
              <a:srgbClr val="2B8C72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06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14" name="pipeline-step-2">
            <a:extLst>
              <a:ext uri="{FF2B5EF4-FFF2-40B4-BE49-F238E27FC236}">
                <a16:creationId xmlns:a16="http://schemas.microsoft.com/office/drawing/2014/main" id="{118B3D19-0569-7400-05FF-2BCBE718B1C8}"/>
              </a:ext>
            </a:extLst>
          </p:cNvPr>
          <p:cNvSpPr>
            <a:spLocks noGrp="1"/>
          </p:cNvSpPr>
          <p:nvPr/>
        </p:nvSpPr>
        <p:spPr>
          <a:xfrm>
            <a:off x="443865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0</a:t>
            </a: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3</a:t>
            </a:r>
            <a:endParaRPr sz="1350" b="1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Open 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question</a:t>
            </a:r>
            <a:endParaRPr sz="1350" b="1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claim-title">
            <a:extLst>
              <a:ext uri="{FF2B5EF4-FFF2-40B4-BE49-F238E27FC236}">
                <a16:creationId xmlns:a16="http://schemas.microsoft.com/office/drawing/2014/main" id="{26545B1C-04A1-B5DC-4D89-AAEFF880BE9E}"/>
              </a:ext>
            </a:extLst>
          </p:cNvPr>
          <p:cNvSpPr>
            <a:spLocks noGrp="1"/>
          </p:cNvSpPr>
          <p:nvPr/>
        </p:nvSpPr>
        <p:spPr>
          <a:xfrm>
            <a:off x="4795210" y="428672"/>
            <a:ext cx="260158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5182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3000" b="1" dirty="0">
                <a:solidFill>
                  <a:srgbClr val="151820"/>
                </a:solidFill>
                <a:latin typeface="Aptos Display"/>
                <a:ea typeface="Aptos Display"/>
                <a:cs typeface="Aptos Display"/>
              </a:rPr>
              <a:t>Project Pipeline</a:t>
            </a:r>
            <a:endParaRPr sz="3000" b="1" dirty="0">
              <a:solidFill>
                <a:srgbClr val="151820"/>
              </a:solidFill>
              <a:latin typeface="Aptos Display"/>
              <a:ea typeface="Aptos Display"/>
              <a:cs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401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37C44-E159-FB67-35CE-2D8954D4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background">
            <a:extLst>
              <a:ext uri="{FF2B5EF4-FFF2-40B4-BE49-F238E27FC236}">
                <a16:creationId xmlns:a16="http://schemas.microsoft.com/office/drawing/2014/main" id="{6365971C-15DD-70B7-4AB0-A5956950D0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 dirty="0"/>
          </a:p>
        </p:txBody>
      </p:sp>
      <p:sp>
        <p:nvSpPr>
          <p:cNvPr id="2" name="pipeline-step-1">
            <a:extLst>
              <a:ext uri="{FF2B5EF4-FFF2-40B4-BE49-F238E27FC236}">
                <a16:creationId xmlns:a16="http://schemas.microsoft.com/office/drawing/2014/main" id="{57F7B3D7-62FF-5144-6AA1-C8C92FAD0D57}"/>
              </a:ext>
            </a:extLst>
          </p:cNvPr>
          <p:cNvSpPr>
            <a:spLocks noGrp="1"/>
          </p:cNvSpPr>
          <p:nvPr/>
        </p:nvSpPr>
        <p:spPr>
          <a:xfrm>
            <a:off x="5334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01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3" name="pipeline-arrow-1">
            <a:extLst>
              <a:ext uri="{FF2B5EF4-FFF2-40B4-BE49-F238E27FC236}">
                <a16:creationId xmlns:a16="http://schemas.microsoft.com/office/drawing/2014/main" id="{810567DF-5F7A-3CC2-82FC-B9BEDBF6B65B}"/>
              </a:ext>
            </a:extLst>
          </p:cNvPr>
          <p:cNvSpPr>
            <a:spLocks noGrp="1"/>
          </p:cNvSpPr>
          <p:nvPr/>
        </p:nvSpPr>
        <p:spPr>
          <a:xfrm>
            <a:off x="20288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" name="pipeline-step-2">
            <a:extLst>
              <a:ext uri="{FF2B5EF4-FFF2-40B4-BE49-F238E27FC236}">
                <a16:creationId xmlns:a16="http://schemas.microsoft.com/office/drawing/2014/main" id="{13540316-AD87-8F9D-8EE1-F5CF97C5B476}"/>
              </a:ext>
            </a:extLst>
          </p:cNvPr>
          <p:cNvSpPr>
            <a:spLocks noGrp="1"/>
          </p:cNvSpPr>
          <p:nvPr/>
        </p:nvSpPr>
        <p:spPr>
          <a:xfrm>
            <a:off x="25146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02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Feature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extraction</a:t>
            </a:r>
          </a:p>
        </p:txBody>
      </p:sp>
      <p:sp>
        <p:nvSpPr>
          <p:cNvPr id="5" name="pipeline-arrow-2">
            <a:extLst>
              <a:ext uri="{FF2B5EF4-FFF2-40B4-BE49-F238E27FC236}">
                <a16:creationId xmlns:a16="http://schemas.microsoft.com/office/drawing/2014/main" id="{4525542B-56A0-B00D-58CF-DDB4C8230222}"/>
              </a:ext>
            </a:extLst>
          </p:cNvPr>
          <p:cNvSpPr>
            <a:spLocks noGrp="1"/>
          </p:cNvSpPr>
          <p:nvPr/>
        </p:nvSpPr>
        <p:spPr>
          <a:xfrm>
            <a:off x="40100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pipeline-arrow-3">
            <a:extLst>
              <a:ext uri="{FF2B5EF4-FFF2-40B4-BE49-F238E27FC236}">
                <a16:creationId xmlns:a16="http://schemas.microsoft.com/office/drawing/2014/main" id="{2DFA8008-19F3-30AC-291B-65FB35F79FF5}"/>
              </a:ext>
            </a:extLst>
          </p:cNvPr>
          <p:cNvSpPr>
            <a:spLocks noGrp="1"/>
          </p:cNvSpPr>
          <p:nvPr/>
        </p:nvSpPr>
        <p:spPr>
          <a:xfrm>
            <a:off x="59912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pipeline-step-4">
            <a:extLst>
              <a:ext uri="{FF2B5EF4-FFF2-40B4-BE49-F238E27FC236}">
                <a16:creationId xmlns:a16="http://schemas.microsoft.com/office/drawing/2014/main" id="{FC307EC5-93A4-2CC5-66C7-E24D9A2D860D}"/>
              </a:ext>
            </a:extLst>
          </p:cNvPr>
          <p:cNvSpPr>
            <a:spLocks noGrp="1"/>
          </p:cNvSpPr>
          <p:nvPr/>
        </p:nvSpPr>
        <p:spPr>
          <a:xfrm>
            <a:off x="64770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04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Train/test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9" name="pipeline-arrow-4">
            <a:extLst>
              <a:ext uri="{FF2B5EF4-FFF2-40B4-BE49-F238E27FC236}">
                <a16:creationId xmlns:a16="http://schemas.microsoft.com/office/drawing/2014/main" id="{7CDFCB87-E003-269E-AAD3-4BD529C831CB}"/>
              </a:ext>
            </a:extLst>
          </p:cNvPr>
          <p:cNvSpPr>
            <a:spLocks noGrp="1"/>
          </p:cNvSpPr>
          <p:nvPr/>
        </p:nvSpPr>
        <p:spPr>
          <a:xfrm>
            <a:off x="79724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pipeline-step-5">
            <a:extLst>
              <a:ext uri="{FF2B5EF4-FFF2-40B4-BE49-F238E27FC236}">
                <a16:creationId xmlns:a16="http://schemas.microsoft.com/office/drawing/2014/main" id="{B6979B65-6E69-7544-817D-873A1D1613E2}"/>
              </a:ext>
            </a:extLst>
          </p:cNvPr>
          <p:cNvSpPr>
            <a:spLocks noGrp="1"/>
          </p:cNvSpPr>
          <p:nvPr/>
        </p:nvSpPr>
        <p:spPr>
          <a:xfrm>
            <a:off x="84582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05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Model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11" name="pipeline-arrow-5">
            <a:extLst>
              <a:ext uri="{FF2B5EF4-FFF2-40B4-BE49-F238E27FC236}">
                <a16:creationId xmlns:a16="http://schemas.microsoft.com/office/drawing/2014/main" id="{8548CD82-76D3-634D-1BB1-2AB9D2666A80}"/>
              </a:ext>
            </a:extLst>
          </p:cNvPr>
          <p:cNvSpPr>
            <a:spLocks noGrp="1"/>
          </p:cNvSpPr>
          <p:nvPr/>
        </p:nvSpPr>
        <p:spPr>
          <a:xfrm>
            <a:off x="99536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pipeline-step-6">
            <a:extLst>
              <a:ext uri="{FF2B5EF4-FFF2-40B4-BE49-F238E27FC236}">
                <a16:creationId xmlns:a16="http://schemas.microsoft.com/office/drawing/2014/main" id="{57687211-45FF-D462-36D1-CEF20D84B516}"/>
              </a:ext>
            </a:extLst>
          </p:cNvPr>
          <p:cNvSpPr>
            <a:spLocks noGrp="1"/>
          </p:cNvSpPr>
          <p:nvPr/>
        </p:nvSpPr>
        <p:spPr>
          <a:xfrm>
            <a:off x="10439400" y="2781300"/>
            <a:ext cx="1428750" cy="876300"/>
          </a:xfrm>
          <a:prstGeom prst="rect">
            <a:avLst/>
          </a:prstGeom>
          <a:solidFill>
            <a:srgbClr val="DDEDE7"/>
          </a:solidFill>
          <a:ln w="9525">
            <a:solidFill>
              <a:srgbClr val="2B8C72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06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14" name="pipeline-step-2">
            <a:extLst>
              <a:ext uri="{FF2B5EF4-FFF2-40B4-BE49-F238E27FC236}">
                <a16:creationId xmlns:a16="http://schemas.microsoft.com/office/drawing/2014/main" id="{E2E037AE-B8BC-2DC5-76CD-0A02246134F1}"/>
              </a:ext>
            </a:extLst>
          </p:cNvPr>
          <p:cNvSpPr>
            <a:spLocks noGrp="1"/>
          </p:cNvSpPr>
          <p:nvPr/>
        </p:nvSpPr>
        <p:spPr>
          <a:xfrm>
            <a:off x="443865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0</a:t>
            </a: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3</a:t>
            </a:r>
            <a:endParaRPr sz="1350" b="1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Open 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question</a:t>
            </a:r>
            <a:endParaRPr sz="1350" b="1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B563E3E-CAC7-B054-918F-546A8801B855}"/>
              </a:ext>
            </a:extLst>
          </p:cNvPr>
          <p:cNvSpPr/>
          <p:nvPr/>
        </p:nvSpPr>
        <p:spPr>
          <a:xfrm>
            <a:off x="2469145" y="2490253"/>
            <a:ext cx="1519660" cy="15155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9617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background">
            <a:extLst>
              <a:ext uri="{FF2B5EF4-FFF2-40B4-BE49-F238E27FC236}">
                <a16:creationId xmlns:a16="http://schemas.microsoft.com/office/drawing/2014/main" id="{464BDC52-B8B7-413E-BAC0-355A0C889B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B305A86-9858-4579-A586-7B776E893EA3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" cy="85725"/>
          </a:xfrm>
          <a:prstGeom prst="ellipse">
            <a:avLst/>
          </a:prstGeom>
          <a:solidFill>
            <a:srgbClr val="2B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F7A3BCF5-2D98-44A2-8CA5-104C5E22620C}"/>
              </a:ext>
            </a:extLst>
          </p:cNvPr>
          <p:cNvSpPr>
            <a:spLocks noGrp="1"/>
          </p:cNvSpPr>
          <p:nvPr/>
        </p:nvSpPr>
        <p:spPr>
          <a:xfrm>
            <a:off x="857250" y="457200"/>
            <a:ext cx="2476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2B8C72"/>
                </a:solidFill>
                <a:latin typeface="Aptos"/>
                <a:ea typeface="Aptos"/>
                <a:cs typeface="Aptos"/>
              </a:rPr>
              <a:t>FEATURE EXTRACTION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298242FF-AF97-4529-BE2D-930D94F95FB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4403617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5182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3000" b="1" dirty="0">
                <a:solidFill>
                  <a:srgbClr val="151820"/>
                </a:solidFill>
                <a:latin typeface="Aptos Display"/>
                <a:ea typeface="Aptos Display"/>
                <a:cs typeface="Aptos Display"/>
              </a:rPr>
              <a:t>What is feature extraction?</a:t>
            </a:r>
            <a:endParaRPr sz="3000" b="1" dirty="0">
              <a:solidFill>
                <a:srgbClr val="15182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BDA90148-B385-4737-8127-06AA7783FFC8}"/>
              </a:ext>
            </a:extLst>
          </p:cNvPr>
          <p:cNvSpPr>
            <a:spLocks noGrp="1"/>
          </p:cNvSpPr>
          <p:nvPr/>
        </p:nvSpPr>
        <p:spPr>
          <a:xfrm>
            <a:off x="493534" y="1504950"/>
            <a:ext cx="3603981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D746F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6D746F"/>
                </a:solidFill>
                <a:latin typeface="Aptos"/>
                <a:ea typeface="Aptos"/>
                <a:cs typeface="Aptos"/>
              </a:rPr>
              <a:t>A lesion PNG and its mask are reduced to a row of interpretable </a:t>
            </a:r>
            <a:r>
              <a:rPr lang="en-GB" sz="1350" b="0" dirty="0">
                <a:solidFill>
                  <a:srgbClr val="6D746F"/>
                </a:solidFill>
                <a:latin typeface="Aptos"/>
                <a:ea typeface="Aptos"/>
                <a:cs typeface="Aptos"/>
              </a:rPr>
              <a:t>values</a:t>
            </a:r>
            <a:r>
              <a:rPr sz="1350" b="0" dirty="0">
                <a:solidFill>
                  <a:srgbClr val="6D746F"/>
                </a:solidFill>
                <a:latin typeface="Aptos"/>
                <a:ea typeface="Aptos"/>
                <a:cs typeface="Aptos"/>
              </a:rPr>
              <a:t> for the classifier</a:t>
            </a:r>
            <a:r>
              <a:rPr lang="en-GB" sz="1350" b="0" dirty="0">
                <a:solidFill>
                  <a:srgbClr val="6D746F"/>
                </a:solidFill>
                <a:latin typeface="Aptos"/>
                <a:ea typeface="Aptos"/>
                <a:cs typeface="Aptos"/>
              </a:rPr>
              <a:t> model</a:t>
            </a:r>
            <a:r>
              <a:rPr sz="1350" b="0" dirty="0">
                <a:solidFill>
                  <a:srgbClr val="6D746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placeholder-rule">
            <a:extLst>
              <a:ext uri="{FF2B5EF4-FFF2-40B4-BE49-F238E27FC236}">
                <a16:creationId xmlns:a16="http://schemas.microsoft.com/office/drawing/2014/main" id="{5A59C781-DCF5-4696-B587-34BDE1D24400}"/>
              </a:ext>
            </a:extLst>
          </p:cNvPr>
          <p:cNvSpPr>
            <a:spLocks noGrp="1"/>
          </p:cNvSpPr>
          <p:nvPr/>
        </p:nvSpPr>
        <p:spPr>
          <a:xfrm>
            <a:off x="493533" y="4665545"/>
            <a:ext cx="2789385" cy="45719"/>
          </a:xfrm>
          <a:prstGeom prst="rect">
            <a:avLst/>
          </a:prstGeom>
          <a:solidFill>
            <a:srgbClr val="2B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input-label">
            <a:extLst>
              <a:ext uri="{FF2B5EF4-FFF2-40B4-BE49-F238E27FC236}">
                <a16:creationId xmlns:a16="http://schemas.microsoft.com/office/drawing/2014/main" id="{5330CBFB-5903-4D5B-A1A7-D153BBF23309}"/>
              </a:ext>
            </a:extLst>
          </p:cNvPr>
          <p:cNvSpPr>
            <a:spLocks noGrp="1"/>
          </p:cNvSpPr>
          <p:nvPr/>
        </p:nvSpPr>
        <p:spPr>
          <a:xfrm>
            <a:off x="5473297" y="2140477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2B8C72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4" name="arrow-input-mask">
            <a:extLst>
              <a:ext uri="{FF2B5EF4-FFF2-40B4-BE49-F238E27FC236}">
                <a16:creationId xmlns:a16="http://schemas.microsoft.com/office/drawing/2014/main" id="{F67C1CE8-85AD-4D2D-B158-0357CCEF7D0D}"/>
              </a:ext>
            </a:extLst>
          </p:cNvPr>
          <p:cNvSpPr>
            <a:spLocks noGrp="1"/>
          </p:cNvSpPr>
          <p:nvPr/>
        </p:nvSpPr>
        <p:spPr>
          <a:xfrm>
            <a:off x="5116096" y="2743200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2D3340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2D334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arrow-mask-stats">
            <a:extLst>
              <a:ext uri="{FF2B5EF4-FFF2-40B4-BE49-F238E27FC236}">
                <a16:creationId xmlns:a16="http://schemas.microsoft.com/office/drawing/2014/main" id="{728FBC44-A718-4287-A3D8-F5F523D6C7E1}"/>
              </a:ext>
            </a:extLst>
          </p:cNvPr>
          <p:cNvSpPr>
            <a:spLocks noGrp="1"/>
          </p:cNvSpPr>
          <p:nvPr/>
        </p:nvSpPr>
        <p:spPr>
          <a:xfrm>
            <a:off x="7258050" y="2743200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2D33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D334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extract-label">
            <a:extLst>
              <a:ext uri="{FF2B5EF4-FFF2-40B4-BE49-F238E27FC236}">
                <a16:creationId xmlns:a16="http://schemas.microsoft.com/office/drawing/2014/main" id="{38D482E2-4869-429F-B47E-BA2CE5CD696D}"/>
              </a:ext>
            </a:extLst>
          </p:cNvPr>
          <p:cNvSpPr>
            <a:spLocks noGrp="1"/>
          </p:cNvSpPr>
          <p:nvPr/>
        </p:nvSpPr>
        <p:spPr>
          <a:xfrm>
            <a:off x="7766274" y="2144939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2B8C72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17" name="extract-stats">
            <a:extLst>
              <a:ext uri="{FF2B5EF4-FFF2-40B4-BE49-F238E27FC236}">
                <a16:creationId xmlns:a16="http://schemas.microsoft.com/office/drawing/2014/main" id="{3A36119F-76E1-44AA-8C30-4831934562E0}"/>
              </a:ext>
            </a:extLst>
          </p:cNvPr>
          <p:cNvSpPr>
            <a:spLocks noGrp="1"/>
          </p:cNvSpPr>
          <p:nvPr/>
        </p:nvSpPr>
        <p:spPr>
          <a:xfrm>
            <a:off x="7709124" y="2430689"/>
            <a:ext cx="1524000" cy="1181100"/>
          </a:xfrm>
          <a:prstGeom prst="rect">
            <a:avLst/>
          </a:prstGeom>
          <a:solidFill>
            <a:srgbClr val="DDEDE7"/>
          </a:solidFill>
          <a:ln w="9525">
            <a:solidFill>
              <a:srgbClr val="2B8C72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Asymmetry</a:t>
            </a:r>
            <a:endParaRPr sz="1350" b="1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Border</a:t>
            </a:r>
            <a:endParaRPr sz="1350" b="1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…</a:t>
            </a:r>
            <a:endParaRPr sz="1350" b="1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arrow-stats-row">
            <a:extLst>
              <a:ext uri="{FF2B5EF4-FFF2-40B4-BE49-F238E27FC236}">
                <a16:creationId xmlns:a16="http://schemas.microsoft.com/office/drawing/2014/main" id="{5CDE4B9E-CDE6-4692-8190-1C11831F9771}"/>
              </a:ext>
            </a:extLst>
          </p:cNvPr>
          <p:cNvSpPr>
            <a:spLocks noGrp="1"/>
          </p:cNvSpPr>
          <p:nvPr/>
        </p:nvSpPr>
        <p:spPr>
          <a:xfrm>
            <a:off x="9353550" y="2743200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2D33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D334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output-label">
            <a:extLst>
              <a:ext uri="{FF2B5EF4-FFF2-40B4-BE49-F238E27FC236}">
                <a16:creationId xmlns:a16="http://schemas.microsoft.com/office/drawing/2014/main" id="{5686679E-5B7E-439B-896C-EB53D3940ED5}"/>
              </a:ext>
            </a:extLst>
          </p:cNvPr>
          <p:cNvSpPr>
            <a:spLocks noGrp="1"/>
          </p:cNvSpPr>
          <p:nvPr/>
        </p:nvSpPr>
        <p:spPr>
          <a:xfrm>
            <a:off x="9696450" y="2151281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2B8C72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0" name="table-r0-c0">
            <a:extLst>
              <a:ext uri="{FF2B5EF4-FFF2-40B4-BE49-F238E27FC236}">
                <a16:creationId xmlns:a16="http://schemas.microsoft.com/office/drawing/2014/main" id="{E2E2AEF9-738E-46B9-AB33-2148CDC94076}"/>
              </a:ext>
            </a:extLst>
          </p:cNvPr>
          <p:cNvSpPr>
            <a:spLocks noGrp="1"/>
          </p:cNvSpPr>
          <p:nvPr/>
        </p:nvSpPr>
        <p:spPr>
          <a:xfrm>
            <a:off x="9696450" y="2457450"/>
            <a:ext cx="685800" cy="34290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76200" tIns="76200" rIns="76200" bIns="76200" anchor="ctr"/>
          <a:lstStyle/>
          <a:p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img_id</a:t>
            </a:r>
          </a:p>
        </p:txBody>
      </p:sp>
      <p:sp>
        <p:nvSpPr>
          <p:cNvPr id="21" name="table-r0-c1">
            <a:extLst>
              <a:ext uri="{FF2B5EF4-FFF2-40B4-BE49-F238E27FC236}">
                <a16:creationId xmlns:a16="http://schemas.microsoft.com/office/drawing/2014/main" id="{F4637BA7-CECD-45AF-8F4B-C16A3C75E671}"/>
              </a:ext>
            </a:extLst>
          </p:cNvPr>
          <p:cNvSpPr>
            <a:spLocks noGrp="1"/>
          </p:cNvSpPr>
          <p:nvPr/>
        </p:nvSpPr>
        <p:spPr>
          <a:xfrm>
            <a:off x="10382250" y="2457450"/>
            <a:ext cx="428625" cy="34290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22" name="table-r0-c2">
            <a:extLst>
              <a:ext uri="{FF2B5EF4-FFF2-40B4-BE49-F238E27FC236}">
                <a16:creationId xmlns:a16="http://schemas.microsoft.com/office/drawing/2014/main" id="{F27637E8-6553-432F-BC66-FE140D800757}"/>
              </a:ext>
            </a:extLst>
          </p:cNvPr>
          <p:cNvSpPr>
            <a:spLocks noGrp="1"/>
          </p:cNvSpPr>
          <p:nvPr/>
        </p:nvSpPr>
        <p:spPr>
          <a:xfrm>
            <a:off x="10810875" y="2457450"/>
            <a:ext cx="428625" cy="34290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23" name="table-r0-c3">
            <a:extLst>
              <a:ext uri="{FF2B5EF4-FFF2-40B4-BE49-F238E27FC236}">
                <a16:creationId xmlns:a16="http://schemas.microsoft.com/office/drawing/2014/main" id="{5365461F-775E-45D6-B0CA-85F62D6EAE2F}"/>
              </a:ext>
            </a:extLst>
          </p:cNvPr>
          <p:cNvSpPr>
            <a:spLocks noGrp="1"/>
          </p:cNvSpPr>
          <p:nvPr/>
        </p:nvSpPr>
        <p:spPr>
          <a:xfrm>
            <a:off x="11239500" y="2457450"/>
            <a:ext cx="819150" cy="34290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4" name="table-r1-c0">
            <a:extLst>
              <a:ext uri="{FF2B5EF4-FFF2-40B4-BE49-F238E27FC236}">
                <a16:creationId xmlns:a16="http://schemas.microsoft.com/office/drawing/2014/main" id="{F73D38F4-DCB7-4D00-9CB2-DFF2386A6617}"/>
              </a:ext>
            </a:extLst>
          </p:cNvPr>
          <p:cNvSpPr>
            <a:spLocks noGrp="1"/>
          </p:cNvSpPr>
          <p:nvPr/>
        </p:nvSpPr>
        <p:spPr>
          <a:xfrm>
            <a:off x="9696450" y="2800350"/>
            <a:ext cx="6858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l">
              <a:def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...</a:t>
            </a:r>
          </a:p>
        </p:txBody>
      </p:sp>
      <p:sp>
        <p:nvSpPr>
          <p:cNvPr id="25" name="table-r1-c1">
            <a:extLst>
              <a:ext uri="{FF2B5EF4-FFF2-40B4-BE49-F238E27FC236}">
                <a16:creationId xmlns:a16="http://schemas.microsoft.com/office/drawing/2014/main" id="{00723A71-8A47-4C72-8EA2-DE050D288A25}"/>
              </a:ext>
            </a:extLst>
          </p:cNvPr>
          <p:cNvSpPr>
            <a:spLocks noGrp="1"/>
          </p:cNvSpPr>
          <p:nvPr/>
        </p:nvSpPr>
        <p:spPr>
          <a:xfrm>
            <a:off x="10382250" y="2800350"/>
            <a:ext cx="428625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0.31</a:t>
            </a:r>
          </a:p>
        </p:txBody>
      </p:sp>
      <p:sp>
        <p:nvSpPr>
          <p:cNvPr id="26" name="table-r1-c2">
            <a:extLst>
              <a:ext uri="{FF2B5EF4-FFF2-40B4-BE49-F238E27FC236}">
                <a16:creationId xmlns:a16="http://schemas.microsoft.com/office/drawing/2014/main" id="{047AFC87-589B-47BA-BA42-A48E21DE611F}"/>
              </a:ext>
            </a:extLst>
          </p:cNvPr>
          <p:cNvSpPr>
            <a:spLocks noGrp="1"/>
          </p:cNvSpPr>
          <p:nvPr/>
        </p:nvSpPr>
        <p:spPr>
          <a:xfrm>
            <a:off x="10810875" y="2800350"/>
            <a:ext cx="428625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0.62</a:t>
            </a:r>
          </a:p>
        </p:txBody>
      </p:sp>
      <p:sp>
        <p:nvSpPr>
          <p:cNvPr id="27" name="table-r1-c3">
            <a:extLst>
              <a:ext uri="{FF2B5EF4-FFF2-40B4-BE49-F238E27FC236}">
                <a16:creationId xmlns:a16="http://schemas.microsoft.com/office/drawing/2014/main" id="{70186C51-6338-4EAB-8B3E-17262FA281F8}"/>
              </a:ext>
            </a:extLst>
          </p:cNvPr>
          <p:cNvSpPr>
            <a:spLocks noGrp="1"/>
          </p:cNvSpPr>
          <p:nvPr/>
        </p:nvSpPr>
        <p:spPr>
          <a:xfrm>
            <a:off x="11239500" y="2800350"/>
            <a:ext cx="8191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18 stats</a:t>
            </a:r>
          </a:p>
        </p:txBody>
      </p:sp>
      <p:sp>
        <p:nvSpPr>
          <p:cNvPr id="28" name="row-caption">
            <a:extLst>
              <a:ext uri="{FF2B5EF4-FFF2-40B4-BE49-F238E27FC236}">
                <a16:creationId xmlns:a16="http://schemas.microsoft.com/office/drawing/2014/main" id="{E08F6DB4-5BB8-4812-ACC3-955C2363D791}"/>
              </a:ext>
            </a:extLst>
          </p:cNvPr>
          <p:cNvSpPr>
            <a:spLocks noGrp="1"/>
          </p:cNvSpPr>
          <p:nvPr/>
        </p:nvSpPr>
        <p:spPr>
          <a:xfrm>
            <a:off x="9763125" y="3134422"/>
            <a:ext cx="2095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050" b="0">
                <a:solidFill>
                  <a:srgbClr val="6D746F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6D746F"/>
                </a:solidFill>
                <a:latin typeface="Aptos"/>
                <a:ea typeface="Aptos"/>
                <a:cs typeface="Aptos"/>
              </a:rPr>
              <a:t>one row per usable image</a:t>
            </a:r>
          </a:p>
        </p:txBody>
      </p:sp>
      <p:sp>
        <p:nvSpPr>
          <p:cNvPr id="29" name="extraction-contract">
            <a:extLst>
              <a:ext uri="{FF2B5EF4-FFF2-40B4-BE49-F238E27FC236}">
                <a16:creationId xmlns:a16="http://schemas.microsoft.com/office/drawing/2014/main" id="{85A79C22-86D4-448A-8750-ABFB0A8683F2}"/>
              </a:ext>
            </a:extLst>
          </p:cNvPr>
          <p:cNvSpPr>
            <a:spLocks noGrp="1"/>
          </p:cNvSpPr>
          <p:nvPr/>
        </p:nvSpPr>
        <p:spPr>
          <a:xfrm>
            <a:off x="4833497" y="4231838"/>
            <a:ext cx="7143750" cy="66675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228600" tIns="76200" rIns="228600" bIns="76200" anchor="ctr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 extraction is the </a:t>
            </a:r>
            <a:r>
              <a:rPr lang="en-GB"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process of having a raw image as input and saving decimal values to put into the classifier model.</a:t>
            </a:r>
            <a:endParaRPr sz="16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E71C7AE-F7F6-73EF-0E8F-D255E36A5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568" y="2499379"/>
            <a:ext cx="1813482" cy="90674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1D20721-8A7C-1451-5507-597540E6B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1677" y="2098238"/>
            <a:ext cx="5046080" cy="283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06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-background">
            <a:extLst>
              <a:ext uri="{FF2B5EF4-FFF2-40B4-BE49-F238E27FC236}">
                <a16:creationId xmlns:a16="http://schemas.microsoft.com/office/drawing/2014/main" id="{1E8614FE-0DAF-43F2-A494-95FFC6D416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00CC7E4-E4D7-45D0-8750-4A53AE0B57AC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" cy="85725"/>
          </a:xfrm>
          <a:prstGeom prst="ellipse">
            <a:avLst/>
          </a:prstGeom>
          <a:solidFill>
            <a:srgbClr val="2B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CB3DFDB1-5E35-468E-A35A-8DD48C13969C}"/>
              </a:ext>
            </a:extLst>
          </p:cNvPr>
          <p:cNvSpPr>
            <a:spLocks noGrp="1"/>
          </p:cNvSpPr>
          <p:nvPr/>
        </p:nvSpPr>
        <p:spPr>
          <a:xfrm>
            <a:off x="857250" y="457200"/>
            <a:ext cx="2476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8C72"/>
                </a:solidFill>
                <a:latin typeface="Aptos"/>
                <a:ea typeface="Aptos"/>
                <a:cs typeface="Aptos"/>
              </a:rPr>
              <a:t>BASELINE PIPELINE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F494FFDA-64EE-49A9-B7CE-ECB1A861FDF3}"/>
              </a:ext>
            </a:extLst>
          </p:cNvPr>
          <p:cNvSpPr>
            <a:spLocks noGrp="1"/>
          </p:cNvSpPr>
          <p:nvPr/>
        </p:nvSpPr>
        <p:spPr>
          <a:xfrm>
            <a:off x="685799" y="781050"/>
            <a:ext cx="7459051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550" b="1">
                <a:solidFill>
                  <a:srgbClr val="15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51820"/>
                </a:solidFill>
                <a:latin typeface="Aptos Display"/>
                <a:ea typeface="Aptos Display"/>
                <a:cs typeface="Aptos Display"/>
              </a:rPr>
              <a:t>The baseline </a:t>
            </a:r>
            <a:r>
              <a:rPr lang="en-GB" sz="2550" b="1" dirty="0">
                <a:solidFill>
                  <a:srgbClr val="151820"/>
                </a:solidFill>
                <a:latin typeface="Aptos Display"/>
                <a:ea typeface="Aptos Display"/>
                <a:cs typeface="Aptos Display"/>
              </a:rPr>
              <a:t>model: </a:t>
            </a:r>
            <a:r>
              <a:rPr lang="en-DK" sz="2550" b="1" dirty="0"/>
              <a:t>Trivial ABC features</a:t>
            </a:r>
            <a:r>
              <a:rPr lang="en-GB" sz="2550" b="1" dirty="0"/>
              <a:t>. </a:t>
            </a:r>
          </a:p>
          <a:p>
            <a:pPr>
              <a:defRPr sz="2550" b="1">
                <a:solidFill>
                  <a:srgbClr val="15182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2550" b="1" dirty="0"/>
              <a:t>Dermatology standard of diagnosis</a:t>
            </a:r>
          </a:p>
        </p:txBody>
      </p:sp>
      <p:sp>
        <p:nvSpPr>
          <p:cNvPr id="5" name="abc-letter-A">
            <a:extLst>
              <a:ext uri="{FF2B5EF4-FFF2-40B4-BE49-F238E27FC236}">
                <a16:creationId xmlns:a16="http://schemas.microsoft.com/office/drawing/2014/main" id="{431F648A-5BA7-4F6D-9119-5B16B2CD5C55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609600" cy="342900"/>
          </a:xfrm>
          <a:prstGeom prst="rect">
            <a:avLst/>
          </a:prstGeom>
          <a:solidFill>
            <a:srgbClr val="F2D7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C84D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D6A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6" name="abc-name-A">
            <a:extLst>
              <a:ext uri="{FF2B5EF4-FFF2-40B4-BE49-F238E27FC236}">
                <a16:creationId xmlns:a16="http://schemas.microsoft.com/office/drawing/2014/main" id="{41C63DAB-7F30-4BEB-8270-200A1B3E0781}"/>
              </a:ext>
            </a:extLst>
          </p:cNvPr>
          <p:cNvSpPr>
            <a:spLocks noGrp="1"/>
          </p:cNvSpPr>
          <p:nvPr/>
        </p:nvSpPr>
        <p:spPr>
          <a:xfrm>
            <a:off x="1524000" y="2133600"/>
            <a:ext cx="152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l">
              <a:defRPr sz="18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Asymmetry</a:t>
            </a:r>
          </a:p>
        </p:txBody>
      </p:sp>
      <p:sp>
        <p:nvSpPr>
          <p:cNvPr id="7" name="abc-method-A">
            <a:extLst>
              <a:ext uri="{FF2B5EF4-FFF2-40B4-BE49-F238E27FC236}">
                <a16:creationId xmlns:a16="http://schemas.microsoft.com/office/drawing/2014/main" id="{8E2194CD-64B6-42F1-8A8F-0F2F6BB2E5CA}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22860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4D6A"/>
            </a:solidFill>
            <a:prstDash val="solid"/>
          </a:ln>
        </p:spPr>
        <p:txBody>
          <a:bodyPr lIns="152400" tIns="76200" rIns="152400" bIns="76200" anchor="ctr"/>
          <a:lstStyle/>
          <a:p>
            <a:pPr algn="ctr">
              <a:defRPr sz="15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midpoint crop</a:t>
            </a:r>
          </a:p>
          <a:p>
            <a:pPr algn="ctr">
              <a:defRPr sz="15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mirror XOR</a:t>
            </a:r>
          </a:p>
          <a:p>
            <a:pPr algn="ctr">
              <a:defRPr sz="15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6 rotations</a:t>
            </a:r>
          </a:p>
        </p:txBody>
      </p:sp>
      <p:sp>
        <p:nvSpPr>
          <p:cNvPr id="8" name="abc-drop-A">
            <a:extLst>
              <a:ext uri="{FF2B5EF4-FFF2-40B4-BE49-F238E27FC236}">
                <a16:creationId xmlns:a16="http://schemas.microsoft.com/office/drawing/2014/main" id="{48ABCE70-77B2-420F-9F23-AB3EEE422CC7}"/>
              </a:ext>
            </a:extLst>
          </p:cNvPr>
          <p:cNvSpPr>
            <a:spLocks noGrp="1"/>
          </p:cNvSpPr>
          <p:nvPr/>
        </p:nvSpPr>
        <p:spPr>
          <a:xfrm>
            <a:off x="1885950" y="2590800"/>
            <a:ext cx="19050" cy="285750"/>
          </a:xfrm>
          <a:prstGeom prst="rect">
            <a:avLst/>
          </a:prstGeom>
          <a:solidFill>
            <a:srgbClr val="C84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abc-arrow-A">
            <a:extLst>
              <a:ext uri="{FF2B5EF4-FFF2-40B4-BE49-F238E27FC236}">
                <a16:creationId xmlns:a16="http://schemas.microsoft.com/office/drawing/2014/main" id="{0669329F-42E0-4256-A1DE-86ECA627851E}"/>
              </a:ext>
            </a:extLst>
          </p:cNvPr>
          <p:cNvSpPr>
            <a:spLocks noGrp="1"/>
          </p:cNvSpPr>
          <p:nvPr/>
        </p:nvSpPr>
        <p:spPr>
          <a:xfrm>
            <a:off x="1676400" y="4114800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C84D6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4D6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abc-letter-B">
            <a:extLst>
              <a:ext uri="{FF2B5EF4-FFF2-40B4-BE49-F238E27FC236}">
                <a16:creationId xmlns:a16="http://schemas.microsoft.com/office/drawing/2014/main" id="{A6831835-3A45-4B65-9343-4E012D019507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09600" cy="342900"/>
          </a:xfrm>
          <a:prstGeom prst="rect">
            <a:avLst/>
          </a:prstGeom>
          <a:solidFill>
            <a:srgbClr val="F5E7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E0A43B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E0A43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1" name="abc-name-B">
            <a:extLst>
              <a:ext uri="{FF2B5EF4-FFF2-40B4-BE49-F238E27FC236}">
                <a16:creationId xmlns:a16="http://schemas.microsoft.com/office/drawing/2014/main" id="{497AFF7C-31F5-4558-A029-2AE763FDC080}"/>
              </a:ext>
            </a:extLst>
          </p:cNvPr>
          <p:cNvSpPr>
            <a:spLocks noGrp="1"/>
          </p:cNvSpPr>
          <p:nvPr/>
        </p:nvSpPr>
        <p:spPr>
          <a:xfrm>
            <a:off x="4324350" y="2152650"/>
            <a:ext cx="152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l">
              <a:defRPr sz="18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Border</a:t>
            </a:r>
          </a:p>
        </p:txBody>
      </p:sp>
      <p:sp>
        <p:nvSpPr>
          <p:cNvPr id="12" name="abc-method-B">
            <a:extLst>
              <a:ext uri="{FF2B5EF4-FFF2-40B4-BE49-F238E27FC236}">
                <a16:creationId xmlns:a16="http://schemas.microsoft.com/office/drawing/2014/main" id="{E0A617EF-8A4B-41A9-ACDB-D92F361E366C}"/>
              </a:ext>
            </a:extLst>
          </p:cNvPr>
          <p:cNvSpPr>
            <a:spLocks noGrp="1"/>
          </p:cNvSpPr>
          <p:nvPr/>
        </p:nvSpPr>
        <p:spPr>
          <a:xfrm>
            <a:off x="3381375" y="2895600"/>
            <a:ext cx="22860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0A43B"/>
            </a:solidFill>
            <a:prstDash val="solid"/>
          </a:ln>
        </p:spPr>
        <p:txBody>
          <a:bodyPr lIns="152400" tIns="76200" rIns="152400" bIns="76200" anchor="ctr"/>
          <a:lstStyle/>
          <a:p>
            <a:pPr algn="ctr">
              <a:defRPr sz="15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erode mask</a:t>
            </a:r>
          </a:p>
          <a:p>
            <a:pPr algn="ctr">
              <a:defRPr sz="15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estimate perimeter</a:t>
            </a:r>
          </a:p>
          <a:p>
            <a:pPr algn="ctr">
              <a:defRPr sz="15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Polsby-Popper</a:t>
            </a:r>
          </a:p>
        </p:txBody>
      </p:sp>
      <p:sp>
        <p:nvSpPr>
          <p:cNvPr id="13" name="abc-drop-B">
            <a:extLst>
              <a:ext uri="{FF2B5EF4-FFF2-40B4-BE49-F238E27FC236}">
                <a16:creationId xmlns:a16="http://schemas.microsoft.com/office/drawing/2014/main" id="{32BD70C6-0E7A-4F41-9318-1B7E0B024073}"/>
              </a:ext>
            </a:extLst>
          </p:cNvPr>
          <p:cNvSpPr>
            <a:spLocks noGrp="1"/>
          </p:cNvSpPr>
          <p:nvPr/>
        </p:nvSpPr>
        <p:spPr>
          <a:xfrm>
            <a:off x="4505325" y="2590800"/>
            <a:ext cx="19050" cy="285750"/>
          </a:xfrm>
          <a:prstGeom prst="rect">
            <a:avLst/>
          </a:prstGeom>
          <a:solidFill>
            <a:srgbClr val="E0A4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abc-arrow-B">
            <a:extLst>
              <a:ext uri="{FF2B5EF4-FFF2-40B4-BE49-F238E27FC236}">
                <a16:creationId xmlns:a16="http://schemas.microsoft.com/office/drawing/2014/main" id="{54E67E1B-B239-4D11-846B-014E5E20D007}"/>
              </a:ext>
            </a:extLst>
          </p:cNvPr>
          <p:cNvSpPr>
            <a:spLocks noGrp="1"/>
          </p:cNvSpPr>
          <p:nvPr/>
        </p:nvSpPr>
        <p:spPr>
          <a:xfrm>
            <a:off x="4295775" y="4114800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E0A4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0A43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abc-letter-C">
            <a:extLst>
              <a:ext uri="{FF2B5EF4-FFF2-40B4-BE49-F238E27FC236}">
                <a16:creationId xmlns:a16="http://schemas.microsoft.com/office/drawing/2014/main" id="{8A607C08-B5EE-4780-ACAC-154E6423EFF7}"/>
              </a:ext>
            </a:extLst>
          </p:cNvPr>
          <p:cNvSpPr>
            <a:spLocks noGrp="1"/>
          </p:cNvSpPr>
          <p:nvPr/>
        </p:nvSpPr>
        <p:spPr>
          <a:xfrm>
            <a:off x="6248400" y="2171700"/>
            <a:ext cx="609600" cy="342900"/>
          </a:xfrm>
          <a:prstGeom prst="rect">
            <a:avLst/>
          </a:prstGeom>
          <a:solidFill>
            <a:srgbClr val="DDED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8C72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6" name="abc-name-C">
            <a:extLst>
              <a:ext uri="{FF2B5EF4-FFF2-40B4-BE49-F238E27FC236}">
                <a16:creationId xmlns:a16="http://schemas.microsoft.com/office/drawing/2014/main" id="{DC13D2C6-236F-4137-B88F-50CBE4BEF0F0}"/>
              </a:ext>
            </a:extLst>
          </p:cNvPr>
          <p:cNvSpPr>
            <a:spLocks noGrp="1"/>
          </p:cNvSpPr>
          <p:nvPr/>
        </p:nvSpPr>
        <p:spPr>
          <a:xfrm>
            <a:off x="7010400" y="2133600"/>
            <a:ext cx="152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l">
              <a:defRPr sz="18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800" b="1" dirty="0" err="1">
                <a:solidFill>
                  <a:srgbClr val="151820"/>
                </a:solidFill>
                <a:latin typeface="Aptos"/>
                <a:ea typeface="Aptos"/>
                <a:cs typeface="Aptos"/>
              </a:rPr>
              <a:t>Colour</a:t>
            </a:r>
            <a:endParaRPr sz="1800" b="1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abc-method-C">
            <a:extLst>
              <a:ext uri="{FF2B5EF4-FFF2-40B4-BE49-F238E27FC236}">
                <a16:creationId xmlns:a16="http://schemas.microsoft.com/office/drawing/2014/main" id="{EB03B064-7571-4C7E-B4CE-BBE062E953A2}"/>
              </a:ext>
            </a:extLst>
          </p:cNvPr>
          <p:cNvSpPr>
            <a:spLocks noGrp="1"/>
          </p:cNvSpPr>
          <p:nvPr/>
        </p:nvSpPr>
        <p:spPr>
          <a:xfrm>
            <a:off x="6000750" y="2895600"/>
            <a:ext cx="22860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2B8C72"/>
            </a:solidFill>
            <a:prstDash val="solid"/>
          </a:ln>
        </p:spPr>
        <p:txBody>
          <a:bodyPr lIns="152400" tIns="76200" rIns="152400" bIns="76200" anchor="ctr"/>
          <a:lstStyle/>
          <a:p>
            <a:pPr algn="ctr">
              <a:defRPr sz="15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HSV pixels</a:t>
            </a:r>
          </a:p>
          <a:p>
            <a:pPr algn="ctr">
              <a:defRPr sz="15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mean/std/skew</a:t>
            </a:r>
          </a:p>
          <a:p>
            <a:pPr algn="ctr">
              <a:defRPr sz="15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5p/50p/95p</a:t>
            </a:r>
          </a:p>
        </p:txBody>
      </p:sp>
      <p:sp>
        <p:nvSpPr>
          <p:cNvPr id="18" name="abc-drop-C">
            <a:extLst>
              <a:ext uri="{FF2B5EF4-FFF2-40B4-BE49-F238E27FC236}">
                <a16:creationId xmlns:a16="http://schemas.microsoft.com/office/drawing/2014/main" id="{30838032-5C85-4DEA-A297-F060F9C8D1D0}"/>
              </a:ext>
            </a:extLst>
          </p:cNvPr>
          <p:cNvSpPr>
            <a:spLocks noGrp="1"/>
          </p:cNvSpPr>
          <p:nvPr/>
        </p:nvSpPr>
        <p:spPr>
          <a:xfrm>
            <a:off x="7124700" y="2590800"/>
            <a:ext cx="19050" cy="285750"/>
          </a:xfrm>
          <a:prstGeom prst="rect">
            <a:avLst/>
          </a:prstGeom>
          <a:solidFill>
            <a:srgbClr val="2B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abc-arrow-C">
            <a:extLst>
              <a:ext uri="{FF2B5EF4-FFF2-40B4-BE49-F238E27FC236}">
                <a16:creationId xmlns:a16="http://schemas.microsoft.com/office/drawing/2014/main" id="{32C83FCC-A1EB-4252-A62A-D63370D75824}"/>
              </a:ext>
            </a:extLst>
          </p:cNvPr>
          <p:cNvSpPr>
            <a:spLocks noGrp="1"/>
          </p:cNvSpPr>
          <p:nvPr/>
        </p:nvSpPr>
        <p:spPr>
          <a:xfrm>
            <a:off x="6915150" y="4114800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8C7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table-r0-c0">
            <a:extLst>
              <a:ext uri="{FF2B5EF4-FFF2-40B4-BE49-F238E27FC236}">
                <a16:creationId xmlns:a16="http://schemas.microsoft.com/office/drawing/2014/main" id="{F985315A-F08C-41CF-AF85-99A05058B311}"/>
              </a:ext>
            </a:extLst>
          </p:cNvPr>
          <p:cNvSpPr>
            <a:spLocks noGrp="1"/>
          </p:cNvSpPr>
          <p:nvPr/>
        </p:nvSpPr>
        <p:spPr>
          <a:xfrm>
            <a:off x="1238250" y="4876800"/>
            <a:ext cx="914400" cy="32385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76200" tIns="76200" rIns="76200" bIns="76200" anchor="ctr"/>
          <a:lstStyle/>
          <a:p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patient</a:t>
            </a:r>
          </a:p>
        </p:txBody>
      </p:sp>
      <p:sp>
        <p:nvSpPr>
          <p:cNvPr id="21" name="table-r0-c1">
            <a:extLst>
              <a:ext uri="{FF2B5EF4-FFF2-40B4-BE49-F238E27FC236}">
                <a16:creationId xmlns:a16="http://schemas.microsoft.com/office/drawing/2014/main" id="{156B6BDF-21CA-4513-9376-C03A5DA1F550}"/>
              </a:ext>
            </a:extLst>
          </p:cNvPr>
          <p:cNvSpPr>
            <a:spLocks noGrp="1"/>
          </p:cNvSpPr>
          <p:nvPr/>
        </p:nvSpPr>
        <p:spPr>
          <a:xfrm>
            <a:off x="2152650" y="4876800"/>
            <a:ext cx="1009650" cy="32385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img</a:t>
            </a:r>
          </a:p>
        </p:txBody>
      </p:sp>
      <p:sp>
        <p:nvSpPr>
          <p:cNvPr id="22" name="table-r0-c2">
            <a:extLst>
              <a:ext uri="{FF2B5EF4-FFF2-40B4-BE49-F238E27FC236}">
                <a16:creationId xmlns:a16="http://schemas.microsoft.com/office/drawing/2014/main" id="{940ED86C-CA9D-4BF4-809B-4C6F17FD804D}"/>
              </a:ext>
            </a:extLst>
          </p:cNvPr>
          <p:cNvSpPr>
            <a:spLocks noGrp="1"/>
          </p:cNvSpPr>
          <p:nvPr/>
        </p:nvSpPr>
        <p:spPr>
          <a:xfrm>
            <a:off x="3162300" y="4876800"/>
            <a:ext cx="590550" cy="32385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23" name="table-r0-c3">
            <a:extLst>
              <a:ext uri="{FF2B5EF4-FFF2-40B4-BE49-F238E27FC236}">
                <a16:creationId xmlns:a16="http://schemas.microsoft.com/office/drawing/2014/main" id="{021BE08B-85AA-4984-8F1B-1C9F367439E7}"/>
              </a:ext>
            </a:extLst>
          </p:cNvPr>
          <p:cNvSpPr>
            <a:spLocks noGrp="1"/>
          </p:cNvSpPr>
          <p:nvPr/>
        </p:nvSpPr>
        <p:spPr>
          <a:xfrm>
            <a:off x="3752850" y="4876800"/>
            <a:ext cx="590550" cy="32385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24" name="table-r0-c4">
            <a:extLst>
              <a:ext uri="{FF2B5EF4-FFF2-40B4-BE49-F238E27FC236}">
                <a16:creationId xmlns:a16="http://schemas.microsoft.com/office/drawing/2014/main" id="{6855342D-418B-4D0E-8C6D-9DCD3CDB09DD}"/>
              </a:ext>
            </a:extLst>
          </p:cNvPr>
          <p:cNvSpPr>
            <a:spLocks noGrp="1"/>
          </p:cNvSpPr>
          <p:nvPr/>
        </p:nvSpPr>
        <p:spPr>
          <a:xfrm>
            <a:off x="4343400" y="4876800"/>
            <a:ext cx="1123950" cy="32385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hue_mean</a:t>
            </a:r>
          </a:p>
        </p:txBody>
      </p:sp>
      <p:sp>
        <p:nvSpPr>
          <p:cNvPr id="25" name="table-r0-c5">
            <a:extLst>
              <a:ext uri="{FF2B5EF4-FFF2-40B4-BE49-F238E27FC236}">
                <a16:creationId xmlns:a16="http://schemas.microsoft.com/office/drawing/2014/main" id="{D54A10DC-71E5-4300-91AE-FB547789E02C}"/>
              </a:ext>
            </a:extLst>
          </p:cNvPr>
          <p:cNvSpPr>
            <a:spLocks noGrp="1"/>
          </p:cNvSpPr>
          <p:nvPr/>
        </p:nvSpPr>
        <p:spPr>
          <a:xfrm>
            <a:off x="5467350" y="4876800"/>
            <a:ext cx="1066800" cy="32385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sat_std</a:t>
            </a:r>
          </a:p>
        </p:txBody>
      </p:sp>
      <p:sp>
        <p:nvSpPr>
          <p:cNvPr id="26" name="table-r1-c0">
            <a:extLst>
              <a:ext uri="{FF2B5EF4-FFF2-40B4-BE49-F238E27FC236}">
                <a16:creationId xmlns:a16="http://schemas.microsoft.com/office/drawing/2014/main" id="{77DA64E5-7AE8-427B-825D-B06FE68C7A37}"/>
              </a:ext>
            </a:extLst>
          </p:cNvPr>
          <p:cNvSpPr>
            <a:spLocks noGrp="1"/>
          </p:cNvSpPr>
          <p:nvPr/>
        </p:nvSpPr>
        <p:spPr>
          <a:xfrm>
            <a:off x="1238250" y="5200650"/>
            <a:ext cx="9144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l">
              <a:def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P...</a:t>
            </a:r>
          </a:p>
        </p:txBody>
      </p:sp>
      <p:sp>
        <p:nvSpPr>
          <p:cNvPr id="27" name="table-r1-c1">
            <a:extLst>
              <a:ext uri="{FF2B5EF4-FFF2-40B4-BE49-F238E27FC236}">
                <a16:creationId xmlns:a16="http://schemas.microsoft.com/office/drawing/2014/main" id="{7EDCFD8E-D7CE-4072-AD9B-C3E94668280F}"/>
              </a:ext>
            </a:extLst>
          </p:cNvPr>
          <p:cNvSpPr>
            <a:spLocks noGrp="1"/>
          </p:cNvSpPr>
          <p:nvPr/>
        </p:nvSpPr>
        <p:spPr>
          <a:xfrm>
            <a:off x="2152650" y="5200650"/>
            <a:ext cx="10096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IMG...</a:t>
            </a:r>
          </a:p>
        </p:txBody>
      </p:sp>
      <p:sp>
        <p:nvSpPr>
          <p:cNvPr id="28" name="table-r1-c2">
            <a:extLst>
              <a:ext uri="{FF2B5EF4-FFF2-40B4-BE49-F238E27FC236}">
                <a16:creationId xmlns:a16="http://schemas.microsoft.com/office/drawing/2014/main" id="{6136EACC-EA7A-495B-AFEC-33783F58E72D}"/>
              </a:ext>
            </a:extLst>
          </p:cNvPr>
          <p:cNvSpPr>
            <a:spLocks noGrp="1"/>
          </p:cNvSpPr>
          <p:nvPr/>
        </p:nvSpPr>
        <p:spPr>
          <a:xfrm>
            <a:off x="3162300" y="5200650"/>
            <a:ext cx="590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0.31</a:t>
            </a:r>
          </a:p>
        </p:txBody>
      </p:sp>
      <p:sp>
        <p:nvSpPr>
          <p:cNvPr id="29" name="table-r1-c3">
            <a:extLst>
              <a:ext uri="{FF2B5EF4-FFF2-40B4-BE49-F238E27FC236}">
                <a16:creationId xmlns:a16="http://schemas.microsoft.com/office/drawing/2014/main" id="{C068C45E-23B6-4228-AD5A-8DB453A515CA}"/>
              </a:ext>
            </a:extLst>
          </p:cNvPr>
          <p:cNvSpPr>
            <a:spLocks noGrp="1"/>
          </p:cNvSpPr>
          <p:nvPr/>
        </p:nvSpPr>
        <p:spPr>
          <a:xfrm>
            <a:off x="3752850" y="5200650"/>
            <a:ext cx="5905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0.62</a:t>
            </a:r>
          </a:p>
        </p:txBody>
      </p:sp>
      <p:sp>
        <p:nvSpPr>
          <p:cNvPr id="30" name="table-r1-c4">
            <a:extLst>
              <a:ext uri="{FF2B5EF4-FFF2-40B4-BE49-F238E27FC236}">
                <a16:creationId xmlns:a16="http://schemas.microsoft.com/office/drawing/2014/main" id="{1937A5D9-B124-46FE-A72F-AAFB937CC4AF}"/>
              </a:ext>
            </a:extLst>
          </p:cNvPr>
          <p:cNvSpPr>
            <a:spLocks noGrp="1"/>
          </p:cNvSpPr>
          <p:nvPr/>
        </p:nvSpPr>
        <p:spPr>
          <a:xfrm>
            <a:off x="4343400" y="5200650"/>
            <a:ext cx="11239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0.11</a:t>
            </a:r>
          </a:p>
        </p:txBody>
      </p:sp>
      <p:sp>
        <p:nvSpPr>
          <p:cNvPr id="31" name="table-r1-c5">
            <a:extLst>
              <a:ext uri="{FF2B5EF4-FFF2-40B4-BE49-F238E27FC236}">
                <a16:creationId xmlns:a16="http://schemas.microsoft.com/office/drawing/2014/main" id="{C9ABB3A7-EB43-43FA-91A7-F5BAE70D28FE}"/>
              </a:ext>
            </a:extLst>
          </p:cNvPr>
          <p:cNvSpPr>
            <a:spLocks noGrp="1"/>
          </p:cNvSpPr>
          <p:nvPr/>
        </p:nvSpPr>
        <p:spPr>
          <a:xfrm>
            <a:off x="5467350" y="5200650"/>
            <a:ext cx="10668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0.08</a:t>
            </a:r>
          </a:p>
        </p:txBody>
      </p:sp>
      <p:sp>
        <p:nvSpPr>
          <p:cNvPr id="32" name="feature-row-arrow">
            <a:extLst>
              <a:ext uri="{FF2B5EF4-FFF2-40B4-BE49-F238E27FC236}">
                <a16:creationId xmlns:a16="http://schemas.microsoft.com/office/drawing/2014/main" id="{327B9199-0803-4E4B-A11A-D89502E51728}"/>
              </a:ext>
            </a:extLst>
          </p:cNvPr>
          <p:cNvSpPr>
            <a:spLocks noGrp="1"/>
          </p:cNvSpPr>
          <p:nvPr/>
        </p:nvSpPr>
        <p:spPr>
          <a:xfrm>
            <a:off x="6858000" y="4914900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baseline-table-node">
            <a:extLst>
              <a:ext uri="{FF2B5EF4-FFF2-40B4-BE49-F238E27FC236}">
                <a16:creationId xmlns:a16="http://schemas.microsoft.com/office/drawing/2014/main" id="{9E3454F3-B583-4CD8-ADEC-C0DDEAADAA01}"/>
              </a:ext>
            </a:extLst>
          </p:cNvPr>
          <p:cNvSpPr>
            <a:spLocks noGrp="1"/>
          </p:cNvSpPr>
          <p:nvPr/>
        </p:nvSpPr>
        <p:spPr>
          <a:xfrm>
            <a:off x="7486650" y="4705350"/>
            <a:ext cx="1790700" cy="74295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 table</a:t>
            </a:r>
          </a:p>
        </p:txBody>
      </p:sp>
      <p:sp>
        <p:nvSpPr>
          <p:cNvPr id="34" name="model-arrow">
            <a:extLst>
              <a:ext uri="{FF2B5EF4-FFF2-40B4-BE49-F238E27FC236}">
                <a16:creationId xmlns:a16="http://schemas.microsoft.com/office/drawing/2014/main" id="{4574FD7F-C099-4661-BC6F-3FF3A33516AB}"/>
              </a:ext>
            </a:extLst>
          </p:cNvPr>
          <p:cNvSpPr>
            <a:spLocks noGrp="1"/>
          </p:cNvSpPr>
          <p:nvPr/>
        </p:nvSpPr>
        <p:spPr>
          <a:xfrm>
            <a:off x="9391650" y="4914900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5" name="classifier-node">
            <a:extLst>
              <a:ext uri="{FF2B5EF4-FFF2-40B4-BE49-F238E27FC236}">
                <a16:creationId xmlns:a16="http://schemas.microsoft.com/office/drawing/2014/main" id="{94FD039E-2AFD-4887-A37D-82CCDDA56740}"/>
              </a:ext>
            </a:extLst>
          </p:cNvPr>
          <p:cNvSpPr>
            <a:spLocks noGrp="1"/>
          </p:cNvSpPr>
          <p:nvPr/>
        </p:nvSpPr>
        <p:spPr>
          <a:xfrm>
            <a:off x="10001250" y="4705350"/>
            <a:ext cx="1485900" cy="742950"/>
          </a:xfrm>
          <a:prstGeom prst="rect">
            <a:avLst/>
          </a:prstGeom>
          <a:solidFill>
            <a:srgbClr val="2B8C72"/>
          </a:solidFill>
          <a:ln w="9525">
            <a:solidFill>
              <a:srgbClr val="2B8C72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binary</a:t>
            </a:r>
          </a:p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classifier</a:t>
            </a:r>
          </a:p>
        </p:txBody>
      </p:sp>
      <p:sp>
        <p:nvSpPr>
          <p:cNvPr id="36" name="target-label">
            <a:extLst>
              <a:ext uri="{FF2B5EF4-FFF2-40B4-BE49-F238E27FC236}">
                <a16:creationId xmlns:a16="http://schemas.microsoft.com/office/drawing/2014/main" id="{4D7A4517-6909-41FA-B30A-C8DF1A06DC42}"/>
              </a:ext>
            </a:extLst>
          </p:cNvPr>
          <p:cNvSpPr>
            <a:spLocks noGrp="1"/>
          </p:cNvSpPr>
          <p:nvPr/>
        </p:nvSpPr>
        <p:spPr>
          <a:xfrm>
            <a:off x="10229292" y="5580069"/>
            <a:ext cx="1738196" cy="4817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D746F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6D746F"/>
                </a:solidFill>
                <a:latin typeface="Aptos"/>
                <a:ea typeface="Aptos"/>
                <a:cs typeface="Aptos"/>
              </a:rPr>
              <a:t>cancer vs non-cancer</a:t>
            </a:r>
          </a:p>
        </p:txBody>
      </p:sp>
    </p:spTree>
    <p:extLst>
      <p:ext uri="{BB962C8B-B14F-4D97-AF65-F5344CB8AC3E}">
        <p14:creationId xmlns:p14="http://schemas.microsoft.com/office/powerpoint/2010/main" val="608136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-background">
            <a:extLst>
              <a:ext uri="{FF2B5EF4-FFF2-40B4-BE49-F238E27FC236}">
                <a16:creationId xmlns:a16="http://schemas.microsoft.com/office/drawing/2014/main" id="{89A346B7-C4AD-4E37-B485-2E55236E78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F3FEE4C6-B7EE-42BF-A866-7C175B10EA5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" cy="85725"/>
          </a:xfrm>
          <a:prstGeom prst="ellipse">
            <a:avLst/>
          </a:prstGeom>
          <a:solidFill>
            <a:srgbClr val="2B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4B93E2DE-AFC7-4859-B8CC-A63327A37AB4}"/>
              </a:ext>
            </a:extLst>
          </p:cNvPr>
          <p:cNvSpPr>
            <a:spLocks noGrp="1"/>
          </p:cNvSpPr>
          <p:nvPr/>
        </p:nvSpPr>
        <p:spPr>
          <a:xfrm>
            <a:off x="857250" y="457200"/>
            <a:ext cx="2476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8C72"/>
                </a:solidFill>
                <a:latin typeface="Aptos"/>
                <a:ea typeface="Aptos"/>
                <a:cs typeface="Aptos"/>
              </a:rPr>
              <a:t>FEATURE A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BAEEA3CB-C356-4A2A-8A7B-7308AF357FB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820"/>
                </a:solidFill>
                <a:latin typeface="Aptos Display"/>
                <a:ea typeface="Aptos Display"/>
                <a:cs typeface="Aptos Display"/>
              </a:rPr>
              <a:t>Asymmetry is the average mirror disagreement across six rotations.</a:t>
            </a:r>
          </a:p>
        </p:txBody>
      </p:sp>
      <p:sp>
        <p:nvSpPr>
          <p:cNvPr id="5" name="asymmetry-node-1">
            <a:extLst>
              <a:ext uri="{FF2B5EF4-FFF2-40B4-BE49-F238E27FC236}">
                <a16:creationId xmlns:a16="http://schemas.microsoft.com/office/drawing/2014/main" id="{5C4B78DA-57FF-4ED7-BB9F-3E3C289FD1A9}"/>
              </a:ext>
            </a:extLst>
          </p:cNvPr>
          <p:cNvSpPr>
            <a:spLocks noGrp="1"/>
          </p:cNvSpPr>
          <p:nvPr/>
        </p:nvSpPr>
        <p:spPr>
          <a:xfrm>
            <a:off x="914400" y="2125709"/>
            <a:ext cx="1524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42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binary mask</a:t>
            </a:r>
          </a:p>
        </p:txBody>
      </p:sp>
      <p:sp>
        <p:nvSpPr>
          <p:cNvPr id="6" name="asymmetry-arrow-1">
            <a:extLst>
              <a:ext uri="{FF2B5EF4-FFF2-40B4-BE49-F238E27FC236}">
                <a16:creationId xmlns:a16="http://schemas.microsoft.com/office/drawing/2014/main" id="{E2D23B31-A115-4011-8DE9-6422AFEF192C}"/>
              </a:ext>
            </a:extLst>
          </p:cNvPr>
          <p:cNvSpPr>
            <a:spLocks noGrp="1"/>
          </p:cNvSpPr>
          <p:nvPr/>
        </p:nvSpPr>
        <p:spPr>
          <a:xfrm>
            <a:off x="2476500" y="2363834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2D33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D334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asymmetry-node-2">
            <a:extLst>
              <a:ext uri="{FF2B5EF4-FFF2-40B4-BE49-F238E27FC236}">
                <a16:creationId xmlns:a16="http://schemas.microsoft.com/office/drawing/2014/main" id="{512ABC32-02C5-4A11-89E7-6BB5B47D3866}"/>
              </a:ext>
            </a:extLst>
          </p:cNvPr>
          <p:cNvSpPr>
            <a:spLocks noGrp="1"/>
          </p:cNvSpPr>
          <p:nvPr/>
        </p:nvSpPr>
        <p:spPr>
          <a:xfrm>
            <a:off x="3009900" y="2125709"/>
            <a:ext cx="1524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42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area midpoint</a:t>
            </a:r>
          </a:p>
        </p:txBody>
      </p:sp>
      <p:sp>
        <p:nvSpPr>
          <p:cNvPr id="8" name="asymmetry-arrow-2">
            <a:extLst>
              <a:ext uri="{FF2B5EF4-FFF2-40B4-BE49-F238E27FC236}">
                <a16:creationId xmlns:a16="http://schemas.microsoft.com/office/drawing/2014/main" id="{4EB4BC93-D788-48E4-928E-4232647E6B88}"/>
              </a:ext>
            </a:extLst>
          </p:cNvPr>
          <p:cNvSpPr>
            <a:spLocks noGrp="1"/>
          </p:cNvSpPr>
          <p:nvPr/>
        </p:nvSpPr>
        <p:spPr>
          <a:xfrm>
            <a:off x="4572000" y="2363834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2D33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D334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asymmetry-node-3">
            <a:extLst>
              <a:ext uri="{FF2B5EF4-FFF2-40B4-BE49-F238E27FC236}">
                <a16:creationId xmlns:a16="http://schemas.microsoft.com/office/drawing/2014/main" id="{9AB910A9-F690-448B-9247-60718BE3DBA2}"/>
              </a:ext>
            </a:extLst>
          </p:cNvPr>
          <p:cNvSpPr>
            <a:spLocks noGrp="1"/>
          </p:cNvSpPr>
          <p:nvPr/>
        </p:nvSpPr>
        <p:spPr>
          <a:xfrm>
            <a:off x="5105400" y="2125709"/>
            <a:ext cx="1524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42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crop + mirror</a:t>
            </a:r>
          </a:p>
        </p:txBody>
      </p:sp>
      <p:sp>
        <p:nvSpPr>
          <p:cNvPr id="10" name="asymmetry-arrow-3">
            <a:extLst>
              <a:ext uri="{FF2B5EF4-FFF2-40B4-BE49-F238E27FC236}">
                <a16:creationId xmlns:a16="http://schemas.microsoft.com/office/drawing/2014/main" id="{830038BC-8035-4B02-8843-D4388A4CCB35}"/>
              </a:ext>
            </a:extLst>
          </p:cNvPr>
          <p:cNvSpPr>
            <a:spLocks noGrp="1"/>
          </p:cNvSpPr>
          <p:nvPr/>
        </p:nvSpPr>
        <p:spPr>
          <a:xfrm>
            <a:off x="6667500" y="2363834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2D33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D334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asymmetry-node-4">
            <a:extLst>
              <a:ext uri="{FF2B5EF4-FFF2-40B4-BE49-F238E27FC236}">
                <a16:creationId xmlns:a16="http://schemas.microsoft.com/office/drawing/2014/main" id="{72184661-18F4-4F30-A6E9-32B119D76588}"/>
              </a:ext>
            </a:extLst>
          </p:cNvPr>
          <p:cNvSpPr>
            <a:spLocks noGrp="1"/>
          </p:cNvSpPr>
          <p:nvPr/>
        </p:nvSpPr>
        <p:spPr>
          <a:xfrm>
            <a:off x="7200900" y="2125709"/>
            <a:ext cx="1524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42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XOR difference</a:t>
            </a:r>
          </a:p>
        </p:txBody>
      </p:sp>
      <p:sp>
        <p:nvSpPr>
          <p:cNvPr id="12" name="asymmetry-arrow-4">
            <a:extLst>
              <a:ext uri="{FF2B5EF4-FFF2-40B4-BE49-F238E27FC236}">
                <a16:creationId xmlns:a16="http://schemas.microsoft.com/office/drawing/2014/main" id="{382F891B-6635-48D3-98C2-DA9DB8D2CE67}"/>
              </a:ext>
            </a:extLst>
          </p:cNvPr>
          <p:cNvSpPr>
            <a:spLocks noGrp="1"/>
          </p:cNvSpPr>
          <p:nvPr/>
        </p:nvSpPr>
        <p:spPr>
          <a:xfrm>
            <a:off x="8763000" y="2363834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2D33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D334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asymmetry-node-5">
            <a:extLst>
              <a:ext uri="{FF2B5EF4-FFF2-40B4-BE49-F238E27FC236}">
                <a16:creationId xmlns:a16="http://schemas.microsoft.com/office/drawing/2014/main" id="{70C047E3-EE6A-4C70-BF7B-4A59107CCE63}"/>
              </a:ext>
            </a:extLst>
          </p:cNvPr>
          <p:cNvSpPr>
            <a:spLocks noGrp="1"/>
          </p:cNvSpPr>
          <p:nvPr/>
        </p:nvSpPr>
        <p:spPr>
          <a:xfrm>
            <a:off x="9296400" y="2125709"/>
            <a:ext cx="1524000" cy="83820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rotate 30°</a:t>
            </a:r>
          </a:p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repeat ×</a:t>
            </a:r>
            <a:r>
              <a:rPr lang="en-GB" sz="14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7" name="midpoint-line">
            <a:extLst>
              <a:ext uri="{FF2B5EF4-FFF2-40B4-BE49-F238E27FC236}">
                <a16:creationId xmlns:a16="http://schemas.microsoft.com/office/drawing/2014/main" id="{A5CCD6D7-9F54-46C9-B653-1EFB80622FAC}"/>
              </a:ext>
            </a:extLst>
          </p:cNvPr>
          <p:cNvSpPr>
            <a:spLocks noGrp="1"/>
          </p:cNvSpPr>
          <p:nvPr/>
        </p:nvSpPr>
        <p:spPr>
          <a:xfrm>
            <a:off x="3771900" y="3321031"/>
            <a:ext cx="19050" cy="904875"/>
          </a:xfrm>
          <a:prstGeom prst="rect">
            <a:avLst/>
          </a:prstGeom>
          <a:solidFill>
            <a:srgbClr val="2B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half-area-label">
            <a:extLst>
              <a:ext uri="{FF2B5EF4-FFF2-40B4-BE49-F238E27FC236}">
                <a16:creationId xmlns:a16="http://schemas.microsoft.com/office/drawing/2014/main" id="{E930BC50-35B4-4F8A-A9AE-389405C2FEE3}"/>
              </a:ext>
            </a:extLst>
          </p:cNvPr>
          <p:cNvSpPr>
            <a:spLocks noGrp="1"/>
          </p:cNvSpPr>
          <p:nvPr/>
        </p:nvSpPr>
        <p:spPr>
          <a:xfrm>
            <a:off x="3295650" y="4368781"/>
            <a:ext cx="990600" cy="323850"/>
          </a:xfrm>
          <a:prstGeom prst="rect">
            <a:avLst/>
          </a:prstGeom>
          <a:solidFill>
            <a:srgbClr val="DDEDE7"/>
          </a:solidFill>
          <a:ln w="9525">
            <a:solidFill>
              <a:srgbClr val="DDEDE7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05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8C72"/>
                </a:solidFill>
                <a:latin typeface="Aptos"/>
                <a:ea typeface="Aptos"/>
                <a:cs typeface="Aptos"/>
              </a:rPr>
              <a:t>half area</a:t>
            </a:r>
          </a:p>
        </p:txBody>
      </p:sp>
      <p:sp>
        <p:nvSpPr>
          <p:cNvPr id="19" name="mirror-left">
            <a:extLst>
              <a:ext uri="{FF2B5EF4-FFF2-40B4-BE49-F238E27FC236}">
                <a16:creationId xmlns:a16="http://schemas.microsoft.com/office/drawing/2014/main" id="{83A6FBC0-1F46-4271-9002-23ADD7B6122F}"/>
              </a:ext>
            </a:extLst>
          </p:cNvPr>
          <p:cNvSpPr>
            <a:spLocks noGrp="1"/>
          </p:cNvSpPr>
          <p:nvPr/>
        </p:nvSpPr>
        <p:spPr>
          <a:xfrm>
            <a:off x="5334000" y="3397231"/>
            <a:ext cx="609600" cy="723900"/>
          </a:xfrm>
          <a:prstGeom prst="rect">
            <a:avLst/>
          </a:prstGeom>
          <a:solidFill>
            <a:srgbClr val="F2D7DE"/>
          </a:solidFill>
          <a:ln w="9525">
            <a:solidFill>
              <a:srgbClr val="C84D6A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275" b="1">
                <a:solidFill>
                  <a:srgbClr val="C84D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4D6A"/>
                </a:solidFill>
                <a:latin typeface="Aptos"/>
                <a:ea typeface="Aptos"/>
                <a:cs typeface="Aptos"/>
              </a:rPr>
              <a:t>left</a:t>
            </a:r>
          </a:p>
        </p:txBody>
      </p:sp>
      <p:sp>
        <p:nvSpPr>
          <p:cNvPr id="20" name="mirror-right">
            <a:extLst>
              <a:ext uri="{FF2B5EF4-FFF2-40B4-BE49-F238E27FC236}">
                <a16:creationId xmlns:a16="http://schemas.microsoft.com/office/drawing/2014/main" id="{1C84F7B8-2E7A-490C-BE69-0F5EE1E13A89}"/>
              </a:ext>
            </a:extLst>
          </p:cNvPr>
          <p:cNvSpPr>
            <a:spLocks noGrp="1"/>
          </p:cNvSpPr>
          <p:nvPr/>
        </p:nvSpPr>
        <p:spPr>
          <a:xfrm>
            <a:off x="5962650" y="3397231"/>
            <a:ext cx="609600" cy="723900"/>
          </a:xfrm>
          <a:prstGeom prst="rect">
            <a:avLst/>
          </a:prstGeom>
          <a:solidFill>
            <a:srgbClr val="DDEDE7"/>
          </a:solidFill>
          <a:ln w="9525">
            <a:solidFill>
              <a:srgbClr val="2B8C72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275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8C72"/>
                </a:solidFill>
                <a:latin typeface="Aptos"/>
                <a:ea typeface="Aptos"/>
                <a:cs typeface="Aptos"/>
              </a:rPr>
              <a:t>flip</a:t>
            </a:r>
          </a:p>
        </p:txBody>
      </p:sp>
      <p:sp>
        <p:nvSpPr>
          <p:cNvPr id="21" name="xor-pixels">
            <a:extLst>
              <a:ext uri="{FF2B5EF4-FFF2-40B4-BE49-F238E27FC236}">
                <a16:creationId xmlns:a16="http://schemas.microsoft.com/office/drawing/2014/main" id="{CDF216E2-54EE-4012-9BDC-AB04010E9F40}"/>
              </a:ext>
            </a:extLst>
          </p:cNvPr>
          <p:cNvSpPr>
            <a:spLocks noGrp="1"/>
          </p:cNvSpPr>
          <p:nvPr/>
        </p:nvSpPr>
        <p:spPr>
          <a:xfrm>
            <a:off x="7467600" y="3454381"/>
            <a:ext cx="1123950" cy="609600"/>
          </a:xfrm>
          <a:prstGeom prst="rect">
            <a:avLst/>
          </a:prstGeom>
          <a:solidFill>
            <a:srgbClr val="C84D6A"/>
          </a:solidFill>
          <a:ln w="9525">
            <a:solidFill>
              <a:srgbClr val="C84D6A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different</a:t>
            </a:r>
          </a:p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pixels</a:t>
            </a:r>
          </a:p>
        </p:txBody>
      </p:sp>
      <p:sp>
        <p:nvSpPr>
          <p:cNvPr id="22" name="rotation-dot-1">
            <a:extLst>
              <a:ext uri="{FF2B5EF4-FFF2-40B4-BE49-F238E27FC236}">
                <a16:creationId xmlns:a16="http://schemas.microsoft.com/office/drawing/2014/main" id="{5971AB4F-9792-4732-A1A7-4CC7ED8388E1}"/>
              </a:ext>
            </a:extLst>
          </p:cNvPr>
          <p:cNvSpPr>
            <a:spLocks noGrp="1"/>
          </p:cNvSpPr>
          <p:nvPr/>
        </p:nvSpPr>
        <p:spPr>
          <a:xfrm>
            <a:off x="10600117" y="3736620"/>
            <a:ext cx="171450" cy="171450"/>
          </a:xfrm>
          <a:prstGeom prst="ellipse">
            <a:avLst/>
          </a:prstGeom>
          <a:solidFill>
            <a:srgbClr val="2B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rotation-dot-2">
            <a:extLst>
              <a:ext uri="{FF2B5EF4-FFF2-40B4-BE49-F238E27FC236}">
                <a16:creationId xmlns:a16="http://schemas.microsoft.com/office/drawing/2014/main" id="{42702915-F0A3-4030-AA68-7EA60ABB689C}"/>
              </a:ext>
            </a:extLst>
          </p:cNvPr>
          <p:cNvSpPr>
            <a:spLocks noGrp="1"/>
          </p:cNvSpPr>
          <p:nvPr/>
        </p:nvSpPr>
        <p:spPr>
          <a:xfrm>
            <a:off x="10320338" y="4231920"/>
            <a:ext cx="171450" cy="171450"/>
          </a:xfrm>
          <a:prstGeom prst="ellipse">
            <a:avLst/>
          </a:prstGeom>
          <a:solidFill>
            <a:srgbClr val="C9C1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rotation-dot-3">
            <a:extLst>
              <a:ext uri="{FF2B5EF4-FFF2-40B4-BE49-F238E27FC236}">
                <a16:creationId xmlns:a16="http://schemas.microsoft.com/office/drawing/2014/main" id="{9B0F09D1-48F2-4B78-B830-6B620DB77A24}"/>
              </a:ext>
            </a:extLst>
          </p:cNvPr>
          <p:cNvSpPr>
            <a:spLocks noGrp="1"/>
          </p:cNvSpPr>
          <p:nvPr/>
        </p:nvSpPr>
        <p:spPr>
          <a:xfrm>
            <a:off x="9796463" y="4231920"/>
            <a:ext cx="171450" cy="171450"/>
          </a:xfrm>
          <a:prstGeom prst="ellipse">
            <a:avLst/>
          </a:prstGeom>
          <a:solidFill>
            <a:srgbClr val="C9C1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5" name="rotation-dot-4">
            <a:extLst>
              <a:ext uri="{FF2B5EF4-FFF2-40B4-BE49-F238E27FC236}">
                <a16:creationId xmlns:a16="http://schemas.microsoft.com/office/drawing/2014/main" id="{C1A034F6-7720-407A-B7D5-DDE23B981308}"/>
              </a:ext>
            </a:extLst>
          </p:cNvPr>
          <p:cNvSpPr>
            <a:spLocks noGrp="1"/>
          </p:cNvSpPr>
          <p:nvPr/>
        </p:nvSpPr>
        <p:spPr>
          <a:xfrm>
            <a:off x="9552367" y="3736620"/>
            <a:ext cx="171450" cy="171450"/>
          </a:xfrm>
          <a:prstGeom prst="ellipse">
            <a:avLst/>
          </a:prstGeom>
          <a:solidFill>
            <a:schemeClr val="tx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 dirty="0"/>
          </a:p>
        </p:txBody>
      </p:sp>
      <p:sp>
        <p:nvSpPr>
          <p:cNvPr id="26" name="rotation-dot-5">
            <a:extLst>
              <a:ext uri="{FF2B5EF4-FFF2-40B4-BE49-F238E27FC236}">
                <a16:creationId xmlns:a16="http://schemas.microsoft.com/office/drawing/2014/main" id="{39693892-E13C-4B15-8701-256867F947FA}"/>
              </a:ext>
            </a:extLst>
          </p:cNvPr>
          <p:cNvSpPr>
            <a:spLocks noGrp="1"/>
          </p:cNvSpPr>
          <p:nvPr/>
        </p:nvSpPr>
        <p:spPr>
          <a:xfrm>
            <a:off x="9796463" y="3324542"/>
            <a:ext cx="171450" cy="171450"/>
          </a:xfrm>
          <a:prstGeom prst="ellipse">
            <a:avLst/>
          </a:prstGeom>
          <a:solidFill>
            <a:srgbClr val="C9C1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7" name="rotation-dot-6">
            <a:extLst>
              <a:ext uri="{FF2B5EF4-FFF2-40B4-BE49-F238E27FC236}">
                <a16:creationId xmlns:a16="http://schemas.microsoft.com/office/drawing/2014/main" id="{5B35AB7E-C4A9-4FB6-9C18-24883A6F0F8B}"/>
              </a:ext>
            </a:extLst>
          </p:cNvPr>
          <p:cNvSpPr>
            <a:spLocks noGrp="1"/>
          </p:cNvSpPr>
          <p:nvPr/>
        </p:nvSpPr>
        <p:spPr>
          <a:xfrm>
            <a:off x="10320338" y="3324542"/>
            <a:ext cx="171450" cy="171450"/>
          </a:xfrm>
          <a:prstGeom prst="ellipse">
            <a:avLst/>
          </a:prstGeom>
          <a:solidFill>
            <a:srgbClr val="C9C1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8" name="rotation-range">
            <a:extLst>
              <a:ext uri="{FF2B5EF4-FFF2-40B4-BE49-F238E27FC236}">
                <a16:creationId xmlns:a16="http://schemas.microsoft.com/office/drawing/2014/main" id="{7354EC6A-25BF-488D-9929-055CE5DE3927}"/>
              </a:ext>
            </a:extLst>
          </p:cNvPr>
          <p:cNvSpPr>
            <a:spLocks noGrp="1"/>
          </p:cNvSpPr>
          <p:nvPr/>
        </p:nvSpPr>
        <p:spPr>
          <a:xfrm>
            <a:off x="9408633" y="3591242"/>
            <a:ext cx="1524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0°...</a:t>
            </a: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18</a:t>
            </a: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0°</a:t>
            </a:r>
          </a:p>
        </p:txBody>
      </p:sp>
      <p:sp>
        <p:nvSpPr>
          <p:cNvPr id="29" name="asymmetry-formula">
            <a:extLst>
              <a:ext uri="{FF2B5EF4-FFF2-40B4-BE49-F238E27FC236}">
                <a16:creationId xmlns:a16="http://schemas.microsoft.com/office/drawing/2014/main" id="{3DA6B259-096A-42F2-8A9A-DF0664E5F376}"/>
              </a:ext>
            </a:extLst>
          </p:cNvPr>
          <p:cNvSpPr>
            <a:spLocks noGrp="1"/>
          </p:cNvSpPr>
          <p:nvPr/>
        </p:nvSpPr>
        <p:spPr>
          <a:xfrm>
            <a:off x="1827638" y="5146768"/>
            <a:ext cx="8879623" cy="53340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190500" tIns="76200" rIns="190500" bIns="76200" anchor="ctr"/>
          <a:lstStyle/>
          <a:p>
            <a:pPr algn="ctr">
              <a:def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 dirty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score = average( XOR(crop, mirror(crop)) / (2 × lesion area))</a:t>
            </a:r>
          </a:p>
        </p:txBody>
      </p:sp>
      <p:sp>
        <p:nvSpPr>
          <p:cNvPr id="30" name="score-caption">
            <a:extLst>
              <a:ext uri="{FF2B5EF4-FFF2-40B4-BE49-F238E27FC236}">
                <a16:creationId xmlns:a16="http://schemas.microsoft.com/office/drawing/2014/main" id="{ADE8038C-6856-426B-A465-9E158DE84D13}"/>
              </a:ext>
            </a:extLst>
          </p:cNvPr>
          <p:cNvSpPr>
            <a:spLocks noGrp="1"/>
          </p:cNvSpPr>
          <p:nvPr/>
        </p:nvSpPr>
        <p:spPr>
          <a:xfrm>
            <a:off x="5240887" y="5899938"/>
            <a:ext cx="1900725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D746F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6D746F"/>
                </a:solidFill>
                <a:latin typeface="Aptos"/>
                <a:ea typeface="Aptos"/>
                <a:cs typeface="Aptos"/>
              </a:rPr>
              <a:t>higher score means less symmetric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3E73146-B02E-750A-0D3D-C770C4E0D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597" y="3319269"/>
            <a:ext cx="1005605" cy="9828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0621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-background">
            <a:extLst>
              <a:ext uri="{FF2B5EF4-FFF2-40B4-BE49-F238E27FC236}">
                <a16:creationId xmlns:a16="http://schemas.microsoft.com/office/drawing/2014/main" id="{4E703112-E603-44C8-BA67-A400507036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5AB5D79-4D7E-454C-ACB4-1BB6DFF3B98E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" cy="85725"/>
          </a:xfrm>
          <a:prstGeom prst="ellipse">
            <a:avLst/>
          </a:prstGeom>
          <a:solidFill>
            <a:srgbClr val="2B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35021CE-0E13-4B4E-86CA-4CD52CAF414E}"/>
              </a:ext>
            </a:extLst>
          </p:cNvPr>
          <p:cNvSpPr>
            <a:spLocks noGrp="1"/>
          </p:cNvSpPr>
          <p:nvPr/>
        </p:nvSpPr>
        <p:spPr>
          <a:xfrm>
            <a:off x="857250" y="457200"/>
            <a:ext cx="2857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l">
              <a:defRPr sz="90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8C72"/>
                </a:solidFill>
                <a:latin typeface="Aptos"/>
                <a:ea typeface="Aptos"/>
                <a:cs typeface="Aptos"/>
              </a:rPr>
              <a:t>COMBINED ANNOTATIONS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09AA85A7-94BE-42C4-9A89-3304FE8185F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7239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l">
              <a:defRPr sz="2550" b="1">
                <a:solidFill>
                  <a:srgbClr val="15182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2550" b="1" dirty="0">
                <a:solidFill>
                  <a:srgbClr val="151820"/>
                </a:solidFill>
                <a:latin typeface="Aptos Display"/>
                <a:ea typeface="Aptos Display"/>
                <a:cs typeface="Aptos Display"/>
              </a:rPr>
              <a:t>Combined</a:t>
            </a:r>
            <a:r>
              <a:rPr sz="2550" b="1" dirty="0">
                <a:solidFill>
                  <a:srgbClr val="151820"/>
                </a:solidFill>
                <a:latin typeface="Aptos Display"/>
                <a:ea typeface="Aptos Display"/>
                <a:cs typeface="Aptos Display"/>
              </a:rPr>
              <a:t> votes are averaged before </a:t>
            </a:r>
            <a:r>
              <a:rPr lang="en-GB" sz="2550" b="1" dirty="0">
                <a:solidFill>
                  <a:srgbClr val="151820"/>
                </a:solidFill>
                <a:latin typeface="Aptos Display"/>
                <a:ea typeface="Aptos Display"/>
                <a:cs typeface="Aptos Display"/>
              </a:rPr>
              <a:t>shortcut application</a:t>
            </a:r>
            <a:endParaRPr sz="2550" b="1" dirty="0">
              <a:solidFill>
                <a:srgbClr val="15182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4FB7D61E-EFD1-4332-8AED-87939C69E01E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l">
              <a:defRPr sz="1350" b="0">
                <a:solidFill>
                  <a:srgbClr val="6D746F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6D746F"/>
                </a:solidFill>
                <a:latin typeface="Aptos"/>
                <a:ea typeface="Aptos"/>
                <a:cs typeface="Aptos"/>
              </a:rPr>
              <a:t>data/annotations_combined.csv: 1,637 annotated images, with five hair votes and five pen votes per image.</a:t>
            </a:r>
          </a:p>
        </p:txBody>
      </p:sp>
      <p:sp>
        <p:nvSpPr>
          <p:cNvPr id="6" name="shared-valid-rule">
            <a:extLst>
              <a:ext uri="{FF2B5EF4-FFF2-40B4-BE49-F238E27FC236}">
                <a16:creationId xmlns:a16="http://schemas.microsoft.com/office/drawing/2014/main" id="{0A2F1E76-1FD1-49F4-9078-272BA47EDE53}"/>
              </a:ext>
            </a:extLst>
          </p:cNvPr>
          <p:cNvSpPr>
            <a:spLocks noGrp="1"/>
          </p:cNvSpPr>
          <p:nvPr/>
        </p:nvSpPr>
        <p:spPr>
          <a:xfrm>
            <a:off x="8572500" y="914400"/>
            <a:ext cx="2609850" cy="81915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171450" tIns="76200" rIns="171450" bIns="7620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rule</a:t>
            </a:r>
          </a:p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 least 4 valid votes before trusting an annotation</a:t>
            </a:r>
          </a:p>
        </p:txBody>
      </p:sp>
      <p:sp>
        <p:nvSpPr>
          <p:cNvPr id="7" name="hair-panel">
            <a:extLst>
              <a:ext uri="{FF2B5EF4-FFF2-40B4-BE49-F238E27FC236}">
                <a16:creationId xmlns:a16="http://schemas.microsoft.com/office/drawing/2014/main" id="{CC709E13-1BFF-40AB-ACA7-73535D27EE92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5219700" cy="4019550"/>
          </a:xfrm>
          <a:prstGeom prst="rect">
            <a:avLst/>
          </a:prstGeom>
          <a:solidFill>
            <a:srgbClr val="F2D7DE"/>
          </a:solidFill>
          <a:ln w="13335">
            <a:solidFill>
              <a:srgbClr val="C84D6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hair-badge">
            <a:extLst>
              <a:ext uri="{FF2B5EF4-FFF2-40B4-BE49-F238E27FC236}">
                <a16:creationId xmlns:a16="http://schemas.microsoft.com/office/drawing/2014/main" id="{BC37839B-EC86-4CC7-9B5F-BBD8C3E33D69}"/>
              </a:ext>
            </a:extLst>
          </p:cNvPr>
          <p:cNvSpPr>
            <a:spLocks noGrp="1"/>
          </p:cNvSpPr>
          <p:nvPr/>
        </p:nvSpPr>
        <p:spPr>
          <a:xfrm>
            <a:off x="933450" y="2457450"/>
            <a:ext cx="1066800" cy="2857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76200" rIns="57150" bIns="76200" anchor="ctr"/>
          <a:lstStyle/>
          <a:p>
            <a:pPr algn="ctr">
              <a:defRPr sz="975" b="1">
                <a:solidFill>
                  <a:srgbClr val="C84D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4D6A"/>
                </a:solidFill>
                <a:latin typeface="Aptos"/>
                <a:ea typeface="Aptos"/>
                <a:cs typeface="Aptos"/>
              </a:rPr>
              <a:t>HAIR</a:t>
            </a:r>
          </a:p>
        </p:txBody>
      </p:sp>
      <p:sp>
        <p:nvSpPr>
          <p:cNvPr id="9" name="hair-title">
            <a:extLst>
              <a:ext uri="{FF2B5EF4-FFF2-40B4-BE49-F238E27FC236}">
                <a16:creationId xmlns:a16="http://schemas.microsoft.com/office/drawing/2014/main" id="{31ED11C0-4D12-4DD6-B7F6-C86A0960A73B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4686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l">
              <a:defRPr sz="187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Average five hair votes, then map score to </a:t>
            </a:r>
            <a:r>
              <a:rPr lang="en-GB" sz="1875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application category.</a:t>
            </a:r>
            <a:endParaRPr sz="1875" b="1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hair-votes">
            <a:extLst>
              <a:ext uri="{FF2B5EF4-FFF2-40B4-BE49-F238E27FC236}">
                <a16:creationId xmlns:a16="http://schemas.microsoft.com/office/drawing/2014/main" id="{79B33C0A-0351-465D-9DE5-C6AFF95D213A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257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hair_1</a:t>
            </a:r>
          </a:p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...</a:t>
            </a:r>
          </a:p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hair_5</a:t>
            </a:r>
          </a:p>
        </p:txBody>
      </p:sp>
      <p:sp>
        <p:nvSpPr>
          <p:cNvPr id="11" name="hair-arrow-1">
            <a:extLst>
              <a:ext uri="{FF2B5EF4-FFF2-40B4-BE49-F238E27FC236}">
                <a16:creationId xmlns:a16="http://schemas.microsoft.com/office/drawing/2014/main" id="{93A2D63E-FD77-4E1B-A337-563701E62213}"/>
              </a:ext>
            </a:extLst>
          </p:cNvPr>
          <p:cNvSpPr>
            <a:spLocks noGrp="1"/>
          </p:cNvSpPr>
          <p:nvPr/>
        </p:nvSpPr>
        <p:spPr>
          <a:xfrm>
            <a:off x="2343150" y="3790950"/>
            <a:ext cx="285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ctr">
              <a:defRPr sz="18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hair-valid-count">
            <a:extLst>
              <a:ext uri="{FF2B5EF4-FFF2-40B4-BE49-F238E27FC236}">
                <a16:creationId xmlns:a16="http://schemas.microsoft.com/office/drawing/2014/main" id="{15A9B7C7-E034-41C0-8634-6B94E779D54A}"/>
              </a:ext>
            </a:extLst>
          </p:cNvPr>
          <p:cNvSpPr>
            <a:spLocks noGrp="1"/>
          </p:cNvSpPr>
          <p:nvPr/>
        </p:nvSpPr>
        <p:spPr>
          <a:xfrm>
            <a:off x="2724150" y="3562350"/>
            <a:ext cx="13144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count valid</a:t>
            </a:r>
          </a:p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votes</a:t>
            </a:r>
          </a:p>
        </p:txBody>
      </p:sp>
      <p:sp>
        <p:nvSpPr>
          <p:cNvPr id="13" name="hair-arrow-2">
            <a:extLst>
              <a:ext uri="{FF2B5EF4-FFF2-40B4-BE49-F238E27FC236}">
                <a16:creationId xmlns:a16="http://schemas.microsoft.com/office/drawing/2014/main" id="{B36B4A3E-71C1-4ECB-AB82-D7CD81D5E3F9}"/>
              </a:ext>
            </a:extLst>
          </p:cNvPr>
          <p:cNvSpPr>
            <a:spLocks noGrp="1"/>
          </p:cNvSpPr>
          <p:nvPr/>
        </p:nvSpPr>
        <p:spPr>
          <a:xfrm>
            <a:off x="4152900" y="3790950"/>
            <a:ext cx="285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ctr">
              <a:defRPr sz="18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hair-trust-gate">
            <a:extLst>
              <a:ext uri="{FF2B5EF4-FFF2-40B4-BE49-F238E27FC236}">
                <a16:creationId xmlns:a16="http://schemas.microsoft.com/office/drawing/2014/main" id="{80F3F8BC-536B-4877-B25B-33A945E63807}"/>
              </a:ext>
            </a:extLst>
          </p:cNvPr>
          <p:cNvSpPr>
            <a:spLocks noGrp="1"/>
          </p:cNvSpPr>
          <p:nvPr/>
        </p:nvSpPr>
        <p:spPr>
          <a:xfrm>
            <a:off x="4533900" y="3562350"/>
            <a:ext cx="1066800" cy="76200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 if</a:t>
            </a:r>
          </a:p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≥4</a:t>
            </a:r>
          </a:p>
        </p:txBody>
      </p:sp>
      <p:sp>
        <p:nvSpPr>
          <p:cNvPr id="15" name="hair-auto">
            <a:extLst>
              <a:ext uri="{FF2B5EF4-FFF2-40B4-BE49-F238E27FC236}">
                <a16:creationId xmlns:a16="http://schemas.microsoft.com/office/drawing/2014/main" id="{412C5C8D-FBED-4B47-9485-B42CC6399BF7}"/>
              </a:ext>
            </a:extLst>
          </p:cNvPr>
          <p:cNvSpPr>
            <a:spLocks noGrp="1"/>
          </p:cNvSpPr>
          <p:nvPr/>
        </p:nvSpPr>
        <p:spPr>
          <a:xfrm>
            <a:off x="971550" y="4514850"/>
            <a:ext cx="2133600" cy="552450"/>
          </a:xfrm>
          <a:prstGeom prst="rect">
            <a:avLst/>
          </a:prstGeom>
          <a:solidFill>
            <a:srgbClr val="ECE4D4"/>
          </a:solidFill>
          <a:ln w="9525">
            <a:solidFill>
              <a:srgbClr val="ECE4D4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&lt;4 valid votes → auto / not trusted</a:t>
            </a:r>
          </a:p>
        </p:txBody>
      </p:sp>
      <p:sp>
        <p:nvSpPr>
          <p:cNvPr id="16" name="hair-average">
            <a:extLst>
              <a:ext uri="{FF2B5EF4-FFF2-40B4-BE49-F238E27FC236}">
                <a16:creationId xmlns:a16="http://schemas.microsoft.com/office/drawing/2014/main" id="{2743D60A-37C5-4093-9D1C-1693C5D6F6AC}"/>
              </a:ext>
            </a:extLst>
          </p:cNvPr>
          <p:cNvSpPr>
            <a:spLocks noGrp="1"/>
          </p:cNvSpPr>
          <p:nvPr/>
        </p:nvSpPr>
        <p:spPr>
          <a:xfrm>
            <a:off x="3390900" y="4514850"/>
            <a:ext cx="2209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average valid</a:t>
            </a:r>
          </a:p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hair votes</a:t>
            </a:r>
          </a:p>
        </p:txBody>
      </p:sp>
      <p:sp>
        <p:nvSpPr>
          <p:cNvPr id="17" name="hair-threshold-1">
            <a:extLst>
              <a:ext uri="{FF2B5EF4-FFF2-40B4-BE49-F238E27FC236}">
                <a16:creationId xmlns:a16="http://schemas.microsoft.com/office/drawing/2014/main" id="{251F85BA-F128-4198-BB7E-E482AD78E05C}"/>
              </a:ext>
            </a:extLst>
          </p:cNvPr>
          <p:cNvSpPr>
            <a:spLocks noGrp="1"/>
          </p:cNvSpPr>
          <p:nvPr/>
        </p:nvSpPr>
        <p:spPr>
          <a:xfrm>
            <a:off x="971550" y="5162550"/>
            <a:ext cx="2266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score ≤ 0.5</a:t>
            </a:r>
          </a:p>
        </p:txBody>
      </p:sp>
      <p:sp>
        <p:nvSpPr>
          <p:cNvPr id="18" name="hair-decision-1">
            <a:extLst>
              <a:ext uri="{FF2B5EF4-FFF2-40B4-BE49-F238E27FC236}">
                <a16:creationId xmlns:a16="http://schemas.microsoft.com/office/drawing/2014/main" id="{70EAFB56-1840-4CD2-9C8D-C6ED5C9EEC7B}"/>
              </a:ext>
            </a:extLst>
          </p:cNvPr>
          <p:cNvSpPr>
            <a:spLocks noGrp="1"/>
          </p:cNvSpPr>
          <p:nvPr/>
        </p:nvSpPr>
        <p:spPr>
          <a:xfrm>
            <a:off x="3409950" y="5162550"/>
            <a:ext cx="2190750" cy="285750"/>
          </a:xfrm>
          <a:prstGeom prst="rect">
            <a:avLst/>
          </a:prstGeom>
          <a:solidFill>
            <a:srgbClr val="C84D6A"/>
          </a:solidFill>
          <a:ln w="9525">
            <a:solidFill>
              <a:srgbClr val="C84D6A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skip</a:t>
            </a:r>
          </a:p>
        </p:txBody>
      </p:sp>
      <p:sp>
        <p:nvSpPr>
          <p:cNvPr id="19" name="hair-threshold-2">
            <a:extLst>
              <a:ext uri="{FF2B5EF4-FFF2-40B4-BE49-F238E27FC236}">
                <a16:creationId xmlns:a16="http://schemas.microsoft.com/office/drawing/2014/main" id="{C288450C-5444-4040-A7F8-0BC75F883366}"/>
              </a:ext>
            </a:extLst>
          </p:cNvPr>
          <p:cNvSpPr>
            <a:spLocks noGrp="1"/>
          </p:cNvSpPr>
          <p:nvPr/>
        </p:nvSpPr>
        <p:spPr>
          <a:xfrm>
            <a:off x="971550" y="5486400"/>
            <a:ext cx="2266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0.5 &lt; score ≤ 1.25</a:t>
            </a:r>
          </a:p>
        </p:txBody>
      </p:sp>
      <p:sp>
        <p:nvSpPr>
          <p:cNvPr id="20" name="hair-decision-2">
            <a:extLst>
              <a:ext uri="{FF2B5EF4-FFF2-40B4-BE49-F238E27FC236}">
                <a16:creationId xmlns:a16="http://schemas.microsoft.com/office/drawing/2014/main" id="{F8E95C2A-1BE8-4C9E-ACAA-6C56DB5F3D11}"/>
              </a:ext>
            </a:extLst>
          </p:cNvPr>
          <p:cNvSpPr>
            <a:spLocks noGrp="1"/>
          </p:cNvSpPr>
          <p:nvPr/>
        </p:nvSpPr>
        <p:spPr>
          <a:xfrm>
            <a:off x="3409950" y="5486400"/>
            <a:ext cx="2190750" cy="285750"/>
          </a:xfrm>
          <a:prstGeom prst="rect">
            <a:avLst/>
          </a:prstGeom>
          <a:solidFill>
            <a:srgbClr val="C84D6A"/>
          </a:solidFill>
          <a:ln w="9525">
            <a:solidFill>
              <a:srgbClr val="C84D6A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moderate</a:t>
            </a:r>
          </a:p>
        </p:txBody>
      </p:sp>
      <p:sp>
        <p:nvSpPr>
          <p:cNvPr id="21" name="hair-threshold-3">
            <a:extLst>
              <a:ext uri="{FF2B5EF4-FFF2-40B4-BE49-F238E27FC236}">
                <a16:creationId xmlns:a16="http://schemas.microsoft.com/office/drawing/2014/main" id="{60C88A13-25ED-4C5A-A52F-A579DEC79FB2}"/>
              </a:ext>
            </a:extLst>
          </p:cNvPr>
          <p:cNvSpPr>
            <a:spLocks noGrp="1"/>
          </p:cNvSpPr>
          <p:nvPr/>
        </p:nvSpPr>
        <p:spPr>
          <a:xfrm>
            <a:off x="971550" y="5810250"/>
            <a:ext cx="2266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score &gt; 1.25</a:t>
            </a:r>
          </a:p>
        </p:txBody>
      </p:sp>
      <p:sp>
        <p:nvSpPr>
          <p:cNvPr id="22" name="hair-decision-3">
            <a:extLst>
              <a:ext uri="{FF2B5EF4-FFF2-40B4-BE49-F238E27FC236}">
                <a16:creationId xmlns:a16="http://schemas.microsoft.com/office/drawing/2014/main" id="{FAAC8BEC-A6BF-4F95-915F-971F27EF4707}"/>
              </a:ext>
            </a:extLst>
          </p:cNvPr>
          <p:cNvSpPr>
            <a:spLocks noGrp="1"/>
          </p:cNvSpPr>
          <p:nvPr/>
        </p:nvSpPr>
        <p:spPr>
          <a:xfrm>
            <a:off x="3409950" y="5810250"/>
            <a:ext cx="2190750" cy="285750"/>
          </a:xfrm>
          <a:prstGeom prst="rect">
            <a:avLst/>
          </a:prstGeom>
          <a:solidFill>
            <a:srgbClr val="C84D6A"/>
          </a:solidFill>
          <a:ln w="9525">
            <a:solidFill>
              <a:srgbClr val="C84D6A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heavy</a:t>
            </a:r>
          </a:p>
        </p:txBody>
      </p:sp>
      <p:sp>
        <p:nvSpPr>
          <p:cNvPr id="23" name="pen-panel">
            <a:extLst>
              <a:ext uri="{FF2B5EF4-FFF2-40B4-BE49-F238E27FC236}">
                <a16:creationId xmlns:a16="http://schemas.microsoft.com/office/drawing/2014/main" id="{AF26DFA3-6BBE-43F6-985C-15A0A5EBB848}"/>
              </a:ext>
            </a:extLst>
          </p:cNvPr>
          <p:cNvSpPr>
            <a:spLocks noGrp="1"/>
          </p:cNvSpPr>
          <p:nvPr/>
        </p:nvSpPr>
        <p:spPr>
          <a:xfrm>
            <a:off x="6286500" y="2247900"/>
            <a:ext cx="5219700" cy="4019550"/>
          </a:xfrm>
          <a:prstGeom prst="rect">
            <a:avLst/>
          </a:prstGeom>
          <a:solidFill>
            <a:srgbClr val="F5E7BD"/>
          </a:solidFill>
          <a:ln w="13335">
            <a:solidFill>
              <a:srgbClr val="E0A43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pen-badge">
            <a:extLst>
              <a:ext uri="{FF2B5EF4-FFF2-40B4-BE49-F238E27FC236}">
                <a16:creationId xmlns:a16="http://schemas.microsoft.com/office/drawing/2014/main" id="{7796BC4F-8C0B-4D33-B500-580F1E84CC39}"/>
              </a:ext>
            </a:extLst>
          </p:cNvPr>
          <p:cNvSpPr>
            <a:spLocks noGrp="1"/>
          </p:cNvSpPr>
          <p:nvPr/>
        </p:nvSpPr>
        <p:spPr>
          <a:xfrm>
            <a:off x="6534150" y="2457450"/>
            <a:ext cx="1066800" cy="2857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76200" rIns="57150" bIns="76200" anchor="ctr"/>
          <a:lstStyle/>
          <a:p>
            <a:pPr algn="ctr">
              <a:defRPr sz="975" b="1">
                <a:solidFill>
                  <a:srgbClr val="E0A4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0A43B"/>
                </a:solidFill>
                <a:latin typeface="Aptos"/>
                <a:ea typeface="Aptos"/>
                <a:cs typeface="Aptos"/>
              </a:rPr>
              <a:t>PEN</a:t>
            </a:r>
          </a:p>
        </p:txBody>
      </p:sp>
      <p:sp>
        <p:nvSpPr>
          <p:cNvPr id="25" name="pen-title">
            <a:extLst>
              <a:ext uri="{FF2B5EF4-FFF2-40B4-BE49-F238E27FC236}">
                <a16:creationId xmlns:a16="http://schemas.microsoft.com/office/drawing/2014/main" id="{E1411551-DE83-43D7-A1A3-E023E98BD06F}"/>
              </a:ext>
            </a:extLst>
          </p:cNvPr>
          <p:cNvSpPr>
            <a:spLocks noGrp="1"/>
          </p:cNvSpPr>
          <p:nvPr/>
        </p:nvSpPr>
        <p:spPr>
          <a:xfrm>
            <a:off x="6553200" y="2876550"/>
            <a:ext cx="4686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l">
              <a:defRPr sz="187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Average five pen votes, then map score to present or absent.</a:t>
            </a:r>
          </a:p>
        </p:txBody>
      </p:sp>
      <p:sp>
        <p:nvSpPr>
          <p:cNvPr id="26" name="pen-votes">
            <a:extLst>
              <a:ext uri="{FF2B5EF4-FFF2-40B4-BE49-F238E27FC236}">
                <a16:creationId xmlns:a16="http://schemas.microsoft.com/office/drawing/2014/main" id="{62154AA5-27CB-4437-9112-1CAEF183BBD5}"/>
              </a:ext>
            </a:extLst>
          </p:cNvPr>
          <p:cNvSpPr>
            <a:spLocks noGrp="1"/>
          </p:cNvSpPr>
          <p:nvPr/>
        </p:nvSpPr>
        <p:spPr>
          <a:xfrm>
            <a:off x="6572250" y="3562350"/>
            <a:ext cx="1257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pen_1</a:t>
            </a:r>
          </a:p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...</a:t>
            </a:r>
          </a:p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pen_5</a:t>
            </a:r>
          </a:p>
        </p:txBody>
      </p:sp>
      <p:sp>
        <p:nvSpPr>
          <p:cNvPr id="27" name="pen-arrow-1">
            <a:extLst>
              <a:ext uri="{FF2B5EF4-FFF2-40B4-BE49-F238E27FC236}">
                <a16:creationId xmlns:a16="http://schemas.microsoft.com/office/drawing/2014/main" id="{F578C125-904B-4BC3-A954-76408116338E}"/>
              </a:ext>
            </a:extLst>
          </p:cNvPr>
          <p:cNvSpPr>
            <a:spLocks noGrp="1"/>
          </p:cNvSpPr>
          <p:nvPr/>
        </p:nvSpPr>
        <p:spPr>
          <a:xfrm>
            <a:off x="7943850" y="3790950"/>
            <a:ext cx="285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ctr">
              <a:defRPr sz="18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pen-valid-count">
            <a:extLst>
              <a:ext uri="{FF2B5EF4-FFF2-40B4-BE49-F238E27FC236}">
                <a16:creationId xmlns:a16="http://schemas.microsoft.com/office/drawing/2014/main" id="{8B5EEDC5-0DCF-4075-A932-94ACA8F36507}"/>
              </a:ext>
            </a:extLst>
          </p:cNvPr>
          <p:cNvSpPr>
            <a:spLocks noGrp="1"/>
          </p:cNvSpPr>
          <p:nvPr/>
        </p:nvSpPr>
        <p:spPr>
          <a:xfrm>
            <a:off x="8324850" y="3562350"/>
            <a:ext cx="13144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count valid</a:t>
            </a:r>
          </a:p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votes</a:t>
            </a:r>
          </a:p>
        </p:txBody>
      </p:sp>
      <p:sp>
        <p:nvSpPr>
          <p:cNvPr id="29" name="pen-arrow-2">
            <a:extLst>
              <a:ext uri="{FF2B5EF4-FFF2-40B4-BE49-F238E27FC236}">
                <a16:creationId xmlns:a16="http://schemas.microsoft.com/office/drawing/2014/main" id="{93D06D48-997B-4A27-91BB-92BC26346E80}"/>
              </a:ext>
            </a:extLst>
          </p:cNvPr>
          <p:cNvSpPr>
            <a:spLocks noGrp="1"/>
          </p:cNvSpPr>
          <p:nvPr/>
        </p:nvSpPr>
        <p:spPr>
          <a:xfrm>
            <a:off x="9753600" y="3790950"/>
            <a:ext cx="285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ctr">
              <a:defRPr sz="18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pen-trust-gate">
            <a:extLst>
              <a:ext uri="{FF2B5EF4-FFF2-40B4-BE49-F238E27FC236}">
                <a16:creationId xmlns:a16="http://schemas.microsoft.com/office/drawing/2014/main" id="{680179D2-470C-466F-853D-9AC6D24ED748}"/>
              </a:ext>
            </a:extLst>
          </p:cNvPr>
          <p:cNvSpPr>
            <a:spLocks noGrp="1"/>
          </p:cNvSpPr>
          <p:nvPr/>
        </p:nvSpPr>
        <p:spPr>
          <a:xfrm>
            <a:off x="10134600" y="3562350"/>
            <a:ext cx="1066800" cy="76200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 if</a:t>
            </a:r>
          </a:p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≥4</a:t>
            </a:r>
          </a:p>
        </p:txBody>
      </p:sp>
      <p:sp>
        <p:nvSpPr>
          <p:cNvPr id="31" name="pen-auto">
            <a:extLst>
              <a:ext uri="{FF2B5EF4-FFF2-40B4-BE49-F238E27FC236}">
                <a16:creationId xmlns:a16="http://schemas.microsoft.com/office/drawing/2014/main" id="{226CEECF-3CE6-4F24-9DAE-F85E314041D3}"/>
              </a:ext>
            </a:extLst>
          </p:cNvPr>
          <p:cNvSpPr>
            <a:spLocks noGrp="1"/>
          </p:cNvSpPr>
          <p:nvPr/>
        </p:nvSpPr>
        <p:spPr>
          <a:xfrm>
            <a:off x="6572250" y="4514850"/>
            <a:ext cx="2133600" cy="552450"/>
          </a:xfrm>
          <a:prstGeom prst="rect">
            <a:avLst/>
          </a:prstGeom>
          <a:solidFill>
            <a:srgbClr val="ECE4D4"/>
          </a:solidFill>
          <a:ln w="9525">
            <a:solidFill>
              <a:srgbClr val="ECE4D4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&lt;4 valid votes → auto / not trusted</a:t>
            </a:r>
          </a:p>
        </p:txBody>
      </p:sp>
      <p:sp>
        <p:nvSpPr>
          <p:cNvPr id="32" name="pen-average">
            <a:extLst>
              <a:ext uri="{FF2B5EF4-FFF2-40B4-BE49-F238E27FC236}">
                <a16:creationId xmlns:a16="http://schemas.microsoft.com/office/drawing/2014/main" id="{10C87A62-1A3A-4901-BCF5-6D82E6CFA345}"/>
              </a:ext>
            </a:extLst>
          </p:cNvPr>
          <p:cNvSpPr>
            <a:spLocks noGrp="1"/>
          </p:cNvSpPr>
          <p:nvPr/>
        </p:nvSpPr>
        <p:spPr>
          <a:xfrm>
            <a:off x="8991600" y="4514850"/>
            <a:ext cx="22098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average valid</a:t>
            </a:r>
          </a:p>
          <a:p>
            <a:pPr algn="ctr">
              <a:defRPr sz="12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pen votes</a:t>
            </a:r>
          </a:p>
        </p:txBody>
      </p:sp>
      <p:sp>
        <p:nvSpPr>
          <p:cNvPr id="33" name="pen-threshold-1">
            <a:extLst>
              <a:ext uri="{FF2B5EF4-FFF2-40B4-BE49-F238E27FC236}">
                <a16:creationId xmlns:a16="http://schemas.microsoft.com/office/drawing/2014/main" id="{84175590-F3CF-459E-8EA9-801258E4B77E}"/>
              </a:ext>
            </a:extLst>
          </p:cNvPr>
          <p:cNvSpPr>
            <a:spLocks noGrp="1"/>
          </p:cNvSpPr>
          <p:nvPr/>
        </p:nvSpPr>
        <p:spPr>
          <a:xfrm>
            <a:off x="6572250" y="5162550"/>
            <a:ext cx="2266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score &lt; 0.5</a:t>
            </a:r>
          </a:p>
        </p:txBody>
      </p:sp>
      <p:sp>
        <p:nvSpPr>
          <p:cNvPr id="34" name="pen-decision-1">
            <a:extLst>
              <a:ext uri="{FF2B5EF4-FFF2-40B4-BE49-F238E27FC236}">
                <a16:creationId xmlns:a16="http://schemas.microsoft.com/office/drawing/2014/main" id="{C99D924B-508F-4806-8500-ED1EAE9C024A}"/>
              </a:ext>
            </a:extLst>
          </p:cNvPr>
          <p:cNvSpPr>
            <a:spLocks noGrp="1"/>
          </p:cNvSpPr>
          <p:nvPr/>
        </p:nvSpPr>
        <p:spPr>
          <a:xfrm>
            <a:off x="9010650" y="5162550"/>
            <a:ext cx="2190750" cy="285750"/>
          </a:xfrm>
          <a:prstGeom prst="rect">
            <a:avLst/>
          </a:prstGeom>
          <a:solidFill>
            <a:srgbClr val="E0A43B"/>
          </a:solidFill>
          <a:ln w="9525">
            <a:solidFill>
              <a:srgbClr val="E0A43B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absent</a:t>
            </a:r>
          </a:p>
        </p:txBody>
      </p:sp>
      <p:sp>
        <p:nvSpPr>
          <p:cNvPr id="35" name="pen-threshold-2">
            <a:extLst>
              <a:ext uri="{FF2B5EF4-FFF2-40B4-BE49-F238E27FC236}">
                <a16:creationId xmlns:a16="http://schemas.microsoft.com/office/drawing/2014/main" id="{25E3E078-A78A-4CE5-9790-5387353206A3}"/>
              </a:ext>
            </a:extLst>
          </p:cNvPr>
          <p:cNvSpPr>
            <a:spLocks noGrp="1"/>
          </p:cNvSpPr>
          <p:nvPr/>
        </p:nvSpPr>
        <p:spPr>
          <a:xfrm>
            <a:off x="6572250" y="5486400"/>
            <a:ext cx="2266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score ≥ 0.5</a:t>
            </a:r>
          </a:p>
        </p:txBody>
      </p:sp>
      <p:sp>
        <p:nvSpPr>
          <p:cNvPr id="36" name="pen-decision-2">
            <a:extLst>
              <a:ext uri="{FF2B5EF4-FFF2-40B4-BE49-F238E27FC236}">
                <a16:creationId xmlns:a16="http://schemas.microsoft.com/office/drawing/2014/main" id="{4852632E-A3D9-438D-99A1-19A18FD7083C}"/>
              </a:ext>
            </a:extLst>
          </p:cNvPr>
          <p:cNvSpPr>
            <a:spLocks noGrp="1"/>
          </p:cNvSpPr>
          <p:nvPr/>
        </p:nvSpPr>
        <p:spPr>
          <a:xfrm>
            <a:off x="9010650" y="5486400"/>
            <a:ext cx="2190750" cy="285750"/>
          </a:xfrm>
          <a:prstGeom prst="rect">
            <a:avLst/>
          </a:prstGeom>
          <a:solidFill>
            <a:srgbClr val="E0A43B"/>
          </a:solidFill>
          <a:ln w="9525">
            <a:solidFill>
              <a:srgbClr val="E0A43B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37" name="source-footer">
            <a:extLst>
              <a:ext uri="{FF2B5EF4-FFF2-40B4-BE49-F238E27FC236}">
                <a16:creationId xmlns:a16="http://schemas.microsoft.com/office/drawing/2014/main" id="{EE606FED-EAAA-4CC1-9F54-0124AD8F538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76200" rIns="0" bIns="76200" anchor="ctr"/>
          <a:lstStyle/>
          <a:p>
            <a:pPr algn="l">
              <a:defRPr sz="750" b="0">
                <a:solidFill>
                  <a:srgbClr val="8780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78074"/>
                </a:solidFill>
                <a:latin typeface="Aptos"/>
                <a:ea typeface="Aptos"/>
                <a:cs typeface="Aptos"/>
              </a:rPr>
              <a:t>Source: data/annotations_combined.csv and src/shortcuts.py</a:t>
            </a:r>
          </a:p>
        </p:txBody>
      </p:sp>
    </p:spTree>
    <p:extLst>
      <p:ext uri="{BB962C8B-B14F-4D97-AF65-F5344CB8AC3E}">
        <p14:creationId xmlns:p14="http://schemas.microsoft.com/office/powerpoint/2010/main" val="3355752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30DED-C2CF-F5B0-8BB0-1A675D75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background">
            <a:extLst>
              <a:ext uri="{FF2B5EF4-FFF2-40B4-BE49-F238E27FC236}">
                <a16:creationId xmlns:a16="http://schemas.microsoft.com/office/drawing/2014/main" id="{29379B58-465A-ECB7-8AF2-256AFA37C0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 dirty="0"/>
          </a:p>
        </p:txBody>
      </p:sp>
      <p:sp>
        <p:nvSpPr>
          <p:cNvPr id="2" name="pipeline-step-1">
            <a:extLst>
              <a:ext uri="{FF2B5EF4-FFF2-40B4-BE49-F238E27FC236}">
                <a16:creationId xmlns:a16="http://schemas.microsoft.com/office/drawing/2014/main" id="{E210168D-6C41-0DFF-ADB4-8041D33545D7}"/>
              </a:ext>
            </a:extLst>
          </p:cNvPr>
          <p:cNvSpPr>
            <a:spLocks noGrp="1"/>
          </p:cNvSpPr>
          <p:nvPr/>
        </p:nvSpPr>
        <p:spPr>
          <a:xfrm>
            <a:off x="5334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01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3" name="pipeline-arrow-1">
            <a:extLst>
              <a:ext uri="{FF2B5EF4-FFF2-40B4-BE49-F238E27FC236}">
                <a16:creationId xmlns:a16="http://schemas.microsoft.com/office/drawing/2014/main" id="{5DC11DB3-2EF9-4417-DE18-5555A771A811}"/>
              </a:ext>
            </a:extLst>
          </p:cNvPr>
          <p:cNvSpPr>
            <a:spLocks noGrp="1"/>
          </p:cNvSpPr>
          <p:nvPr/>
        </p:nvSpPr>
        <p:spPr>
          <a:xfrm>
            <a:off x="20288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" name="pipeline-step-2">
            <a:extLst>
              <a:ext uri="{FF2B5EF4-FFF2-40B4-BE49-F238E27FC236}">
                <a16:creationId xmlns:a16="http://schemas.microsoft.com/office/drawing/2014/main" id="{5017B618-A9D0-1D59-BBDA-72178FBA443E}"/>
              </a:ext>
            </a:extLst>
          </p:cNvPr>
          <p:cNvSpPr>
            <a:spLocks noGrp="1"/>
          </p:cNvSpPr>
          <p:nvPr/>
        </p:nvSpPr>
        <p:spPr>
          <a:xfrm>
            <a:off x="25146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02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Feature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extraction</a:t>
            </a:r>
          </a:p>
        </p:txBody>
      </p:sp>
      <p:sp>
        <p:nvSpPr>
          <p:cNvPr id="5" name="pipeline-arrow-2">
            <a:extLst>
              <a:ext uri="{FF2B5EF4-FFF2-40B4-BE49-F238E27FC236}">
                <a16:creationId xmlns:a16="http://schemas.microsoft.com/office/drawing/2014/main" id="{93E76CCF-5A49-59BD-1643-CACDA70EC9BF}"/>
              </a:ext>
            </a:extLst>
          </p:cNvPr>
          <p:cNvSpPr>
            <a:spLocks noGrp="1"/>
          </p:cNvSpPr>
          <p:nvPr/>
        </p:nvSpPr>
        <p:spPr>
          <a:xfrm>
            <a:off x="40100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pipeline-arrow-3">
            <a:extLst>
              <a:ext uri="{FF2B5EF4-FFF2-40B4-BE49-F238E27FC236}">
                <a16:creationId xmlns:a16="http://schemas.microsoft.com/office/drawing/2014/main" id="{CF64F552-35CD-E3A2-2237-A005A1ADD4CF}"/>
              </a:ext>
            </a:extLst>
          </p:cNvPr>
          <p:cNvSpPr>
            <a:spLocks noGrp="1"/>
          </p:cNvSpPr>
          <p:nvPr/>
        </p:nvSpPr>
        <p:spPr>
          <a:xfrm>
            <a:off x="59912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pipeline-step-4">
            <a:extLst>
              <a:ext uri="{FF2B5EF4-FFF2-40B4-BE49-F238E27FC236}">
                <a16:creationId xmlns:a16="http://schemas.microsoft.com/office/drawing/2014/main" id="{AB6EE2E7-5EE2-6B74-637C-657226882E79}"/>
              </a:ext>
            </a:extLst>
          </p:cNvPr>
          <p:cNvSpPr>
            <a:spLocks noGrp="1"/>
          </p:cNvSpPr>
          <p:nvPr/>
        </p:nvSpPr>
        <p:spPr>
          <a:xfrm>
            <a:off x="64770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04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Train/test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9" name="pipeline-arrow-4">
            <a:extLst>
              <a:ext uri="{FF2B5EF4-FFF2-40B4-BE49-F238E27FC236}">
                <a16:creationId xmlns:a16="http://schemas.microsoft.com/office/drawing/2014/main" id="{4D9BB2AC-6A97-7870-96C5-275E32086834}"/>
              </a:ext>
            </a:extLst>
          </p:cNvPr>
          <p:cNvSpPr>
            <a:spLocks noGrp="1"/>
          </p:cNvSpPr>
          <p:nvPr/>
        </p:nvSpPr>
        <p:spPr>
          <a:xfrm>
            <a:off x="79724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pipeline-step-5">
            <a:extLst>
              <a:ext uri="{FF2B5EF4-FFF2-40B4-BE49-F238E27FC236}">
                <a16:creationId xmlns:a16="http://schemas.microsoft.com/office/drawing/2014/main" id="{308A6497-1350-17EB-C874-8A541B263644}"/>
              </a:ext>
            </a:extLst>
          </p:cNvPr>
          <p:cNvSpPr>
            <a:spLocks noGrp="1"/>
          </p:cNvSpPr>
          <p:nvPr/>
        </p:nvSpPr>
        <p:spPr>
          <a:xfrm>
            <a:off x="845820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05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Model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11" name="pipeline-arrow-5">
            <a:extLst>
              <a:ext uri="{FF2B5EF4-FFF2-40B4-BE49-F238E27FC236}">
                <a16:creationId xmlns:a16="http://schemas.microsoft.com/office/drawing/2014/main" id="{5529337A-36AC-FD43-53C3-F2F8BE05212B}"/>
              </a:ext>
            </a:extLst>
          </p:cNvPr>
          <p:cNvSpPr>
            <a:spLocks noGrp="1"/>
          </p:cNvSpPr>
          <p:nvPr/>
        </p:nvSpPr>
        <p:spPr>
          <a:xfrm>
            <a:off x="9953625" y="3038475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pipeline-step-6">
            <a:extLst>
              <a:ext uri="{FF2B5EF4-FFF2-40B4-BE49-F238E27FC236}">
                <a16:creationId xmlns:a16="http://schemas.microsoft.com/office/drawing/2014/main" id="{ABD1D90A-9C8A-86C5-3429-568DD1D084CE}"/>
              </a:ext>
            </a:extLst>
          </p:cNvPr>
          <p:cNvSpPr>
            <a:spLocks noGrp="1"/>
          </p:cNvSpPr>
          <p:nvPr/>
        </p:nvSpPr>
        <p:spPr>
          <a:xfrm>
            <a:off x="10439400" y="2781300"/>
            <a:ext cx="1428750" cy="876300"/>
          </a:xfrm>
          <a:prstGeom prst="rect">
            <a:avLst/>
          </a:prstGeom>
          <a:solidFill>
            <a:srgbClr val="DDEDE7"/>
          </a:solidFill>
          <a:ln w="9525">
            <a:solidFill>
              <a:srgbClr val="2B8C72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06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14" name="pipeline-step-2">
            <a:extLst>
              <a:ext uri="{FF2B5EF4-FFF2-40B4-BE49-F238E27FC236}">
                <a16:creationId xmlns:a16="http://schemas.microsoft.com/office/drawing/2014/main" id="{DAB334CE-AFCA-E084-83F7-3936C67A9215}"/>
              </a:ext>
            </a:extLst>
          </p:cNvPr>
          <p:cNvSpPr>
            <a:spLocks noGrp="1"/>
          </p:cNvSpPr>
          <p:nvPr/>
        </p:nvSpPr>
        <p:spPr>
          <a:xfrm>
            <a:off x="4438650" y="278130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1B3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0</a:t>
            </a: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3</a:t>
            </a:r>
            <a:endParaRPr sz="1350" b="1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Open </a:t>
            </a:r>
          </a:p>
          <a:p>
            <a:pPr algn="ctr">
              <a:defRPr sz="135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350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question</a:t>
            </a:r>
            <a:endParaRPr sz="1350" b="1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43CD78-A5C6-CC49-3616-20A6E8F38B2A}"/>
              </a:ext>
            </a:extLst>
          </p:cNvPr>
          <p:cNvSpPr/>
          <p:nvPr/>
        </p:nvSpPr>
        <p:spPr>
          <a:xfrm>
            <a:off x="4391611" y="2490253"/>
            <a:ext cx="1519660" cy="15155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99843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-background">
            <a:extLst>
              <a:ext uri="{FF2B5EF4-FFF2-40B4-BE49-F238E27FC236}">
                <a16:creationId xmlns:a16="http://schemas.microsoft.com/office/drawing/2014/main" id="{69DEF252-7B3A-4AF1-BD98-281D2C1657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40F1D070-0CF8-4BD2-A538-944DF5F97D9F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85725" cy="85725"/>
          </a:xfrm>
          <a:prstGeom prst="ellipse">
            <a:avLst/>
          </a:prstGeom>
          <a:solidFill>
            <a:srgbClr val="2B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88CE986-C689-4CAE-8F3B-626DD0314DAA}"/>
              </a:ext>
            </a:extLst>
          </p:cNvPr>
          <p:cNvSpPr>
            <a:spLocks noGrp="1"/>
          </p:cNvSpPr>
          <p:nvPr/>
        </p:nvSpPr>
        <p:spPr>
          <a:xfrm>
            <a:off x="857250" y="457200"/>
            <a:ext cx="2476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8C72"/>
                </a:solidFill>
                <a:latin typeface="Aptos"/>
                <a:ea typeface="Aptos"/>
                <a:cs typeface="Aptos"/>
              </a:rPr>
              <a:t>OPEN QUESTION</a:t>
            </a:r>
          </a:p>
        </p:txBody>
      </p:sp>
      <p:sp>
        <p:nvSpPr>
          <p:cNvPr id="4" name="claim-title">
            <a:extLst>
              <a:ext uri="{FF2B5EF4-FFF2-40B4-BE49-F238E27FC236}">
                <a16:creationId xmlns:a16="http://schemas.microsoft.com/office/drawing/2014/main" id="{069A14F1-311D-41C6-9FB1-394D06F3CB1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82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2550" b="1" dirty="0">
                <a:solidFill>
                  <a:srgbClr val="151820"/>
                </a:solidFill>
                <a:latin typeface="Aptos Display"/>
                <a:ea typeface="Aptos Display"/>
                <a:cs typeface="Aptos Display"/>
              </a:rPr>
              <a:t>Adding </a:t>
            </a:r>
            <a:r>
              <a:rPr sz="2550" b="1" dirty="0">
                <a:solidFill>
                  <a:srgbClr val="151820"/>
                </a:solidFill>
                <a:latin typeface="Aptos Display"/>
                <a:ea typeface="Aptos Display"/>
                <a:cs typeface="Aptos Display"/>
              </a:rPr>
              <a:t>RGB plus greyscale</a:t>
            </a:r>
            <a:r>
              <a:rPr lang="en-GB" sz="2550" b="1" dirty="0">
                <a:solidFill>
                  <a:srgbClr val="151820"/>
                </a:solidFill>
                <a:latin typeface="Aptos Display"/>
                <a:ea typeface="Aptos Display"/>
                <a:cs typeface="Aptos Display"/>
              </a:rPr>
              <a:t> on top of HSV</a:t>
            </a:r>
            <a:endParaRPr sz="2550" b="1" dirty="0">
              <a:solidFill>
                <a:srgbClr val="15182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support-note">
            <a:extLst>
              <a:ext uri="{FF2B5EF4-FFF2-40B4-BE49-F238E27FC236}">
                <a16:creationId xmlns:a16="http://schemas.microsoft.com/office/drawing/2014/main" id="{9D4E269D-255A-450F-B006-6E1A247CFD5A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D746F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6D746F"/>
                </a:solidFill>
                <a:latin typeface="Aptos"/>
                <a:ea typeface="Aptos"/>
                <a:cs typeface="Aptos"/>
              </a:rPr>
              <a:t>The extra extraction tested whether raw channel intensity or brightness added information beyond HSV.</a:t>
            </a:r>
          </a:p>
        </p:txBody>
      </p:sp>
      <p:sp>
        <p:nvSpPr>
          <p:cNvPr id="6" name="expansion-label">
            <a:extLst>
              <a:ext uri="{FF2B5EF4-FFF2-40B4-BE49-F238E27FC236}">
                <a16:creationId xmlns:a16="http://schemas.microsoft.com/office/drawing/2014/main" id="{AEA9DCDF-392C-4255-A50A-660031E1E3BB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2B8C72"/>
                </a:solidFill>
                <a:latin typeface="Aptos"/>
                <a:ea typeface="Aptos"/>
                <a:cs typeface="Aptos"/>
              </a:rPr>
              <a:t>feature expansion</a:t>
            </a:r>
          </a:p>
        </p:txBody>
      </p:sp>
      <p:sp>
        <p:nvSpPr>
          <p:cNvPr id="7" name="hsv-node">
            <a:extLst>
              <a:ext uri="{FF2B5EF4-FFF2-40B4-BE49-F238E27FC236}">
                <a16:creationId xmlns:a16="http://schemas.microsoft.com/office/drawing/2014/main" id="{1D9F62F5-3C7C-469A-B65A-15E944BF4BA6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1809750" cy="685800"/>
          </a:xfrm>
          <a:prstGeom prst="rect">
            <a:avLst/>
          </a:prstGeom>
          <a:solidFill>
            <a:srgbClr val="DDEDE7"/>
          </a:solidFill>
          <a:ln w="9525">
            <a:solidFill>
              <a:srgbClr val="2B8C72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42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baseline colour</a:t>
            </a:r>
          </a:p>
          <a:p>
            <a:pPr algn="ctr">
              <a:defRPr sz="142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HSV stats</a:t>
            </a:r>
          </a:p>
        </p:txBody>
      </p:sp>
      <p:sp>
        <p:nvSpPr>
          <p:cNvPr id="8" name="hsv-arrow">
            <a:extLst>
              <a:ext uri="{FF2B5EF4-FFF2-40B4-BE49-F238E27FC236}">
                <a16:creationId xmlns:a16="http://schemas.microsoft.com/office/drawing/2014/main" id="{52CE7B5A-A12A-4F64-8974-6FF69BE60F76}"/>
              </a:ext>
            </a:extLst>
          </p:cNvPr>
          <p:cNvSpPr>
            <a:spLocks noGrp="1"/>
          </p:cNvSpPr>
          <p:nvPr/>
        </p:nvSpPr>
        <p:spPr>
          <a:xfrm>
            <a:off x="2628900" y="3048000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gb-node">
            <a:extLst>
              <a:ext uri="{FF2B5EF4-FFF2-40B4-BE49-F238E27FC236}">
                <a16:creationId xmlns:a16="http://schemas.microsoft.com/office/drawing/2014/main" id="{79E2A4E4-D1B4-456C-900D-D03DB17C474F}"/>
              </a:ext>
            </a:extLst>
          </p:cNvPr>
          <p:cNvSpPr>
            <a:spLocks noGrp="1"/>
          </p:cNvSpPr>
          <p:nvPr/>
        </p:nvSpPr>
        <p:spPr>
          <a:xfrm>
            <a:off x="3257550" y="2647950"/>
            <a:ext cx="2247900" cy="1143000"/>
          </a:xfrm>
          <a:prstGeom prst="rect">
            <a:avLst/>
          </a:prstGeom>
          <a:solidFill>
            <a:srgbClr val="F2D7DE"/>
          </a:solidFill>
          <a:ln w="9525">
            <a:solidFill>
              <a:srgbClr val="C84D6A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27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add RGB:</a:t>
            </a:r>
          </a:p>
          <a:p>
            <a:pPr algn="ctr">
              <a:defRPr sz="127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red / green / blue</a:t>
            </a:r>
          </a:p>
          <a:p>
            <a:pPr algn="ctr">
              <a:defRPr sz="127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mean, std, skew,</a:t>
            </a:r>
          </a:p>
          <a:p>
            <a:pPr algn="ctr">
              <a:defRPr sz="127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5p, 50p, 95p</a:t>
            </a:r>
          </a:p>
        </p:txBody>
      </p:sp>
      <p:sp>
        <p:nvSpPr>
          <p:cNvPr id="10" name="grey-node">
            <a:extLst>
              <a:ext uri="{FF2B5EF4-FFF2-40B4-BE49-F238E27FC236}">
                <a16:creationId xmlns:a16="http://schemas.microsoft.com/office/drawing/2014/main" id="{60014DE7-D9E2-4F2D-8444-2B1E3321F935}"/>
              </a:ext>
            </a:extLst>
          </p:cNvPr>
          <p:cNvSpPr>
            <a:spLocks noGrp="1"/>
          </p:cNvSpPr>
          <p:nvPr/>
        </p:nvSpPr>
        <p:spPr>
          <a:xfrm>
            <a:off x="3257550" y="4057650"/>
            <a:ext cx="2247900" cy="1009650"/>
          </a:xfrm>
          <a:prstGeom prst="rect">
            <a:avLst/>
          </a:prstGeom>
          <a:solidFill>
            <a:srgbClr val="F5E7BD"/>
          </a:solidFill>
          <a:ln w="9525">
            <a:solidFill>
              <a:srgbClr val="E0A43B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275" b="1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add greyscale:</a:t>
            </a:r>
          </a:p>
          <a:p>
            <a:pPr algn="ctr">
              <a:defRPr sz="1275" b="1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0.2989R + 0.5870G</a:t>
            </a:r>
          </a:p>
          <a:p>
            <a:pPr algn="ctr">
              <a:defRPr sz="1275" b="1">
                <a:solidFill>
                  <a:srgbClr val="15182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51820"/>
                </a:solidFill>
                <a:latin typeface="Aptos Mono"/>
                <a:ea typeface="Aptos Mono"/>
                <a:cs typeface="Aptos Mono"/>
              </a:rPr>
              <a:t>+ 0.1140B</a:t>
            </a:r>
          </a:p>
        </p:txBody>
      </p:sp>
      <p:sp>
        <p:nvSpPr>
          <p:cNvPr id="12" name="combine-arrow">
            <a:extLst>
              <a:ext uri="{FF2B5EF4-FFF2-40B4-BE49-F238E27FC236}">
                <a16:creationId xmlns:a16="http://schemas.microsoft.com/office/drawing/2014/main" id="{6C1AC7E3-E549-4F8E-ABC2-72872EC7C1CF}"/>
              </a:ext>
            </a:extLst>
          </p:cNvPr>
          <p:cNvSpPr>
            <a:spLocks noGrp="1"/>
          </p:cNvSpPr>
          <p:nvPr/>
        </p:nvSpPr>
        <p:spPr>
          <a:xfrm>
            <a:off x="5600700" y="3524250"/>
            <a:ext cx="304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182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model-variants-node">
            <a:extLst>
              <a:ext uri="{FF2B5EF4-FFF2-40B4-BE49-F238E27FC236}">
                <a16:creationId xmlns:a16="http://schemas.microsoft.com/office/drawing/2014/main" id="{7EFCFFFD-1AB1-4B9E-A6A2-B39FB1ACC3D5}"/>
              </a:ext>
            </a:extLst>
          </p:cNvPr>
          <p:cNvSpPr>
            <a:spLocks noGrp="1"/>
          </p:cNvSpPr>
          <p:nvPr/>
        </p:nvSpPr>
        <p:spPr>
          <a:xfrm>
            <a:off x="6210300" y="3219450"/>
            <a:ext cx="1619250" cy="838200"/>
          </a:xfrm>
          <a:prstGeom prst="rect">
            <a:avLst/>
          </a:prstGeom>
          <a:solidFill>
            <a:srgbClr val="151820"/>
          </a:solidFill>
          <a:ln w="9525">
            <a:solidFill>
              <a:srgbClr val="15182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variants</a:t>
            </a:r>
          </a:p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 colour sets</a:t>
            </a:r>
          </a:p>
        </p:txBody>
      </p:sp>
      <p:sp>
        <p:nvSpPr>
          <p:cNvPr id="14" name="accuracy-label">
            <a:extLst>
              <a:ext uri="{FF2B5EF4-FFF2-40B4-BE49-F238E27FC236}">
                <a16:creationId xmlns:a16="http://schemas.microsoft.com/office/drawing/2014/main" id="{7F054B5C-D207-4F23-A69E-4AB91ABDBC54}"/>
              </a:ext>
            </a:extLst>
          </p:cNvPr>
          <p:cNvSpPr>
            <a:spLocks noGrp="1"/>
          </p:cNvSpPr>
          <p:nvPr/>
        </p:nvSpPr>
        <p:spPr>
          <a:xfrm>
            <a:off x="8362950" y="1943384"/>
            <a:ext cx="272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2B8C72"/>
                </a:solidFill>
                <a:latin typeface="Aptos"/>
                <a:ea typeface="Aptos"/>
                <a:cs typeface="Aptos"/>
              </a:rPr>
              <a:t>saved validation accuracy</a:t>
            </a:r>
          </a:p>
        </p:txBody>
      </p:sp>
      <p:sp>
        <p:nvSpPr>
          <p:cNvPr id="15" name="bar-label-1">
            <a:extLst>
              <a:ext uri="{FF2B5EF4-FFF2-40B4-BE49-F238E27FC236}">
                <a16:creationId xmlns:a16="http://schemas.microsoft.com/office/drawing/2014/main" id="{DDAC13C2-D806-4C28-AAF7-6F215EDE3162}"/>
              </a:ext>
            </a:extLst>
          </p:cNvPr>
          <p:cNvSpPr>
            <a:spLocks noGrp="1"/>
          </p:cNvSpPr>
          <p:nvPr/>
        </p:nvSpPr>
        <p:spPr>
          <a:xfrm>
            <a:off x="8362950" y="2286284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Base HSV</a:t>
            </a:r>
          </a:p>
        </p:txBody>
      </p:sp>
      <p:sp>
        <p:nvSpPr>
          <p:cNvPr id="16" name="bar-track-1">
            <a:extLst>
              <a:ext uri="{FF2B5EF4-FFF2-40B4-BE49-F238E27FC236}">
                <a16:creationId xmlns:a16="http://schemas.microsoft.com/office/drawing/2014/main" id="{7764A04F-69F2-46C4-AE7F-965A40F1ADFD}"/>
              </a:ext>
            </a:extLst>
          </p:cNvPr>
          <p:cNvSpPr>
            <a:spLocks noGrp="1"/>
          </p:cNvSpPr>
          <p:nvPr/>
        </p:nvSpPr>
        <p:spPr>
          <a:xfrm>
            <a:off x="9696450" y="2286284"/>
            <a:ext cx="1714500" cy="190500"/>
          </a:xfrm>
          <a:prstGeom prst="rect">
            <a:avLst/>
          </a:prstGeom>
          <a:solidFill>
            <a:srgbClr val="ECE4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bar-fill-1">
            <a:extLst>
              <a:ext uri="{FF2B5EF4-FFF2-40B4-BE49-F238E27FC236}">
                <a16:creationId xmlns:a16="http://schemas.microsoft.com/office/drawing/2014/main" id="{542C6C31-B713-41FD-88BA-21132E97BA25}"/>
              </a:ext>
            </a:extLst>
          </p:cNvPr>
          <p:cNvSpPr>
            <a:spLocks noGrp="1"/>
          </p:cNvSpPr>
          <p:nvPr/>
        </p:nvSpPr>
        <p:spPr>
          <a:xfrm>
            <a:off x="9696450" y="2286284"/>
            <a:ext cx="213088" cy="190500"/>
          </a:xfrm>
          <a:prstGeom prst="rect">
            <a:avLst/>
          </a:prstGeom>
          <a:solidFill>
            <a:srgbClr val="C9C1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bar-value-1">
            <a:extLst>
              <a:ext uri="{FF2B5EF4-FFF2-40B4-BE49-F238E27FC236}">
                <a16:creationId xmlns:a16="http://schemas.microsoft.com/office/drawing/2014/main" id="{4C3FDA65-65E7-405A-8C07-3D9801A12ABE}"/>
              </a:ext>
            </a:extLst>
          </p:cNvPr>
          <p:cNvSpPr>
            <a:spLocks noGrp="1"/>
          </p:cNvSpPr>
          <p:nvPr/>
        </p:nvSpPr>
        <p:spPr>
          <a:xfrm>
            <a:off x="11525250" y="2257709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? </a:t>
            </a:r>
            <a:r>
              <a:rPr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19" name="bar-label-2">
            <a:extLst>
              <a:ext uri="{FF2B5EF4-FFF2-40B4-BE49-F238E27FC236}">
                <a16:creationId xmlns:a16="http://schemas.microsoft.com/office/drawing/2014/main" id="{98730949-0290-4000-BAA7-5E6A51E1B30F}"/>
              </a:ext>
            </a:extLst>
          </p:cNvPr>
          <p:cNvSpPr>
            <a:spLocks noGrp="1"/>
          </p:cNvSpPr>
          <p:nvPr/>
        </p:nvSpPr>
        <p:spPr>
          <a:xfrm>
            <a:off x="8362950" y="2743484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1820"/>
                </a:solidFill>
                <a:latin typeface="Aptos"/>
                <a:ea typeface="Aptos"/>
                <a:cs typeface="Aptos"/>
              </a:rPr>
              <a:t>Grey</a:t>
            </a:r>
          </a:p>
        </p:txBody>
      </p:sp>
      <p:sp>
        <p:nvSpPr>
          <p:cNvPr id="20" name="bar-track-2">
            <a:extLst>
              <a:ext uri="{FF2B5EF4-FFF2-40B4-BE49-F238E27FC236}">
                <a16:creationId xmlns:a16="http://schemas.microsoft.com/office/drawing/2014/main" id="{A60EFCAE-8DAE-470E-B528-DE80E780A656}"/>
              </a:ext>
            </a:extLst>
          </p:cNvPr>
          <p:cNvSpPr>
            <a:spLocks noGrp="1"/>
          </p:cNvSpPr>
          <p:nvPr/>
        </p:nvSpPr>
        <p:spPr>
          <a:xfrm>
            <a:off x="9696450" y="2743484"/>
            <a:ext cx="1714500" cy="190500"/>
          </a:xfrm>
          <a:prstGeom prst="rect">
            <a:avLst/>
          </a:prstGeom>
          <a:solidFill>
            <a:srgbClr val="ECE4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bar-fill-2">
            <a:extLst>
              <a:ext uri="{FF2B5EF4-FFF2-40B4-BE49-F238E27FC236}">
                <a16:creationId xmlns:a16="http://schemas.microsoft.com/office/drawing/2014/main" id="{C3507CD8-961C-4EAD-9672-0A0CF22999F1}"/>
              </a:ext>
            </a:extLst>
          </p:cNvPr>
          <p:cNvSpPr>
            <a:spLocks noGrp="1"/>
          </p:cNvSpPr>
          <p:nvPr/>
        </p:nvSpPr>
        <p:spPr>
          <a:xfrm>
            <a:off x="9696450" y="2743484"/>
            <a:ext cx="680901" cy="190500"/>
          </a:xfrm>
          <a:prstGeom prst="rect">
            <a:avLst/>
          </a:prstGeom>
          <a:solidFill>
            <a:srgbClr val="E0A4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bar-value-2">
            <a:extLst>
              <a:ext uri="{FF2B5EF4-FFF2-40B4-BE49-F238E27FC236}">
                <a16:creationId xmlns:a16="http://schemas.microsoft.com/office/drawing/2014/main" id="{B8D3FD79-D2C1-4EA8-81C6-0250AC7ABB23}"/>
              </a:ext>
            </a:extLst>
          </p:cNvPr>
          <p:cNvSpPr>
            <a:spLocks noGrp="1"/>
          </p:cNvSpPr>
          <p:nvPr/>
        </p:nvSpPr>
        <p:spPr>
          <a:xfrm>
            <a:off x="11525250" y="2714909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? </a:t>
            </a:r>
            <a:r>
              <a:rPr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23" name="bar-label-3">
            <a:extLst>
              <a:ext uri="{FF2B5EF4-FFF2-40B4-BE49-F238E27FC236}">
                <a16:creationId xmlns:a16="http://schemas.microsoft.com/office/drawing/2014/main" id="{B555F66A-C83C-4CFD-B39F-534DE80D404C}"/>
              </a:ext>
            </a:extLst>
          </p:cNvPr>
          <p:cNvSpPr>
            <a:spLocks noGrp="1"/>
          </p:cNvSpPr>
          <p:nvPr/>
        </p:nvSpPr>
        <p:spPr>
          <a:xfrm>
            <a:off x="8362950" y="3200684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1820"/>
                </a:solidFill>
                <a:latin typeface="Aptos"/>
                <a:ea typeface="Aptos"/>
                <a:cs typeface="Aptos"/>
              </a:rPr>
              <a:t>RGB</a:t>
            </a:r>
          </a:p>
        </p:txBody>
      </p:sp>
      <p:sp>
        <p:nvSpPr>
          <p:cNvPr id="24" name="bar-track-3">
            <a:extLst>
              <a:ext uri="{FF2B5EF4-FFF2-40B4-BE49-F238E27FC236}">
                <a16:creationId xmlns:a16="http://schemas.microsoft.com/office/drawing/2014/main" id="{7B4A1D0A-F4AC-4CC1-8E26-3B91C711CC78}"/>
              </a:ext>
            </a:extLst>
          </p:cNvPr>
          <p:cNvSpPr>
            <a:spLocks noGrp="1"/>
          </p:cNvSpPr>
          <p:nvPr/>
        </p:nvSpPr>
        <p:spPr>
          <a:xfrm>
            <a:off x="9696450" y="3200684"/>
            <a:ext cx="1714500" cy="190500"/>
          </a:xfrm>
          <a:prstGeom prst="rect">
            <a:avLst/>
          </a:prstGeom>
          <a:solidFill>
            <a:srgbClr val="ECE4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5" name="bar-fill-3">
            <a:extLst>
              <a:ext uri="{FF2B5EF4-FFF2-40B4-BE49-F238E27FC236}">
                <a16:creationId xmlns:a16="http://schemas.microsoft.com/office/drawing/2014/main" id="{55FE03AC-1964-42B0-AA55-CF75B3AE87AE}"/>
              </a:ext>
            </a:extLst>
          </p:cNvPr>
          <p:cNvSpPr>
            <a:spLocks noGrp="1"/>
          </p:cNvSpPr>
          <p:nvPr/>
        </p:nvSpPr>
        <p:spPr>
          <a:xfrm>
            <a:off x="9696450" y="3200684"/>
            <a:ext cx="1047478" cy="190500"/>
          </a:xfrm>
          <a:prstGeom prst="rect">
            <a:avLst/>
          </a:prstGeom>
          <a:solidFill>
            <a:srgbClr val="C84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bar-value-3">
            <a:extLst>
              <a:ext uri="{FF2B5EF4-FFF2-40B4-BE49-F238E27FC236}">
                <a16:creationId xmlns:a16="http://schemas.microsoft.com/office/drawing/2014/main" id="{A4B3A24A-98F7-4382-8C4E-275DFA083186}"/>
              </a:ext>
            </a:extLst>
          </p:cNvPr>
          <p:cNvSpPr>
            <a:spLocks noGrp="1"/>
          </p:cNvSpPr>
          <p:nvPr/>
        </p:nvSpPr>
        <p:spPr>
          <a:xfrm>
            <a:off x="11525250" y="3172109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? </a:t>
            </a:r>
            <a:r>
              <a:rPr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27" name="bar-label-4">
            <a:extLst>
              <a:ext uri="{FF2B5EF4-FFF2-40B4-BE49-F238E27FC236}">
                <a16:creationId xmlns:a16="http://schemas.microsoft.com/office/drawing/2014/main" id="{990C4D1A-64CF-416C-A8B5-FB0BDAF788E1}"/>
              </a:ext>
            </a:extLst>
          </p:cNvPr>
          <p:cNvSpPr>
            <a:spLocks noGrp="1"/>
          </p:cNvSpPr>
          <p:nvPr/>
        </p:nvSpPr>
        <p:spPr>
          <a:xfrm>
            <a:off x="8362950" y="3657884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1820"/>
                </a:solidFill>
                <a:latin typeface="Aptos"/>
                <a:ea typeface="Aptos"/>
                <a:cs typeface="Aptos"/>
              </a:rPr>
              <a:t>RGB + Grey</a:t>
            </a:r>
          </a:p>
        </p:txBody>
      </p:sp>
      <p:sp>
        <p:nvSpPr>
          <p:cNvPr id="28" name="bar-track-4">
            <a:extLst>
              <a:ext uri="{FF2B5EF4-FFF2-40B4-BE49-F238E27FC236}">
                <a16:creationId xmlns:a16="http://schemas.microsoft.com/office/drawing/2014/main" id="{2EEA4B5C-9F48-4C65-8739-2EA28C8BB60E}"/>
              </a:ext>
            </a:extLst>
          </p:cNvPr>
          <p:cNvSpPr>
            <a:spLocks noGrp="1"/>
          </p:cNvSpPr>
          <p:nvPr/>
        </p:nvSpPr>
        <p:spPr>
          <a:xfrm>
            <a:off x="9696450" y="3657884"/>
            <a:ext cx="1714500" cy="190500"/>
          </a:xfrm>
          <a:prstGeom prst="rect">
            <a:avLst/>
          </a:prstGeom>
          <a:solidFill>
            <a:srgbClr val="ECE4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9" name="bar-fill-4">
            <a:extLst>
              <a:ext uri="{FF2B5EF4-FFF2-40B4-BE49-F238E27FC236}">
                <a16:creationId xmlns:a16="http://schemas.microsoft.com/office/drawing/2014/main" id="{1035FCCC-AF87-4531-80E9-7621DD553A3A}"/>
              </a:ext>
            </a:extLst>
          </p:cNvPr>
          <p:cNvSpPr>
            <a:spLocks noGrp="1"/>
          </p:cNvSpPr>
          <p:nvPr/>
        </p:nvSpPr>
        <p:spPr>
          <a:xfrm>
            <a:off x="9696450" y="3657884"/>
            <a:ext cx="966651" cy="190500"/>
          </a:xfrm>
          <a:prstGeom prst="rect">
            <a:avLst/>
          </a:prstGeom>
          <a:solidFill>
            <a:srgbClr val="C84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0" name="bar-value-4">
            <a:extLst>
              <a:ext uri="{FF2B5EF4-FFF2-40B4-BE49-F238E27FC236}">
                <a16:creationId xmlns:a16="http://schemas.microsoft.com/office/drawing/2014/main" id="{52833276-FF9E-49FC-83D6-F531AF73F23B}"/>
              </a:ext>
            </a:extLst>
          </p:cNvPr>
          <p:cNvSpPr>
            <a:spLocks noGrp="1"/>
          </p:cNvSpPr>
          <p:nvPr/>
        </p:nvSpPr>
        <p:spPr>
          <a:xfrm>
            <a:off x="11525250" y="3629309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? </a:t>
            </a:r>
            <a:r>
              <a:rPr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31" name="bar-label-5">
            <a:extLst>
              <a:ext uri="{FF2B5EF4-FFF2-40B4-BE49-F238E27FC236}">
                <a16:creationId xmlns:a16="http://schemas.microsoft.com/office/drawing/2014/main" id="{E3445184-82D3-4016-AB08-BEE996F183A4}"/>
              </a:ext>
            </a:extLst>
          </p:cNvPr>
          <p:cNvSpPr>
            <a:spLocks noGrp="1"/>
          </p:cNvSpPr>
          <p:nvPr/>
        </p:nvSpPr>
        <p:spPr>
          <a:xfrm>
            <a:off x="8362950" y="4115084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1820"/>
                </a:solidFill>
                <a:latin typeface="Aptos"/>
                <a:ea typeface="Aptos"/>
                <a:cs typeface="Aptos"/>
              </a:rPr>
              <a:t>Extended HSV</a:t>
            </a:r>
          </a:p>
        </p:txBody>
      </p:sp>
      <p:sp>
        <p:nvSpPr>
          <p:cNvPr id="32" name="bar-track-5">
            <a:extLst>
              <a:ext uri="{FF2B5EF4-FFF2-40B4-BE49-F238E27FC236}">
                <a16:creationId xmlns:a16="http://schemas.microsoft.com/office/drawing/2014/main" id="{D4A1E1F7-DE13-4126-87F6-39B8E203DC4A}"/>
              </a:ext>
            </a:extLst>
          </p:cNvPr>
          <p:cNvSpPr>
            <a:spLocks noGrp="1"/>
          </p:cNvSpPr>
          <p:nvPr/>
        </p:nvSpPr>
        <p:spPr>
          <a:xfrm>
            <a:off x="9696450" y="4115084"/>
            <a:ext cx="1714500" cy="190500"/>
          </a:xfrm>
          <a:prstGeom prst="rect">
            <a:avLst/>
          </a:prstGeom>
          <a:solidFill>
            <a:srgbClr val="ECE4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3" name="bar-fill-5">
            <a:extLst>
              <a:ext uri="{FF2B5EF4-FFF2-40B4-BE49-F238E27FC236}">
                <a16:creationId xmlns:a16="http://schemas.microsoft.com/office/drawing/2014/main" id="{84707C68-3608-437B-92DD-ECBE52C6DB4D}"/>
              </a:ext>
            </a:extLst>
          </p:cNvPr>
          <p:cNvSpPr>
            <a:spLocks noGrp="1"/>
          </p:cNvSpPr>
          <p:nvPr/>
        </p:nvSpPr>
        <p:spPr>
          <a:xfrm>
            <a:off x="9696450" y="4115084"/>
            <a:ext cx="1516108" cy="190500"/>
          </a:xfrm>
          <a:prstGeom prst="rect">
            <a:avLst/>
          </a:prstGeom>
          <a:solidFill>
            <a:srgbClr val="2B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4" name="bar-value-5">
            <a:extLst>
              <a:ext uri="{FF2B5EF4-FFF2-40B4-BE49-F238E27FC236}">
                <a16:creationId xmlns:a16="http://schemas.microsoft.com/office/drawing/2014/main" id="{3C9421C5-65E3-4A18-9B6F-E36CC3B04A53}"/>
              </a:ext>
            </a:extLst>
          </p:cNvPr>
          <p:cNvSpPr>
            <a:spLocks noGrp="1"/>
          </p:cNvSpPr>
          <p:nvPr/>
        </p:nvSpPr>
        <p:spPr>
          <a:xfrm>
            <a:off x="11525250" y="4086509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? </a:t>
            </a:r>
            <a:r>
              <a:rPr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35" name="bar-label-6">
            <a:extLst>
              <a:ext uri="{FF2B5EF4-FFF2-40B4-BE49-F238E27FC236}">
                <a16:creationId xmlns:a16="http://schemas.microsoft.com/office/drawing/2014/main" id="{7007D25D-9EF6-4F1B-B7BE-3D18BEACD77F}"/>
              </a:ext>
            </a:extLst>
          </p:cNvPr>
          <p:cNvSpPr>
            <a:spLocks noGrp="1"/>
          </p:cNvSpPr>
          <p:nvPr/>
        </p:nvSpPr>
        <p:spPr>
          <a:xfrm>
            <a:off x="8362950" y="4572284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HSV + Grey</a:t>
            </a:r>
          </a:p>
        </p:txBody>
      </p:sp>
      <p:sp>
        <p:nvSpPr>
          <p:cNvPr id="36" name="bar-track-6">
            <a:extLst>
              <a:ext uri="{FF2B5EF4-FFF2-40B4-BE49-F238E27FC236}">
                <a16:creationId xmlns:a16="http://schemas.microsoft.com/office/drawing/2014/main" id="{7D7019FE-9B92-4A3C-8614-561A92079991}"/>
              </a:ext>
            </a:extLst>
          </p:cNvPr>
          <p:cNvSpPr>
            <a:spLocks noGrp="1"/>
          </p:cNvSpPr>
          <p:nvPr/>
        </p:nvSpPr>
        <p:spPr>
          <a:xfrm>
            <a:off x="9696450" y="4572284"/>
            <a:ext cx="1714500" cy="190500"/>
          </a:xfrm>
          <a:prstGeom prst="rect">
            <a:avLst/>
          </a:prstGeom>
          <a:solidFill>
            <a:srgbClr val="ECE4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7" name="bar-fill-6">
            <a:extLst>
              <a:ext uri="{FF2B5EF4-FFF2-40B4-BE49-F238E27FC236}">
                <a16:creationId xmlns:a16="http://schemas.microsoft.com/office/drawing/2014/main" id="{2422476F-CB88-41A3-A2FC-35F467BC625B}"/>
              </a:ext>
            </a:extLst>
          </p:cNvPr>
          <p:cNvSpPr>
            <a:spLocks noGrp="1"/>
          </p:cNvSpPr>
          <p:nvPr/>
        </p:nvSpPr>
        <p:spPr>
          <a:xfrm>
            <a:off x="9696450" y="4572284"/>
            <a:ext cx="1618161" cy="190500"/>
          </a:xfrm>
          <a:prstGeom prst="rect">
            <a:avLst/>
          </a:prstGeom>
          <a:solidFill>
            <a:srgbClr val="2B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8" name="bar-value-6">
            <a:extLst>
              <a:ext uri="{FF2B5EF4-FFF2-40B4-BE49-F238E27FC236}">
                <a16:creationId xmlns:a16="http://schemas.microsoft.com/office/drawing/2014/main" id="{F39A715D-380A-4AA0-A719-3C1886A96BD3}"/>
              </a:ext>
            </a:extLst>
          </p:cNvPr>
          <p:cNvSpPr>
            <a:spLocks noGrp="1"/>
          </p:cNvSpPr>
          <p:nvPr/>
        </p:nvSpPr>
        <p:spPr>
          <a:xfrm>
            <a:off x="11525250" y="4543709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lang="en-GB" sz="1050" b="1" dirty="0">
                <a:solidFill>
                  <a:srgbClr val="2B8C72"/>
                </a:solidFill>
                <a:latin typeface="Aptos"/>
                <a:ea typeface="Aptos"/>
                <a:cs typeface="Aptos"/>
              </a:rPr>
              <a:t>? </a:t>
            </a:r>
            <a:r>
              <a:rPr sz="1050" b="1" dirty="0">
                <a:solidFill>
                  <a:srgbClr val="2B8C72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39" name="bar-label-7">
            <a:extLst>
              <a:ext uri="{FF2B5EF4-FFF2-40B4-BE49-F238E27FC236}">
                <a16:creationId xmlns:a16="http://schemas.microsoft.com/office/drawing/2014/main" id="{CB5F67F4-7AC5-451B-A976-67C4475C3BC6}"/>
              </a:ext>
            </a:extLst>
          </p:cNvPr>
          <p:cNvSpPr>
            <a:spLocks noGrp="1"/>
          </p:cNvSpPr>
          <p:nvPr/>
        </p:nvSpPr>
        <p:spPr>
          <a:xfrm>
            <a:off x="8362950" y="5029484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All </a:t>
            </a:r>
            <a:r>
              <a:rPr sz="975" b="0" dirty="0" err="1">
                <a:solidFill>
                  <a:srgbClr val="151820"/>
                </a:solidFill>
                <a:latin typeface="Aptos"/>
                <a:ea typeface="Aptos"/>
                <a:cs typeface="Aptos"/>
              </a:rPr>
              <a:t>Colour</a:t>
            </a:r>
            <a:endParaRPr sz="975" b="0" dirty="0">
              <a:solidFill>
                <a:srgbClr val="1518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bar-track-7">
            <a:extLst>
              <a:ext uri="{FF2B5EF4-FFF2-40B4-BE49-F238E27FC236}">
                <a16:creationId xmlns:a16="http://schemas.microsoft.com/office/drawing/2014/main" id="{33F3EFEC-908C-4D17-B2C2-BCB5B5A7FD80}"/>
              </a:ext>
            </a:extLst>
          </p:cNvPr>
          <p:cNvSpPr>
            <a:spLocks noGrp="1"/>
          </p:cNvSpPr>
          <p:nvPr/>
        </p:nvSpPr>
        <p:spPr>
          <a:xfrm>
            <a:off x="9696450" y="5029484"/>
            <a:ext cx="1714500" cy="190500"/>
          </a:xfrm>
          <a:prstGeom prst="rect">
            <a:avLst/>
          </a:prstGeom>
          <a:solidFill>
            <a:srgbClr val="ECE4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1" name="bar-fill-7">
            <a:extLst>
              <a:ext uri="{FF2B5EF4-FFF2-40B4-BE49-F238E27FC236}">
                <a16:creationId xmlns:a16="http://schemas.microsoft.com/office/drawing/2014/main" id="{C5FC25EC-7F3D-4434-BB17-9C1F102A24F4}"/>
              </a:ext>
            </a:extLst>
          </p:cNvPr>
          <p:cNvSpPr>
            <a:spLocks noGrp="1"/>
          </p:cNvSpPr>
          <p:nvPr/>
        </p:nvSpPr>
        <p:spPr>
          <a:xfrm>
            <a:off x="9696450" y="5029484"/>
            <a:ext cx="1475286" cy="190500"/>
          </a:xfrm>
          <a:prstGeom prst="rect">
            <a:avLst/>
          </a:prstGeom>
          <a:solidFill>
            <a:srgbClr val="2D33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2" name="bar-value-7">
            <a:extLst>
              <a:ext uri="{FF2B5EF4-FFF2-40B4-BE49-F238E27FC236}">
                <a16:creationId xmlns:a16="http://schemas.microsoft.com/office/drawing/2014/main" id="{91D39489-7051-456B-8F29-9E96B6D756D5}"/>
              </a:ext>
            </a:extLst>
          </p:cNvPr>
          <p:cNvSpPr>
            <a:spLocks noGrp="1"/>
          </p:cNvSpPr>
          <p:nvPr/>
        </p:nvSpPr>
        <p:spPr>
          <a:xfrm>
            <a:off x="11525250" y="5000909"/>
            <a:ext cx="60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51820"/>
                </a:solidFill>
                <a:latin typeface="Aptos"/>
                <a:ea typeface="Aptos"/>
                <a:cs typeface="Aptos"/>
              </a:defRPr>
            </a:pPr>
            <a:r>
              <a:rPr lang="en-GB"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? </a:t>
            </a:r>
            <a:r>
              <a:rPr sz="1050" b="0" dirty="0">
                <a:solidFill>
                  <a:srgbClr val="151820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43" name="answer-chip">
            <a:extLst>
              <a:ext uri="{FF2B5EF4-FFF2-40B4-BE49-F238E27FC236}">
                <a16:creationId xmlns:a16="http://schemas.microsoft.com/office/drawing/2014/main" id="{C59F646B-B3FE-4A88-974A-2B38EE3CF320}"/>
              </a:ext>
            </a:extLst>
          </p:cNvPr>
          <p:cNvSpPr>
            <a:spLocks noGrp="1"/>
          </p:cNvSpPr>
          <p:nvPr/>
        </p:nvSpPr>
        <p:spPr>
          <a:xfrm>
            <a:off x="8705850" y="5600984"/>
            <a:ext cx="2476500" cy="342900"/>
          </a:xfrm>
          <a:prstGeom prst="rect">
            <a:avLst/>
          </a:prstGeom>
          <a:solidFill>
            <a:srgbClr val="DDED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125" b="1">
                <a:solidFill>
                  <a:srgbClr val="2B8C72"/>
                </a:solidFill>
                <a:latin typeface="Aptos"/>
                <a:ea typeface="Aptos"/>
                <a:cs typeface="Aptos"/>
              </a:defRPr>
            </a:pPr>
            <a:r>
              <a:rPr lang="en-GB" sz="1125" b="1" dirty="0">
                <a:solidFill>
                  <a:srgbClr val="2B8C72"/>
                </a:solidFill>
                <a:latin typeface="Aptos"/>
                <a:ea typeface="Aptos"/>
                <a:cs typeface="Aptos"/>
              </a:rPr>
              <a:t>Best performer</a:t>
            </a:r>
            <a:r>
              <a:rPr sz="1125" b="1" dirty="0">
                <a:solidFill>
                  <a:srgbClr val="2B8C72"/>
                </a:solidFill>
                <a:latin typeface="Aptos"/>
                <a:ea typeface="Aptos"/>
                <a:cs typeface="Aptos"/>
              </a:rPr>
              <a:t>: </a:t>
            </a:r>
            <a:r>
              <a:rPr lang="en-GB" sz="1125" b="1" dirty="0">
                <a:solidFill>
                  <a:srgbClr val="2B8C72"/>
                </a:solidFill>
                <a:latin typeface="Aptos"/>
                <a:ea typeface="Aptos"/>
                <a:cs typeface="Aptos"/>
              </a:rPr>
              <a:t>To be continued…</a:t>
            </a:r>
            <a:endParaRPr sz="1125" b="1" dirty="0">
              <a:solidFill>
                <a:srgbClr val="2B8C72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772531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556</Words>
  <Application>Microsoft Office PowerPoint</Application>
  <DocSecurity>0</DocSecurity>
  <PresentationFormat>Widescreen</PresentationFormat>
  <Paragraphs>223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Malinaitis</cp:lastModifiedBy>
  <cp:revision>2</cp:revision>
  <dcterms:created xsi:type="dcterms:W3CDTF">2026-06-14T10:04:42Z</dcterms:created>
  <dcterms:modified xsi:type="dcterms:W3CDTF">2026-06-14T11:56:15Z</dcterms:modified>
</cp:coreProperties>
</file>
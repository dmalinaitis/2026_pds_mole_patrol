
<file path=[Content_Types].xml><?xml version="1.0" encoding="utf-8"?>
<Types xmlns="http://schemas.openxmlformats.org/package/2006/content-types">
  <Default Extension="fntdata" ContentType="application/x-fontdata"/>
  <Default Extension="jpg" ContentType="image/jpeg"/>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Lst>
  <p:sldSz cy="5143500" cx="9144000"/>
  <p:notesSz cx="6858000" cy="9144000"/>
  <p:embeddedFontLst>
    <p:embeddedFont>
      <p:font typeface="Roboto"/>
      <p:regular r:id="rId98"/>
      <p:bold r:id="rId99"/>
      <p:italic r:id="rId100"/>
      <p:boldItalic r:id="rId101"/>
    </p:embeddedFont>
    <p:embeddedFont>
      <p:font typeface="Merriweather Black"/>
      <p:bold r:id="rId102"/>
      <p:boldItalic r:id="rId103"/>
    </p:embeddedFont>
    <p:embeddedFont>
      <p:font typeface="Roboto Mono"/>
      <p:regular r:id="rId104"/>
      <p:bold r:id="rId105"/>
      <p:italic r:id="rId106"/>
      <p:boldItalic r:id="rId107"/>
    </p:embeddedFont>
    <p:embeddedFont>
      <p:font typeface="Merriweather"/>
      <p:regular r:id="rId108"/>
      <p:bold r:id="rId109"/>
      <p:italic r:id="rId110"/>
      <p:boldItalic r:id="rId1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63B346-D381-426A-BBC4-69B844C0A225}">
  <a:tblStyle styleId="{6563B346-D381-426A-BBC4-69B844C0A22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47BC241-361D-455A-9B07-D0FCE9BB95A3}"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42" Type="http://schemas.openxmlformats.org/officeDocument/2006/relationships/slide" Target="slides/slide36.xml"/><Relationship Id="rId47" Type="http://schemas.openxmlformats.org/officeDocument/2006/relationships/slide" Target="slides/slide41.xml"/><Relationship Id="rId21" Type="http://schemas.openxmlformats.org/officeDocument/2006/relationships/slide" Target="slides/slide15.xml"/><Relationship Id="rId84" Type="http://schemas.openxmlformats.org/officeDocument/2006/relationships/slide" Target="slides/slide78.xml"/><Relationship Id="rId89" Type="http://schemas.openxmlformats.org/officeDocument/2006/relationships/slide" Target="slides/slide83.xml"/><Relationship Id="rId63" Type="http://schemas.openxmlformats.org/officeDocument/2006/relationships/slide" Target="slides/slide57.xml"/><Relationship Id="rId68" Type="http://schemas.openxmlformats.org/officeDocument/2006/relationships/slide" Target="slides/slide62.xml"/><Relationship Id="rId112" Type="http://schemas.openxmlformats.org/officeDocument/2006/relationships/customXml" Target="../customXml/item1.xml"/><Relationship Id="rId107" Type="http://schemas.openxmlformats.org/officeDocument/2006/relationships/font" Target="fonts/RobotoMono-boldItalic.fntdata"/><Relationship Id="rId16" Type="http://schemas.openxmlformats.org/officeDocument/2006/relationships/slide" Target="slides/slide10.xml"/><Relationship Id="rId102" Type="http://schemas.openxmlformats.org/officeDocument/2006/relationships/font" Target="fonts/MerriweatherBlack-bold.fntdata"/><Relationship Id="rId32" Type="http://schemas.openxmlformats.org/officeDocument/2006/relationships/slide" Target="slides/slide26.xml"/><Relationship Id="rId37" Type="http://schemas.openxmlformats.org/officeDocument/2006/relationships/slide" Target="slides/slide31.xml"/><Relationship Id="rId11" Type="http://schemas.openxmlformats.org/officeDocument/2006/relationships/slide" Target="slides/slide5.xml"/><Relationship Id="rId74" Type="http://schemas.openxmlformats.org/officeDocument/2006/relationships/slide" Target="slides/slide68.xml"/><Relationship Id="rId79" Type="http://schemas.openxmlformats.org/officeDocument/2006/relationships/slide" Target="slides/slide73.xml"/><Relationship Id="rId53" Type="http://schemas.openxmlformats.org/officeDocument/2006/relationships/slide" Target="slides/slide47.xml"/><Relationship Id="rId58" Type="http://schemas.openxmlformats.org/officeDocument/2006/relationships/slide" Target="slides/slide52.xml"/><Relationship Id="rId95" Type="http://schemas.openxmlformats.org/officeDocument/2006/relationships/slide" Target="slides/slide89.xml"/><Relationship Id="rId90" Type="http://schemas.openxmlformats.org/officeDocument/2006/relationships/slide" Target="slides/slide84.xml"/><Relationship Id="rId5" Type="http://schemas.openxmlformats.org/officeDocument/2006/relationships/slideMaster" Target="slideMasters/slideMaster1.xml"/><Relationship Id="rId43" Type="http://schemas.openxmlformats.org/officeDocument/2006/relationships/slide" Target="slides/slide37.xml"/><Relationship Id="rId48" Type="http://schemas.openxmlformats.org/officeDocument/2006/relationships/slide" Target="slides/slide42.xml"/><Relationship Id="rId22" Type="http://schemas.openxmlformats.org/officeDocument/2006/relationships/slide" Target="slides/slide16.xml"/><Relationship Id="rId27" Type="http://schemas.openxmlformats.org/officeDocument/2006/relationships/slide" Target="slides/slide21.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customXml" Target="../customXml/item2.xml"/><Relationship Id="rId85" Type="http://schemas.openxmlformats.org/officeDocument/2006/relationships/slide" Target="slides/slide79.xml"/><Relationship Id="rId80" Type="http://schemas.openxmlformats.org/officeDocument/2006/relationships/slide" Target="slides/slide74.xml"/><Relationship Id="rId108" Type="http://schemas.openxmlformats.org/officeDocument/2006/relationships/font" Target="fonts/Merriweather-regular.fntdata"/><Relationship Id="rId103" Type="http://schemas.openxmlformats.org/officeDocument/2006/relationships/font" Target="fonts/MerriweatherBlack-boldItalic.fntdata"/><Relationship Id="rId33" Type="http://schemas.openxmlformats.org/officeDocument/2006/relationships/slide" Target="slides/slide27.xml"/><Relationship Id="rId38" Type="http://schemas.openxmlformats.org/officeDocument/2006/relationships/slide" Target="slides/slide32.xml"/><Relationship Id="rId12" Type="http://schemas.openxmlformats.org/officeDocument/2006/relationships/slide" Target="slides/slide6.xml"/><Relationship Id="rId17" Type="http://schemas.openxmlformats.org/officeDocument/2006/relationships/slide" Target="slides/slide11.xml"/><Relationship Id="rId59" Type="http://schemas.openxmlformats.org/officeDocument/2006/relationships/slide" Target="slides/slide53.xml"/><Relationship Id="rId96" Type="http://schemas.openxmlformats.org/officeDocument/2006/relationships/slide" Target="slides/slide90.xml"/><Relationship Id="rId91" Type="http://schemas.openxmlformats.org/officeDocument/2006/relationships/slide" Target="slides/slide85.xml"/><Relationship Id="rId75" Type="http://schemas.openxmlformats.org/officeDocument/2006/relationships/slide" Target="slides/slide69.xml"/><Relationship Id="rId70" Type="http://schemas.openxmlformats.org/officeDocument/2006/relationships/slide" Target="slides/slide64.xml"/><Relationship Id="rId54" Type="http://schemas.openxmlformats.org/officeDocument/2006/relationships/slide" Target="slides/slide48.xml"/><Relationship Id="rId1" Type="http://schemas.openxmlformats.org/officeDocument/2006/relationships/theme" Target="theme/theme2.xml"/><Relationship Id="rId6" Type="http://schemas.openxmlformats.org/officeDocument/2006/relationships/notesMaster" Target="notesMasters/notesMaster1.xml"/><Relationship Id="rId106" Type="http://schemas.openxmlformats.org/officeDocument/2006/relationships/font" Target="fonts/RobotoMono-italic.fntdata"/><Relationship Id="rId49" Type="http://schemas.openxmlformats.org/officeDocument/2006/relationships/slide" Target="slides/slide43.xml"/><Relationship Id="rId36" Type="http://schemas.openxmlformats.org/officeDocument/2006/relationships/slide" Target="slides/slide30.xml"/><Relationship Id="rId23" Type="http://schemas.openxmlformats.org/officeDocument/2006/relationships/slide" Target="slides/slide17.xml"/><Relationship Id="rId28" Type="http://schemas.openxmlformats.org/officeDocument/2006/relationships/slide" Target="slides/slide22.xml"/><Relationship Id="rId15" Type="http://schemas.openxmlformats.org/officeDocument/2006/relationships/slide" Target="slides/slide9.xml"/><Relationship Id="rId57" Type="http://schemas.openxmlformats.org/officeDocument/2006/relationships/slide" Target="slides/slide51.xml"/><Relationship Id="rId114" Type="http://schemas.openxmlformats.org/officeDocument/2006/relationships/customXml" Target="../customXml/item3.xml"/><Relationship Id="rId44" Type="http://schemas.openxmlformats.org/officeDocument/2006/relationships/slide" Target="slides/slide38.xml"/><Relationship Id="rId101" Type="http://schemas.openxmlformats.org/officeDocument/2006/relationships/font" Target="fonts/Roboto-boldItalic.fntdata"/><Relationship Id="rId31" Type="http://schemas.openxmlformats.org/officeDocument/2006/relationships/slide" Target="slides/slide25.xml"/><Relationship Id="rId94" Type="http://schemas.openxmlformats.org/officeDocument/2006/relationships/slide" Target="slides/slide88.xml"/><Relationship Id="rId99" Type="http://schemas.openxmlformats.org/officeDocument/2006/relationships/font" Target="fonts/Roboto-bold.fntdata"/><Relationship Id="rId10" Type="http://schemas.openxmlformats.org/officeDocument/2006/relationships/slide" Target="slides/slide4.xml"/><Relationship Id="rId86" Type="http://schemas.openxmlformats.org/officeDocument/2006/relationships/slide" Target="slides/slide80.xml"/><Relationship Id="rId81" Type="http://schemas.openxmlformats.org/officeDocument/2006/relationships/slide" Target="slides/slide75.xml"/><Relationship Id="rId73" Type="http://schemas.openxmlformats.org/officeDocument/2006/relationships/slide" Target="slides/slide67.xml"/><Relationship Id="rId78" Type="http://schemas.openxmlformats.org/officeDocument/2006/relationships/slide" Target="slides/slide72.xml"/><Relationship Id="rId65" Type="http://schemas.openxmlformats.org/officeDocument/2006/relationships/slide" Target="slides/slide59.xml"/><Relationship Id="rId60" Type="http://schemas.openxmlformats.org/officeDocument/2006/relationships/slide" Target="slides/slide54.xml"/><Relationship Id="rId52" Type="http://schemas.openxmlformats.org/officeDocument/2006/relationships/slide" Target="slides/slide46.xml"/><Relationship Id="rId4" Type="http://schemas.openxmlformats.org/officeDocument/2006/relationships/tableStyles" Target="tableStyles.xml"/><Relationship Id="rId9" Type="http://schemas.openxmlformats.org/officeDocument/2006/relationships/slide" Target="slides/slide3.xml"/><Relationship Id="rId109" Type="http://schemas.openxmlformats.org/officeDocument/2006/relationships/font" Target="fonts/Merriweather-bold.fntdata"/><Relationship Id="rId39" Type="http://schemas.openxmlformats.org/officeDocument/2006/relationships/slide" Target="slides/slide33.xml"/><Relationship Id="rId13" Type="http://schemas.openxmlformats.org/officeDocument/2006/relationships/slide" Target="slides/slide7.xml"/><Relationship Id="rId18" Type="http://schemas.openxmlformats.org/officeDocument/2006/relationships/slide" Target="slides/slide12.xml"/><Relationship Id="rId104" Type="http://schemas.openxmlformats.org/officeDocument/2006/relationships/font" Target="fonts/RobotoMono-regular.fntdata"/><Relationship Id="rId34" Type="http://schemas.openxmlformats.org/officeDocument/2006/relationships/slide" Target="slides/slide28.xml"/><Relationship Id="rId97" Type="http://schemas.openxmlformats.org/officeDocument/2006/relationships/slide" Target="slides/slide91.xml"/><Relationship Id="rId76" Type="http://schemas.openxmlformats.org/officeDocument/2006/relationships/slide" Target="slides/slide70.xml"/><Relationship Id="rId50" Type="http://schemas.openxmlformats.org/officeDocument/2006/relationships/slide" Target="slides/slide44.xml"/><Relationship Id="rId55" Type="http://schemas.openxmlformats.org/officeDocument/2006/relationships/slide" Target="slides/slide49.xml"/><Relationship Id="rId92" Type="http://schemas.openxmlformats.org/officeDocument/2006/relationships/slide" Target="slides/slide86.xml"/><Relationship Id="rId7" Type="http://schemas.openxmlformats.org/officeDocument/2006/relationships/slide" Target="slides/slide1.xml"/><Relationship Id="rId71" Type="http://schemas.openxmlformats.org/officeDocument/2006/relationships/slide" Target="slides/slide65.xml"/><Relationship Id="rId29" Type="http://schemas.openxmlformats.org/officeDocument/2006/relationships/slide" Target="slides/slide23.xml"/><Relationship Id="rId2" Type="http://schemas.openxmlformats.org/officeDocument/2006/relationships/viewProps" Target="viewProps.xml"/><Relationship Id="rId40" Type="http://schemas.openxmlformats.org/officeDocument/2006/relationships/slide" Target="slides/slide34.xml"/><Relationship Id="rId45" Type="http://schemas.openxmlformats.org/officeDocument/2006/relationships/slide" Target="slides/slide39.xml"/><Relationship Id="rId24" Type="http://schemas.openxmlformats.org/officeDocument/2006/relationships/slide" Target="slides/slide18.xml"/><Relationship Id="rId110" Type="http://schemas.openxmlformats.org/officeDocument/2006/relationships/font" Target="fonts/Merriweather-italic.fntdata"/><Relationship Id="rId87" Type="http://schemas.openxmlformats.org/officeDocument/2006/relationships/slide" Target="slides/slide81.xml"/><Relationship Id="rId66" Type="http://schemas.openxmlformats.org/officeDocument/2006/relationships/slide" Target="slides/slide60.xml"/><Relationship Id="rId82" Type="http://schemas.openxmlformats.org/officeDocument/2006/relationships/slide" Target="slides/slide76.xml"/><Relationship Id="rId61" Type="http://schemas.openxmlformats.org/officeDocument/2006/relationships/slide" Target="slides/slide55.xml"/><Relationship Id="rId19" Type="http://schemas.openxmlformats.org/officeDocument/2006/relationships/slide" Target="slides/slide13.xml"/><Relationship Id="rId105" Type="http://schemas.openxmlformats.org/officeDocument/2006/relationships/font" Target="fonts/RobotoMono-bold.fntdata"/><Relationship Id="rId100" Type="http://schemas.openxmlformats.org/officeDocument/2006/relationships/font" Target="fonts/Roboto-italic.fntdata"/><Relationship Id="rId30" Type="http://schemas.openxmlformats.org/officeDocument/2006/relationships/slide" Target="slides/slide24.xml"/><Relationship Id="rId35" Type="http://schemas.openxmlformats.org/officeDocument/2006/relationships/slide" Target="slides/slide29.xml"/><Relationship Id="rId14" Type="http://schemas.openxmlformats.org/officeDocument/2006/relationships/slide" Target="slides/slide8.xml"/><Relationship Id="rId77" Type="http://schemas.openxmlformats.org/officeDocument/2006/relationships/slide" Target="slides/slide71.xml"/><Relationship Id="rId56" Type="http://schemas.openxmlformats.org/officeDocument/2006/relationships/slide" Target="slides/slide50.xml"/><Relationship Id="rId98" Type="http://schemas.openxmlformats.org/officeDocument/2006/relationships/font" Target="fonts/Roboto-regular.fntdata"/><Relationship Id="rId93" Type="http://schemas.openxmlformats.org/officeDocument/2006/relationships/slide" Target="slides/slide87.xml"/><Relationship Id="rId8" Type="http://schemas.openxmlformats.org/officeDocument/2006/relationships/slide" Target="slides/slide2.xml"/><Relationship Id="rId72" Type="http://schemas.openxmlformats.org/officeDocument/2006/relationships/slide" Target="slides/slide66.xml"/><Relationship Id="rId51" Type="http://schemas.openxmlformats.org/officeDocument/2006/relationships/slide" Target="slides/slide45.xml"/><Relationship Id="rId3" Type="http://schemas.openxmlformats.org/officeDocument/2006/relationships/presProps" Target="presProps.xml"/><Relationship Id="rId46" Type="http://schemas.openxmlformats.org/officeDocument/2006/relationships/slide" Target="slides/slide40.xml"/><Relationship Id="rId25" Type="http://schemas.openxmlformats.org/officeDocument/2006/relationships/slide" Target="slides/slide19.xml"/><Relationship Id="rId67" Type="http://schemas.openxmlformats.org/officeDocument/2006/relationships/slide" Target="slides/slide61.xml"/><Relationship Id="rId41" Type="http://schemas.openxmlformats.org/officeDocument/2006/relationships/slide" Target="slides/slide35.xml"/><Relationship Id="rId20" Type="http://schemas.openxmlformats.org/officeDocument/2006/relationships/slide" Target="slides/slide14.xml"/><Relationship Id="rId111" Type="http://schemas.openxmlformats.org/officeDocument/2006/relationships/font" Target="fonts/Merriweather-boldItalic.fntdata"/><Relationship Id="rId83" Type="http://schemas.openxmlformats.org/officeDocument/2006/relationships/slide" Target="slides/slide77.xml"/><Relationship Id="rId88" Type="http://schemas.openxmlformats.org/officeDocument/2006/relationships/slide" Target="slides/slide82.xml"/><Relationship Id="rId62"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pii/S0895611107000146?via%3Dihub" TargetMode="External"/><Relationship Id="rId3" Type="http://schemas.openxmlformats.org/officeDocument/2006/relationships/hyperlink" Target="https://www.researchgate.net/publication/328759615_A_Comparison_of_RGB_and_HSV_Colour_Spaces_for_Visual_Attention_Models"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60d535d97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60d535d97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60d535d97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60d535d97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60d6297eb9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60d6297eb9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even though melanoma is the deadliest of all skin cancers, its also very uncommon. BCC for example is very usual, reason for which detecting it is as important as detecting melanoma, focusing on the survival rate at the early stages. we also acknowledge that the algorithm we will create uses the ABC rule used for melanoma detection, and we extend it to BCC and SCC even though this is not common in clinical approaches.</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ABC just for melanoma</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Normal mole with faded border and color irregularity</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BCC is more crusty, looking like infection and </a:t>
            </a:r>
            <a:r>
              <a:rPr lang="pl"/>
              <a:t>inflammation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For other two they </a:t>
            </a:r>
            <a:r>
              <a:rPr lang="pl"/>
              <a:t>normally look at texture</a:t>
            </a:r>
            <a:endParaRPr/>
          </a:p>
          <a:p>
            <a:pPr indent="0" lvl="0" marL="0" rtl="0" algn="l">
              <a:spcBef>
                <a:spcPts val="0"/>
              </a:spcBef>
              <a:spcAft>
                <a:spcPts val="0"/>
              </a:spcAft>
              <a:buNone/>
            </a:pPr>
            <a:r>
              <a:t/>
            </a:r>
            <a:endParaRPr/>
          </a:p>
          <a:p>
            <a:pPr indent="0" lvl="0" marL="0" rtl="0" algn="l">
              <a:spcBef>
                <a:spcPts val="0"/>
              </a:spcBef>
              <a:spcAft>
                <a:spcPts val="0"/>
              </a:spcAft>
              <a:buNone/>
            </a:pPr>
            <a:r>
              <a:rPr lang="pl">
                <a:solidFill>
                  <a:schemeClr val="dk1"/>
                </a:solidFill>
              </a:rPr>
              <a:t>Can </a:t>
            </a:r>
            <a:r>
              <a:rPr b="1" lang="pl">
                <a:solidFill>
                  <a:schemeClr val="dk1"/>
                </a:solidFill>
              </a:rPr>
              <a:t>rapidly metastasize</a:t>
            </a:r>
            <a:r>
              <a:rPr lang="pl">
                <a:solidFill>
                  <a:schemeClr val="dk1"/>
                </a:solidFill>
              </a:rPr>
              <a:t> to lymph nodes, lungs, brain, liver - melanoma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0d6297eb9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60d6297eb9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we simply mention all the already existing algorithms for melanoma detection that work with the ABC feature extraction + model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0d535d973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0d535d97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we mention what the already existing algorithms for melanoma detection have in common and bring up the hair removal step as preprocessing step, to later explain why our research question is related to before vs after hair removal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0d6297eb9_1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60d6297eb9_1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hair removal can interfere with the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showing some proof that hair is considered noise and leads to bias and incorrect features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0d6297eb9_1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0d6297eb9_1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These chart represents different techniques of hair removal and their impact on performance of models. Meaning that a good hair removal algorithm can be indeed helpful (or make it worse too).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172dbe64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6172dbe64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improve had to affect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6172dbe64d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6172dbe64d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we will ad hair removal as the preprocessing step: We explain how our project is outlined to answer this research question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6172dbe64d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6172dbe64d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based on material we already have, we mention what are the steps to follow the approach mentioned in the previous slide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6172dbe64d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6172dbe64d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2298</a:t>
            </a:r>
            <a:endParaRPr/>
          </a:p>
          <a:p>
            <a:pPr indent="0" lvl="0" marL="0" rtl="0" algn="l">
              <a:spcBef>
                <a:spcPts val="0"/>
              </a:spcBef>
              <a:spcAft>
                <a:spcPts val="0"/>
              </a:spcAft>
              <a:buNone/>
            </a:pPr>
            <a:r>
              <a:rPr lang="pl"/>
              <a:t>1373 patients</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6172dbe64d_0_1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6172dbe64d_0_1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Upon inspection we noticed that </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we have a pretty balanced distribution of cancer and non cancerous leasions in the data set</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the distribution matches the ratio seen in reality </a:t>
            </a:r>
            <a:endParaRPr/>
          </a:p>
          <a:p>
            <a:pPr indent="457200" lvl="0" marL="0" rtl="0" algn="l">
              <a:spcBef>
                <a:spcPts val="0"/>
              </a:spcBef>
              <a:spcAft>
                <a:spcPts val="0"/>
              </a:spcAft>
              <a:buNone/>
            </a:pPr>
            <a:r>
              <a:rPr lang="pl"/>
              <a:t>melanoma is only 2% of the cancer types diagnosed </a:t>
            </a:r>
            <a:endParaRPr/>
          </a:p>
          <a:p>
            <a:pPr indent="457200" lvl="0" marL="0" rtl="0" algn="l">
              <a:spcBef>
                <a:spcPts val="0"/>
              </a:spcBef>
              <a:spcAft>
                <a:spcPts val="0"/>
              </a:spcAft>
              <a:buNone/>
            </a:pPr>
            <a:r>
              <a:rPr lang="pl"/>
              <a:t>our data set it is around 4%</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justifying even more the </a:t>
            </a:r>
            <a:r>
              <a:rPr b="1" lang="pl"/>
              <a:t>need for an algorithm that not only predicts melanoma but also other cancer types</a:t>
            </a:r>
            <a:r>
              <a:rPr lang="pl"/>
              <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pl"/>
              <a:t>avoids the need for correcting data imbalance</a:t>
            </a:r>
            <a:r>
              <a:rPr lang="pl"/>
              <a:t>, since the cancer/non cancer classes are balanced.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6172dbe64d_0_1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6172dbe64d_0_1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60d535d97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60d535d97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when matching the masks to images we </a:t>
            </a:r>
            <a:r>
              <a:rPr lang="pl"/>
              <a:t>encountered a shape mismatch try/except error that stopped the code earlier and made it so we skipped a few images</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195 masks missing</a:t>
            </a:r>
            <a:endParaRPr/>
          </a:p>
          <a:p>
            <a:pPr indent="0" lvl="0" marL="0" rtl="0" algn="l">
              <a:spcBef>
                <a:spcPts val="0"/>
              </a:spcBef>
              <a:spcAft>
                <a:spcPts val="0"/>
              </a:spcAft>
              <a:buNone/>
            </a:pPr>
            <a:r>
              <a:rPr lang="pl"/>
              <a:t>6 masks with a shape mismatch error </a:t>
            </a:r>
            <a:r>
              <a:rPr b="1" lang="pl">
                <a:solidFill>
                  <a:schemeClr val="dk1"/>
                </a:solidFill>
              </a:rPr>
              <a:t>(mask was smaller than original picture and vice versa)</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our number was differently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6172dbe64d_0_1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6172dbe64d_0_1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we ended up with 648 missing masks from that error</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worked with 1650</a:t>
            </a:r>
            <a:endParaRPr/>
          </a:p>
          <a:p>
            <a:pPr indent="0" lvl="0" marL="0" rtl="0" algn="l">
              <a:spcBef>
                <a:spcPts val="0"/>
              </a:spcBef>
              <a:spcAft>
                <a:spcPts val="0"/>
              </a:spcAft>
              <a:buNone/>
            </a:pPr>
            <a:r>
              <a:rPr lang="pl"/>
              <a:t>divided into categories</a:t>
            </a:r>
            <a:endParaRPr/>
          </a:p>
          <a:p>
            <a:pPr indent="0" lvl="0" marL="0" rtl="0" algn="l">
              <a:spcBef>
                <a:spcPts val="0"/>
              </a:spcBef>
              <a:spcAft>
                <a:spcPts val="0"/>
              </a:spcAft>
              <a:buNone/>
            </a:pPr>
            <a:r>
              <a:rPr lang="pl"/>
              <a:t>and remade some masks from scratch to increase the number of available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the categories were made as such:</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5fed4d8e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5fed4d8e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5fed4d8e9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5fed4d8e9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the shape of the segmented area is not representative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 asymmetry and border measures will be misleading for this lesion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5fed4d8e9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5fed4d8e9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our algorithm doesnt account for multiple </a:t>
            </a:r>
            <a:r>
              <a:rPr lang="pl"/>
              <a:t>lesions</a:t>
            </a:r>
            <a:r>
              <a:rPr lang="pl"/>
              <a:t> so its unfit for the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it is categorised as unfit and either remade or discarded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6172dbe64d_0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6172dbe64d_0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incorrect mask for some reason, needs to be remade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6172dbe64d_0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6172dbe64d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why we used graphcut: </a:t>
            </a:r>
            <a:endParaRPr/>
          </a:p>
          <a:p>
            <a:pPr indent="0" lvl="0" marL="0" rtl="0" algn="l">
              <a:spcBef>
                <a:spcPts val="0"/>
              </a:spcBef>
              <a:spcAft>
                <a:spcPts val="0"/>
              </a:spcAft>
              <a:buNone/>
            </a:pPr>
            <a:r>
              <a:rPr lang="pl"/>
              <a:t>we needed some high precision masks </a:t>
            </a:r>
            <a:endParaRPr/>
          </a:p>
          <a:p>
            <a:pPr indent="0" lvl="0" marL="0" rtl="0" algn="l">
              <a:spcBef>
                <a:spcPts val="0"/>
              </a:spcBef>
              <a:spcAft>
                <a:spcPts val="0"/>
              </a:spcAft>
              <a:buNone/>
            </a:pPr>
            <a:r>
              <a:rPr lang="pl"/>
              <a:t>to obtain precise border </a:t>
            </a:r>
            <a:endParaRPr/>
          </a:p>
          <a:p>
            <a:pPr indent="0" lvl="0" marL="0" rtl="0" algn="l">
              <a:spcBef>
                <a:spcPts val="0"/>
              </a:spcBef>
              <a:spcAft>
                <a:spcPts val="0"/>
              </a:spcAft>
              <a:buNone/>
            </a:pPr>
            <a:r>
              <a:rPr lang="pl"/>
              <a:t>and asymmetry features</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6188d16a7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6188d16a7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614769f4f8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614769f4f8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We used provided code</a:t>
            </a:r>
            <a:endParaRPr/>
          </a:p>
          <a:p>
            <a:pPr indent="0" lvl="0" marL="0" rtl="0" algn="l">
              <a:spcBef>
                <a:spcPts val="0"/>
              </a:spcBef>
              <a:spcAft>
                <a:spcPts val="0"/>
              </a:spcAft>
              <a:buNone/>
            </a:pPr>
            <a:r>
              <a:rPr lang="pl"/>
              <a:t>The numbers made sense and it was also tested on synthetic data</a:t>
            </a:r>
            <a:endParaRPr/>
          </a:p>
          <a:p>
            <a:pPr indent="0" lvl="0" marL="0" rtl="0" algn="l">
              <a:spcBef>
                <a:spcPts val="0"/>
              </a:spcBef>
              <a:spcAft>
                <a:spcPts val="0"/>
              </a:spcAft>
              <a:buNone/>
            </a:pPr>
            <a:r>
              <a:rPr lang="pl"/>
              <a:t>Higher asymmetry score more asymmetric the object is</a:t>
            </a:r>
            <a:endParaRPr/>
          </a:p>
          <a:p>
            <a:pPr indent="0" lvl="0" marL="0" rtl="0" algn="l">
              <a:spcBef>
                <a:spcPts val="0"/>
              </a:spcBef>
              <a:spcAft>
                <a:spcPts val="0"/>
              </a:spcAft>
              <a:buNone/>
            </a:pPr>
            <a:r>
              <a:rPr lang="pl"/>
              <a:t>denominator 2x since we account for both vertical and horizontal mismatch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614769f4f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614769f4f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pl"/>
              <a:t>Contour</a:t>
            </a:r>
            <a:r>
              <a:rPr lang="pl"/>
              <a:t> </a:t>
            </a:r>
            <a:r>
              <a:rPr lang="pl"/>
              <a:t>detection</a:t>
            </a:r>
            <a:r>
              <a:rPr lang="pl"/>
              <a:t>: cv2.findContours(mask, cv2.RETR_EXTERNAL, cv2.CHAIN_APPROX_SIMPLE)</a:t>
            </a:r>
            <a:endParaRPr/>
          </a:p>
          <a:p>
            <a:pPr indent="-298450" lvl="0" marL="457200" rtl="0" algn="l">
              <a:spcBef>
                <a:spcPts val="0"/>
              </a:spcBef>
              <a:spcAft>
                <a:spcPts val="0"/>
              </a:spcAft>
              <a:buSzPts val="1100"/>
              <a:buChar char="-"/>
            </a:pPr>
            <a:r>
              <a:rPr lang="pl"/>
              <a:t>Passes binary mask</a:t>
            </a:r>
            <a:endParaRPr/>
          </a:p>
          <a:p>
            <a:pPr indent="-298450" lvl="0" marL="457200" rtl="0" algn="l">
              <a:spcBef>
                <a:spcPts val="0"/>
              </a:spcBef>
              <a:spcAft>
                <a:spcPts val="0"/>
              </a:spcAft>
              <a:buSzPts val="1100"/>
              <a:buChar char="-"/>
            </a:pPr>
            <a:r>
              <a:rPr lang="pl"/>
              <a:t>RETR_EXTERNAL outer most contour retrieved - </a:t>
            </a:r>
            <a:r>
              <a:rPr lang="pl"/>
              <a:t>ignores contours inside lesion mask! important for precise scores</a:t>
            </a:r>
            <a:endParaRPr/>
          </a:p>
          <a:p>
            <a:pPr indent="-298450" lvl="0" marL="457200" rtl="0" algn="l">
              <a:spcBef>
                <a:spcPts val="0"/>
              </a:spcBef>
              <a:spcAft>
                <a:spcPts val="0"/>
              </a:spcAft>
              <a:buSzPts val="1100"/>
              <a:buChar char="-"/>
            </a:pPr>
            <a:r>
              <a:rPr lang="pl">
                <a:solidFill>
                  <a:schemeClr val="dk1"/>
                </a:solidFill>
              </a:rPr>
              <a:t>OpenCV uses the </a:t>
            </a:r>
            <a:r>
              <a:rPr b="1" lang="pl">
                <a:solidFill>
                  <a:schemeClr val="dk1"/>
                </a:solidFill>
              </a:rPr>
              <a:t>Suzuki–Abe border-following algorithm</a:t>
            </a:r>
            <a:endParaRPr b="1">
              <a:solidFill>
                <a:schemeClr val="dk1"/>
              </a:solidFill>
            </a:endParaRPr>
          </a:p>
          <a:p>
            <a:pPr indent="-298450" lvl="0" marL="457200" rtl="0" algn="l">
              <a:spcBef>
                <a:spcPts val="0"/>
              </a:spcBef>
              <a:spcAft>
                <a:spcPts val="0"/>
              </a:spcAft>
              <a:buClr>
                <a:schemeClr val="dk1"/>
              </a:buClr>
              <a:buSzPts val="1100"/>
              <a:buAutoNum type="arabicPeriod"/>
            </a:pPr>
            <a:r>
              <a:rPr b="1" lang="pl">
                <a:solidFill>
                  <a:schemeClr val="dk1"/>
                </a:solidFill>
              </a:rPr>
              <a:t>Extracting contour with largest area, before that we assure that this contour is external, not inside lesion</a:t>
            </a:r>
            <a:endParaRPr b="1">
              <a:solidFill>
                <a:schemeClr val="dk1"/>
              </a:solidFill>
            </a:endParaRPr>
          </a:p>
          <a:p>
            <a:pPr indent="-298450" lvl="0" marL="457200" rtl="0" algn="l">
              <a:spcBef>
                <a:spcPts val="0"/>
              </a:spcBef>
              <a:spcAft>
                <a:spcPts val="0"/>
              </a:spcAft>
              <a:buClr>
                <a:schemeClr val="dk1"/>
              </a:buClr>
              <a:buSzPts val="1100"/>
              <a:buAutoNum type="arabicPeriod"/>
            </a:pPr>
            <a:r>
              <a:rPr lang="pl">
                <a:solidFill>
                  <a:schemeClr val="dk1"/>
                </a:solidFill>
              </a:rPr>
              <a:t>Perimeter</a:t>
            </a:r>
            <a:r>
              <a:rPr lang="pl">
                <a:solidFill>
                  <a:schemeClr val="dk1"/>
                </a:solidFill>
              </a:rPr>
              <a:t> was calculated using </a:t>
            </a:r>
            <a:r>
              <a:rPr b="1" lang="pl">
                <a:solidFill>
                  <a:schemeClr val="dk1"/>
                </a:solidFill>
              </a:rPr>
              <a:t>euclidean</a:t>
            </a:r>
            <a:r>
              <a:rPr b="1" lang="pl">
                <a:solidFill>
                  <a:schemeClr val="dk1"/>
                </a:solidFill>
              </a:rPr>
              <a:t> distances between contour pixels</a:t>
            </a:r>
            <a:r>
              <a:rPr lang="pl">
                <a:solidFill>
                  <a:schemeClr val="dk1"/>
                </a:solidFill>
              </a:rPr>
              <a:t> and noting </a:t>
            </a:r>
            <a:r>
              <a:rPr b="1" lang="pl">
                <a:solidFill>
                  <a:schemeClr val="dk1"/>
                </a:solidFill>
              </a:rPr>
              <a:t>start and end pixel </a:t>
            </a:r>
            <a:r>
              <a:rPr lang="pl">
                <a:solidFill>
                  <a:schemeClr val="dk1"/>
                </a:solidFill>
              </a:rPr>
              <a:t>→ more precise than sum of pixels in the contour. </a:t>
            </a:r>
            <a:r>
              <a:rPr b="1" lang="pl">
                <a:solidFill>
                  <a:schemeClr val="dk1"/>
                </a:solidFill>
              </a:rPr>
              <a:t>Summing pixels approach fails to account for diagonal/curved transitions!</a:t>
            </a:r>
            <a:endParaRPr>
              <a:solidFill>
                <a:schemeClr val="dk1"/>
              </a:solidFill>
            </a:endParaRPr>
          </a:p>
          <a:p>
            <a:pPr indent="-298450" lvl="0" marL="457200" rtl="0" algn="l">
              <a:spcBef>
                <a:spcPts val="0"/>
              </a:spcBef>
              <a:spcAft>
                <a:spcPts val="0"/>
              </a:spcAft>
              <a:buClr>
                <a:schemeClr val="dk1"/>
              </a:buClr>
              <a:buSzPts val="1100"/>
              <a:buAutoNum type="arabicPeriod"/>
            </a:pPr>
            <a:r>
              <a:rPr lang="pl">
                <a:solidFill>
                  <a:schemeClr val="dk1"/>
                </a:solidFill>
              </a:rPr>
              <a:t>Area was </a:t>
            </a:r>
            <a:r>
              <a:rPr lang="pl">
                <a:solidFill>
                  <a:schemeClr val="dk1"/>
                </a:solidFill>
              </a:rPr>
              <a:t>calculated</a:t>
            </a:r>
            <a:r>
              <a:rPr lang="pl">
                <a:solidFill>
                  <a:schemeClr val="dk1"/>
                </a:solidFill>
              </a:rPr>
              <a:t> using contour as a polygon, Green's Theorem (crossed product sum) - formula for </a:t>
            </a:r>
            <a:r>
              <a:rPr b="1" lang="pl">
                <a:solidFill>
                  <a:schemeClr val="dk1"/>
                </a:solidFill>
              </a:rPr>
              <a:t>calculating closed curves area</a:t>
            </a:r>
            <a:r>
              <a:rPr lang="pl">
                <a:solidFill>
                  <a:schemeClr val="dk1"/>
                </a:solidFill>
              </a:rPr>
              <a:t> it also aligns with </a:t>
            </a:r>
            <a:r>
              <a:rPr lang="pl">
                <a:solidFill>
                  <a:schemeClr val="dk1"/>
                </a:solidFill>
              </a:rPr>
              <a:t>euclidean</a:t>
            </a:r>
            <a:r>
              <a:rPr lang="pl">
                <a:solidFill>
                  <a:schemeClr val="dk1"/>
                </a:solidFill>
              </a:rPr>
              <a:t> distance perimeter that we calculated</a:t>
            </a:r>
            <a:endParaRPr>
              <a:solidFill>
                <a:schemeClr val="dk1"/>
              </a:solidFill>
            </a:endParaRPr>
          </a:p>
          <a:p>
            <a:pPr indent="-298450" lvl="0" marL="457200" rtl="0" algn="l">
              <a:spcBef>
                <a:spcPts val="0"/>
              </a:spcBef>
              <a:spcAft>
                <a:spcPts val="0"/>
              </a:spcAft>
              <a:buClr>
                <a:schemeClr val="dk1"/>
              </a:buClr>
              <a:buSzPts val="1100"/>
              <a:buAutoNum type="arabicPeriod"/>
            </a:pPr>
            <a:r>
              <a:rPr lang="pl">
                <a:solidFill>
                  <a:schemeClr val="dk1"/>
                </a:solidFill>
              </a:rPr>
              <a:t>Compactness - </a:t>
            </a:r>
            <a:r>
              <a:rPr b="1" lang="pl">
                <a:solidFill>
                  <a:schemeClr val="dk1"/>
                </a:solidFill>
              </a:rPr>
              <a:t>how tightly is the area packed inside the contour? 4pi - normalization constant, perimeter squared to adjust for units</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pl">
                <a:solidFill>
                  <a:schemeClr val="dk1"/>
                </a:solidFill>
              </a:rPr>
              <a:t>Why not classical erosion? Erosion assumes that mask is filled in, can see in the picture small doth inside the mask</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pl">
                <a:solidFill>
                  <a:schemeClr val="dk1"/>
                </a:solidFill>
              </a:rPr>
              <a:t>why not just summing up pixels? —&gt; </a:t>
            </a:r>
            <a:r>
              <a:rPr b="1" lang="pl" sz="1300">
                <a:solidFill>
                  <a:schemeClr val="dk1"/>
                </a:solidFill>
              </a:rPr>
              <a:t>Key Advantages of Euclidean Distance:</a:t>
            </a:r>
            <a:endParaRPr b="1" sz="13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pl">
                <a:solidFill>
                  <a:schemeClr val="dk1"/>
                </a:solidFill>
              </a:rPr>
              <a:t>Considers Spatial Relationships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pl">
                <a:solidFill>
                  <a:schemeClr val="dk1"/>
                </a:solidFill>
              </a:rPr>
              <a:t>Summing pixel values</a:t>
            </a:r>
            <a:r>
              <a:rPr lang="pl">
                <a:solidFill>
                  <a:schemeClr val="dk1"/>
                </a:solidFill>
              </a:rPr>
              <a:t> treats all pixels individually, ignoring their </a:t>
            </a:r>
            <a:r>
              <a:rPr b="1" lang="pl">
                <a:solidFill>
                  <a:schemeClr val="dk1"/>
                </a:solidFill>
              </a:rPr>
              <a:t>positions in the image</a:t>
            </a:r>
            <a:r>
              <a:rPr lang="pl">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pl">
                <a:solidFill>
                  <a:schemeClr val="dk1"/>
                </a:solidFill>
              </a:rPr>
              <a:t>Euclidean distance</a:t>
            </a:r>
            <a:r>
              <a:rPr lang="pl">
                <a:solidFill>
                  <a:schemeClr val="dk1"/>
                </a:solidFill>
              </a:rPr>
              <a:t> calculates the true spatial distance between </a:t>
            </a:r>
            <a:r>
              <a:rPr b="1" lang="pl">
                <a:solidFill>
                  <a:schemeClr val="dk1"/>
                </a:solidFill>
              </a:rPr>
              <a:t>edge points</a:t>
            </a:r>
            <a:r>
              <a:rPr lang="pl">
                <a:solidFill>
                  <a:schemeClr val="dk1"/>
                </a:solidFill>
              </a:rPr>
              <a:t>, preserving the lesion's shape.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pl">
                <a:solidFill>
                  <a:schemeClr val="dk1"/>
                </a:solidFill>
              </a:rPr>
              <a:t>Accounts for Irregular Borders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pl">
                <a:solidFill>
                  <a:schemeClr val="dk1"/>
                </a:solidFill>
              </a:rPr>
              <a:t>Many skin lesions have </a:t>
            </a:r>
            <a:r>
              <a:rPr b="1" lang="pl">
                <a:solidFill>
                  <a:schemeClr val="dk1"/>
                </a:solidFill>
              </a:rPr>
              <a:t>non-uniform, jagged edges</a:t>
            </a:r>
            <a:r>
              <a:rPr lang="pl">
                <a:solidFill>
                  <a:schemeClr val="dk1"/>
                </a:solidFill>
              </a:rPr>
              <a:t> that require precise measurement.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pl">
                <a:solidFill>
                  <a:schemeClr val="dk1"/>
                </a:solidFill>
              </a:rPr>
              <a:t>Euclidean distance captures </a:t>
            </a:r>
            <a:r>
              <a:rPr b="1" lang="pl">
                <a:solidFill>
                  <a:schemeClr val="dk1"/>
                </a:solidFill>
              </a:rPr>
              <a:t>variations in shape</a:t>
            </a:r>
            <a:r>
              <a:rPr lang="pl">
                <a:solidFill>
                  <a:schemeClr val="dk1"/>
                </a:solidFill>
              </a:rPr>
              <a:t> better than a simple pixel sum.</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pl">
                <a:solidFill>
                  <a:schemeClr val="dk1"/>
                </a:solidFill>
              </a:rPr>
              <a:t>More Reliable for Border Compactness Analysis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pl">
                <a:solidFill>
                  <a:schemeClr val="dk1"/>
                </a:solidFill>
              </a:rPr>
              <a:t>Compactness measures how closely lesion pixels are clustered.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pl">
                <a:solidFill>
                  <a:schemeClr val="dk1"/>
                </a:solidFill>
              </a:rPr>
              <a:t>Summing pixels </a:t>
            </a:r>
            <a:r>
              <a:rPr b="1" lang="pl">
                <a:solidFill>
                  <a:schemeClr val="dk1"/>
                </a:solidFill>
              </a:rPr>
              <a:t>does not reflect border regularity</a:t>
            </a:r>
            <a:r>
              <a:rPr lang="pl">
                <a:solidFill>
                  <a:schemeClr val="dk1"/>
                </a:solidFill>
              </a:rPr>
              <a:t>, while Euclidean distance provides a more </a:t>
            </a:r>
            <a:r>
              <a:rPr b="1" lang="pl">
                <a:solidFill>
                  <a:schemeClr val="dk1"/>
                </a:solidFill>
              </a:rPr>
              <a:t>objective geometric analysis</a:t>
            </a:r>
            <a:r>
              <a:rPr lang="pl">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pl">
                <a:solidFill>
                  <a:schemeClr val="dk1"/>
                </a:solidFill>
              </a:rPr>
              <a:t>Useful for Feature Extraction in AI Models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pl">
                <a:solidFill>
                  <a:schemeClr val="dk1"/>
                </a:solidFill>
              </a:rPr>
              <a:t>In </a:t>
            </a:r>
            <a:r>
              <a:rPr b="1" lang="pl">
                <a:solidFill>
                  <a:schemeClr val="dk1"/>
                </a:solidFill>
              </a:rPr>
              <a:t>machine learning</a:t>
            </a:r>
            <a:r>
              <a:rPr lang="pl">
                <a:solidFill>
                  <a:schemeClr val="dk1"/>
                </a:solidFill>
              </a:rPr>
              <a:t> for melanoma detection, Euclidean distance helps </a:t>
            </a:r>
            <a:r>
              <a:rPr b="1" lang="pl">
                <a:solidFill>
                  <a:schemeClr val="dk1"/>
                </a:solidFill>
              </a:rPr>
              <a:t>quantify lesion asymmetry and boundary irregularity</a:t>
            </a:r>
            <a:r>
              <a:rPr lang="pl">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pl">
                <a:solidFill>
                  <a:schemeClr val="dk1"/>
                </a:solidFill>
              </a:rPr>
              <a:t>This improves classification accuracy by distinguishing </a:t>
            </a:r>
            <a:r>
              <a:rPr b="1" lang="pl">
                <a:solidFill>
                  <a:schemeClr val="dk1"/>
                </a:solidFill>
              </a:rPr>
              <a:t>benign vs. malignant lesions</a:t>
            </a:r>
            <a:r>
              <a:rPr lang="pl">
                <a:solidFill>
                  <a:schemeClr val="dk1"/>
                </a:solidFill>
              </a:rPr>
              <a:t>.</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61a990eae3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61a990eae3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Since border and asymmetry overlap classes and are correlated probably don't give useful information</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614769f4f8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614769f4f8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6188d16a7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6188d16a75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pl">
                <a:solidFill>
                  <a:schemeClr val="dk1"/>
                </a:solidFill>
              </a:rPr>
              <a:t>Benign lesions</a:t>
            </a:r>
            <a:r>
              <a:rPr lang="pl">
                <a:solidFill>
                  <a:schemeClr val="dk1"/>
                </a:solidFill>
              </a:rPr>
              <a:t> often have a uniform color → </a:t>
            </a:r>
            <a:r>
              <a:rPr b="1" lang="pl">
                <a:solidFill>
                  <a:schemeClr val="dk1"/>
                </a:solidFill>
              </a:rPr>
              <a:t>low hue entropy</a:t>
            </a:r>
            <a:endParaRPr b="1">
              <a:solidFill>
                <a:schemeClr val="dk1"/>
              </a:solidFill>
            </a:endParaRPr>
          </a:p>
          <a:p>
            <a:pPr indent="0" lvl="0" marL="0" rtl="0" algn="l">
              <a:lnSpc>
                <a:spcPct val="115000"/>
              </a:lnSpc>
              <a:spcBef>
                <a:spcPts val="0"/>
              </a:spcBef>
              <a:spcAft>
                <a:spcPts val="0"/>
              </a:spcAft>
              <a:buNone/>
            </a:pPr>
            <a:r>
              <a:rPr b="1" lang="pl">
                <a:solidFill>
                  <a:schemeClr val="dk1"/>
                </a:solidFill>
              </a:rPr>
              <a:t>Malignant lesions</a:t>
            </a:r>
            <a:r>
              <a:rPr lang="pl">
                <a:solidFill>
                  <a:schemeClr val="dk1"/>
                </a:solidFill>
              </a:rPr>
              <a:t> (especially melanoma) often show </a:t>
            </a:r>
            <a:r>
              <a:rPr b="1" lang="pl">
                <a:solidFill>
                  <a:schemeClr val="dk1"/>
                </a:solidFill>
              </a:rPr>
              <a:t>irregular, patchy pigmentation</a:t>
            </a:r>
            <a:r>
              <a:rPr lang="pl">
                <a:solidFill>
                  <a:schemeClr val="dk1"/>
                </a:solidFill>
              </a:rPr>
              <a:t> → </a:t>
            </a:r>
            <a:r>
              <a:rPr b="1" lang="pl">
                <a:solidFill>
                  <a:schemeClr val="dk1"/>
                </a:solidFill>
              </a:rPr>
              <a:t>high hue entropy</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6188d16a75_0_1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6188d16a75_0_1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6188d16a75_0_3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6188d16a75_0_3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6188d16a75_0_3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6188d16a75_0_3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61dd67871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61dd67871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61dd67871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61dd67871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61dd67871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61dd67871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66dbc2503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66dbc250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66dbc2503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66dbc2503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66dbc250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66dbc250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61f760ef32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61f760ef32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61f760ef32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61f760ef32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61f760ef32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61f760ef32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61dd67871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61dd67871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61a990eae3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61a990eae3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61a990eae3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61a990eae3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solidFill>
                  <a:schemeClr val="dk1"/>
                </a:solidFill>
              </a:rPr>
              <a:t>A lesion might only be suspicious if </a:t>
            </a:r>
            <a:r>
              <a:rPr b="1" lang="pl">
                <a:solidFill>
                  <a:schemeClr val="dk1"/>
                </a:solidFill>
              </a:rPr>
              <a:t>asymmetry is high </a:t>
            </a:r>
            <a:r>
              <a:rPr b="1" i="1" lang="pl">
                <a:solidFill>
                  <a:schemeClr val="dk1"/>
                </a:solidFill>
              </a:rPr>
              <a:t>and</a:t>
            </a:r>
            <a:r>
              <a:rPr b="1" lang="pl">
                <a:solidFill>
                  <a:schemeClr val="dk1"/>
                </a:solidFill>
              </a:rPr>
              <a:t> certain melanoma colors are present</a:t>
            </a:r>
            <a:r>
              <a:rPr lang="pl">
                <a:solidFill>
                  <a:schemeClr val="dk1"/>
                </a:solidFill>
              </a:rPr>
              <a:t>, but not if only one of these is true.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pl">
                <a:solidFill>
                  <a:schemeClr val="dk1"/>
                </a:solidFill>
              </a:rPr>
              <a:t>Outliers or noisy values often </a:t>
            </a:r>
            <a:r>
              <a:rPr b="1" lang="pl">
                <a:solidFill>
                  <a:schemeClr val="dk1"/>
                </a:solidFill>
              </a:rPr>
              <a:t>don’t affect the majority</a:t>
            </a:r>
            <a:r>
              <a:rPr lang="pl">
                <a:solidFill>
                  <a:schemeClr val="dk1"/>
                </a:solidFill>
              </a:rPr>
              <a:t> of samples, so they tend </a:t>
            </a:r>
            <a:r>
              <a:rPr b="1" lang="pl">
                <a:solidFill>
                  <a:schemeClr val="dk1"/>
                </a:solidFill>
              </a:rPr>
              <a:t>not to be selected</a:t>
            </a:r>
            <a:r>
              <a:rPr lang="pl">
                <a:solidFill>
                  <a:schemeClr val="dk1"/>
                </a:solidFill>
              </a:rPr>
              <a:t> for the top-level splits.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pl">
                <a:solidFill>
                  <a:schemeClr val="dk1"/>
                </a:solidFill>
              </a:rPr>
              <a:t>Trees automatically </a:t>
            </a:r>
            <a:r>
              <a:rPr b="1" lang="pl">
                <a:solidFill>
                  <a:schemeClr val="dk1"/>
                </a:solidFill>
              </a:rPr>
              <a:t>ignore irrelevant or redundant features</a:t>
            </a:r>
            <a:r>
              <a:rPr lang="pl">
                <a:solidFill>
                  <a:schemeClr val="dk1"/>
                </a:solidFill>
              </a:rPr>
              <a:t> during splitting.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pl">
                <a:solidFill>
                  <a:schemeClr val="dk1"/>
                </a:solidFill>
              </a:rPr>
              <a:t>Why not:</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pl">
                <a:solidFill>
                  <a:schemeClr val="dk1"/>
                </a:solidFill>
              </a:rPr>
              <a:t>We also have discrete variable</a:t>
            </a:r>
            <a:endParaRPr b="1">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pl">
                <a:solidFill>
                  <a:schemeClr val="dk1"/>
                </a:solidFill>
              </a:rPr>
              <a:t>Logistic reg. → linear decision boundary</a:t>
            </a:r>
            <a:endParaRPr>
              <a:solidFill>
                <a:schemeClr val="dk1"/>
              </a:solidFill>
            </a:endParaRPr>
          </a:p>
          <a:p>
            <a:pPr indent="0" lvl="0" marL="0" rtl="0" algn="l">
              <a:spcBef>
                <a:spcPts val="0"/>
              </a:spcBef>
              <a:spcAft>
                <a:spcPts val="0"/>
              </a:spcAft>
              <a:buNone/>
            </a:pPr>
            <a:r>
              <a:rPr lang="pl">
                <a:solidFill>
                  <a:schemeClr val="dk1"/>
                </a:solidFill>
              </a:rPr>
              <a:t>Knn → affected by noisy data</a:t>
            </a:r>
            <a:endParaRPr>
              <a:solidFill>
                <a:schemeClr val="dk1"/>
              </a:solidFill>
            </a:endParaRPr>
          </a:p>
          <a:p>
            <a:pPr indent="0" lvl="0" marL="0" rtl="0" algn="l">
              <a:spcBef>
                <a:spcPts val="0"/>
              </a:spcBef>
              <a:spcAft>
                <a:spcPts val="0"/>
              </a:spcAft>
              <a:buNone/>
            </a:pPr>
            <a:r>
              <a:rPr lang="pl">
                <a:solidFill>
                  <a:schemeClr val="dk1"/>
                </a:solidFill>
              </a:rPr>
              <a:t>Random forest → doesn’t inherently respect group structures (like patient-level splits)</a:t>
            </a:r>
            <a:endParaRPr>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61a990eae3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61a990eae3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we tried excluding color entropy and stds because they were highly correlated </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after cross validation we see that entropy is more important and stable than stds, so we decided to exclude stds</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we also noticed some correlation and noise between border and </a:t>
            </a:r>
            <a:r>
              <a:rPr lang="pl"/>
              <a:t>asymmetry</a:t>
            </a:r>
            <a:r>
              <a:rPr lang="pl"/>
              <a:t> so we played around but in the end we decided to keep them to avoid specification bias</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Why best performance when border and </a:t>
            </a:r>
            <a:r>
              <a:rPr lang="pl"/>
              <a:t>asymmetry</a:t>
            </a:r>
            <a:r>
              <a:rPr lang="pl"/>
              <a:t> excluded? noisy data</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pl">
                <a:solidFill>
                  <a:schemeClr val="dk1"/>
                </a:solidFill>
              </a:rPr>
              <a:t>The tree grew deeper (to 6) to fully exploit the remaining, cleaner features — leading to a </a:t>
            </a:r>
            <a:r>
              <a:rPr b="1" lang="pl">
                <a:solidFill>
                  <a:schemeClr val="dk1"/>
                </a:solidFill>
              </a:rPr>
              <a:t>higher AUC</a:t>
            </a:r>
            <a:r>
              <a:rPr lang="pl">
                <a:solidFill>
                  <a:schemeClr val="dk1"/>
                </a:solidFill>
              </a:rPr>
              <a:t> and better generalization.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pl">
                <a:solidFill>
                  <a:schemeClr val="dk1"/>
                </a:solidFill>
              </a:rPr>
              <a:t>Removing these “distractor” features </a:t>
            </a:r>
            <a:r>
              <a:rPr b="1" lang="pl">
                <a:solidFill>
                  <a:schemeClr val="dk1"/>
                </a:solidFill>
              </a:rPr>
              <a:t>forced the tree to explore other (better) paths</a:t>
            </a:r>
            <a:r>
              <a:rPr lang="pl">
                <a:solidFill>
                  <a:schemeClr val="dk1"/>
                </a:solidFill>
              </a:rPr>
              <a:t> more deeply.</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61a990eae3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61a990eae3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We reported with all features, since we did not have time to decide which features to exclude and felt too risky → was not a bad performance as well</a:t>
            </a:r>
            <a:endParaRPr/>
          </a:p>
          <a:p>
            <a:pPr indent="0" lvl="0" marL="0" rtl="0" algn="l">
              <a:spcBef>
                <a:spcPts val="0"/>
              </a:spcBef>
              <a:spcAft>
                <a:spcPts val="0"/>
              </a:spcAft>
              <a:buNone/>
            </a:pPr>
            <a:r>
              <a:rPr lang="pl"/>
              <a:t>We said in the report that best choice was 4 we </a:t>
            </a:r>
            <a:r>
              <a:rPr lang="pl"/>
              <a:t>misread</a:t>
            </a:r>
            <a:r>
              <a:rPr lang="pl"/>
              <a:t>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61f43f959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61f43f959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the amount of features (10 total) did not affect overfitting, and we can see that in the learning curve. also, we observe in testing that the AUC value stays similar and even higher than the cross validation mean value.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61a990eae3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61a990eae3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pl" sz="1000">
                <a:solidFill>
                  <a:srgbClr val="CCCCCC"/>
                </a:solidFill>
                <a:highlight>
                  <a:srgbClr val="181818"/>
                </a:highlight>
              </a:rPr>
              <a:t>Accuracy alone might be misleading in imbalanced datasets, as a model could achieve high accuracy by simply predicting the majority class (non-cancerous). → f1 score mean of </a:t>
            </a:r>
            <a:r>
              <a:rPr lang="pl" sz="1000">
                <a:solidFill>
                  <a:srgbClr val="CCCCCC"/>
                </a:solidFill>
                <a:highlight>
                  <a:srgbClr val="181818"/>
                </a:highlight>
              </a:rPr>
              <a:t>recall</a:t>
            </a:r>
            <a:r>
              <a:rPr lang="pl" sz="1000">
                <a:solidFill>
                  <a:srgbClr val="CCCCCC"/>
                </a:solidFill>
                <a:highlight>
                  <a:srgbClr val="181818"/>
                </a:highlight>
              </a:rPr>
              <a:t> and precsion</a:t>
            </a:r>
            <a:endParaRPr sz="1000">
              <a:solidFill>
                <a:srgbClr val="CCCCCC"/>
              </a:solidFill>
              <a:highlight>
                <a:srgbClr val="181818"/>
              </a:highlight>
            </a:endParaRPr>
          </a:p>
          <a:p>
            <a:pPr indent="0" lvl="0" marL="0" rtl="0" algn="l">
              <a:spcBef>
                <a:spcPts val="1000"/>
              </a:spcBef>
              <a:spcAft>
                <a:spcPts val="0"/>
              </a:spcAft>
              <a:buNone/>
            </a:pPr>
            <a:r>
              <a:rPr lang="pl"/>
              <a:t>the fact that we obtained the same AUC than in cross validation is a GOOD sign of NO overfitting. also, this is promising considering the imperfections our feature extraction code had and that we discovered they could be improved later on. this number could have been even higher if the feature extraction code was tuned (ie not a superpixel approach maybe). An AUC of 70 indicates the model is definitely not random but there is still room for improvement to consider it GOOD. Normally, basic models tend to show an AUC of 0.75-0.85 depending on how good/bad the segmentation + feature extraction implementation is. It is also worth mentioning that a high precision in the masks is also crucial to detect features like border and asymmetry, features in which we observed high overlap, so this can also be a reason for which the model could still be better.</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6188d16a7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6188d16a7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6188d16a7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6188d16a7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We tried simple idea, by just adjusting the blackhat kernel size based on hair coverage</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But blackhat doesn't work on the white hair, and there were other issues so we decided to improve the given code reflecting those issues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6188d16a7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6188d16a7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pl"/>
              <a:t>We used CLAHE to enhance hair visibility</a:t>
            </a:r>
            <a:endParaRPr/>
          </a:p>
          <a:p>
            <a:pPr indent="-298450" lvl="0" marL="457200" rtl="0" algn="l">
              <a:spcBef>
                <a:spcPts val="0"/>
              </a:spcBef>
              <a:spcAft>
                <a:spcPts val="0"/>
              </a:spcAft>
              <a:buSzPts val="1100"/>
              <a:buChar char="-"/>
            </a:pPr>
            <a:r>
              <a:rPr lang="pl"/>
              <a:t>Combination of Laplacian and Sobel, because Sobel marks thick hair better and Laplacian marks thin hair, so they compensate each other when are combined (see images)</a:t>
            </a:r>
            <a:endParaRPr/>
          </a:p>
          <a:p>
            <a:pPr indent="-298450" lvl="0" marL="457200" rtl="0" algn="l">
              <a:spcBef>
                <a:spcPts val="0"/>
              </a:spcBef>
              <a:spcAft>
                <a:spcPts val="0"/>
              </a:spcAft>
              <a:buSzPts val="1100"/>
              <a:buChar char="-"/>
            </a:pPr>
            <a:r>
              <a:rPr lang="pl"/>
              <a:t>Examples are given of both lesion image with hair and without to show that hair coverage works (showed method that was used for validation, but method for extended model accounts for hair coverage only inside the lesion area, just extra numpy mask it doesnt need to be visualized it is not a complex)</a:t>
            </a:r>
            <a:endParaRPr/>
          </a:p>
          <a:p>
            <a:pPr indent="-298450" lvl="0" marL="457200" rtl="0" algn="l">
              <a:spcBef>
                <a:spcPts val="0"/>
              </a:spcBef>
              <a:spcAft>
                <a:spcPts val="0"/>
              </a:spcAft>
              <a:buSzPts val="1100"/>
              <a:buChar char="-"/>
            </a:pPr>
            <a:r>
              <a:rPr lang="pl"/>
              <a:t>Histogram is showing combined Sobel and Laplacian operators image, how the pixels distribution in gray scale looks like. It was used to determinate the threshold for the binary hair mask -&gt; result was 0.3*255 (30% of max pixel intensity)</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However method is not perfect because:</a:t>
            </a:r>
            <a:endParaRPr/>
          </a:p>
          <a:p>
            <a:pPr indent="-298450" lvl="0" marL="457200" rtl="0" algn="l">
              <a:spcBef>
                <a:spcPts val="0"/>
              </a:spcBef>
              <a:spcAft>
                <a:spcPts val="0"/>
              </a:spcAft>
              <a:buSzPts val="1100"/>
              <a:buChar char="-"/>
            </a:pPr>
            <a:r>
              <a:rPr lang="pl"/>
              <a:t>If lesion edges are strong they will be accounted → but too rare cases</a:t>
            </a:r>
            <a:endParaRPr/>
          </a:p>
          <a:p>
            <a:pPr indent="-298450" lvl="0" marL="457200" rtl="0" algn="l">
              <a:spcBef>
                <a:spcPts val="0"/>
              </a:spcBef>
              <a:spcAft>
                <a:spcPts val="0"/>
              </a:spcAft>
              <a:buSzPts val="1100"/>
              <a:buChar char="-"/>
            </a:pPr>
            <a:r>
              <a:rPr lang="pl"/>
              <a:t>Markers on skin with no hair increased → hair coverage score </a:t>
            </a:r>
            <a:endParaRPr/>
          </a:p>
          <a:p>
            <a:pPr indent="-298450" lvl="0" marL="457200" rtl="0" algn="l">
              <a:spcBef>
                <a:spcPts val="0"/>
              </a:spcBef>
              <a:spcAft>
                <a:spcPts val="0"/>
              </a:spcAft>
              <a:buSzPts val="1100"/>
              <a:buChar char="-"/>
            </a:pPr>
            <a:r>
              <a:rPr lang="pl"/>
              <a:t>continue if you found more things to say</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How could we do it the other way:</a:t>
            </a:r>
            <a:endParaRPr/>
          </a:p>
          <a:p>
            <a:pPr indent="-298450" lvl="0" marL="457200" rtl="0" algn="l">
              <a:spcBef>
                <a:spcPts val="0"/>
              </a:spcBef>
              <a:spcAft>
                <a:spcPts val="0"/>
              </a:spcAft>
              <a:buSzPts val="1100"/>
              <a:buChar char="-"/>
            </a:pPr>
            <a:r>
              <a:rPr lang="pl"/>
              <a:t>Just using tophat and blackhat → but depends on the hair color</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6188d16a7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6188d16a7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pl"/>
              <a:t>The graph shows that there was a good separation between lesions with a lot of hair and less or none, but huge overlap between less or none, because there was not a clear distinction between 0 and 1 annotations</a:t>
            </a:r>
            <a:endParaRPr/>
          </a:p>
          <a:p>
            <a:pPr indent="-298450" lvl="0" marL="457200" rtl="0" algn="l">
              <a:spcBef>
                <a:spcPts val="0"/>
              </a:spcBef>
              <a:spcAft>
                <a:spcPts val="0"/>
              </a:spcAft>
              <a:buSzPts val="1100"/>
              <a:buChar char="-"/>
            </a:pPr>
            <a:r>
              <a:rPr lang="pl"/>
              <a:t>Even tho Fleiss Kappa score suggest substantial agreement there was still not a clear distinction between 0 and 1</a:t>
            </a:r>
            <a:endParaRPr/>
          </a:p>
          <a:p>
            <a:pPr indent="-298450" lvl="0" marL="457200" rtl="0" algn="l">
              <a:spcBef>
                <a:spcPts val="0"/>
              </a:spcBef>
              <a:spcAft>
                <a:spcPts val="0"/>
              </a:spcAft>
              <a:buSzPts val="1100"/>
              <a:buChar char="-"/>
            </a:pPr>
            <a:r>
              <a:rPr lang="pl"/>
              <a:t>We used hair feature in hair removal to adjust kernel size, and chose threshold according to the distributions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It would have been better if annotations were made based on lesion area only</a:t>
            </a:r>
            <a:endParaRPr/>
          </a:p>
          <a:p>
            <a:pPr indent="0" lvl="0" marL="0" rtl="0" algn="l">
              <a:spcBef>
                <a:spcPts val="0"/>
              </a:spcBef>
              <a:spcAft>
                <a:spcPts val="0"/>
              </a:spcAft>
              <a:buNone/>
            </a:pPr>
            <a:r>
              <a:rPr lang="pl"/>
              <a:t>Pen marks problem</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6188d16a75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6188d16a7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solidFill>
                  <a:schemeClr val="dk1"/>
                </a:solidFill>
              </a:rPr>
              <a:t>But blackhat doesn't work on the white hair, and there were other issues so we decided to improve the given code reflecting those issues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pl"/>
              <a:t>Why did pixels cluster:</a:t>
            </a:r>
            <a:endParaRPr/>
          </a:p>
          <a:p>
            <a:pPr indent="-298450" lvl="0" marL="457200" rtl="0" algn="l">
              <a:spcBef>
                <a:spcPts val="0"/>
              </a:spcBef>
              <a:spcAft>
                <a:spcPts val="0"/>
              </a:spcAft>
              <a:buSzPts val="1100"/>
              <a:buChar char="-"/>
            </a:pPr>
            <a:r>
              <a:rPr lang="pl"/>
              <a:t>Adding 60% Black-hat and 40% Top-hat produces higher intensity values in overlapping areas.</a:t>
            </a:r>
            <a:endParaRPr/>
          </a:p>
          <a:p>
            <a:pPr indent="-298450" lvl="0" marL="457200" rtl="0" algn="l">
              <a:lnSpc>
                <a:spcPct val="115000"/>
              </a:lnSpc>
              <a:spcBef>
                <a:spcPts val="0"/>
              </a:spcBef>
              <a:spcAft>
                <a:spcPts val="0"/>
              </a:spcAft>
              <a:buClr>
                <a:schemeClr val="dk1"/>
              </a:buClr>
              <a:buSzPts val="1100"/>
              <a:buChar char="-"/>
            </a:pPr>
            <a:r>
              <a:rPr lang="pl">
                <a:solidFill>
                  <a:schemeClr val="dk1"/>
                </a:solidFill>
              </a:rPr>
              <a:t>Adaptive thresholding works locally — so even </a:t>
            </a:r>
            <a:r>
              <a:rPr b="1" lang="pl">
                <a:solidFill>
                  <a:schemeClr val="dk1"/>
                </a:solidFill>
              </a:rPr>
              <a:t>small local changes</a:t>
            </a:r>
            <a:r>
              <a:rPr lang="pl">
                <a:solidFill>
                  <a:schemeClr val="dk1"/>
                </a:solidFill>
              </a:rPr>
              <a:t> get binarized.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pl">
                <a:solidFill>
                  <a:schemeClr val="dk1"/>
                </a:solidFill>
              </a:rPr>
              <a:t>Small block size (</a:t>
            </a:r>
            <a:r>
              <a:rPr b="1" lang="pl">
                <a:solidFill>
                  <a:srgbClr val="188038"/>
                </a:solidFill>
                <a:latin typeface="Roboto Mono"/>
                <a:ea typeface="Roboto Mono"/>
                <a:cs typeface="Roboto Mono"/>
                <a:sym typeface="Roboto Mono"/>
              </a:rPr>
              <a:t>blockSize=11</a:t>
            </a:r>
            <a:r>
              <a:rPr b="1" lang="pl">
                <a:solidFill>
                  <a:schemeClr val="dk1"/>
                </a:solidFill>
              </a:rPr>
              <a:t>)</a:t>
            </a:r>
            <a:r>
              <a:rPr lang="pl">
                <a:solidFill>
                  <a:schemeClr val="dk1"/>
                </a:solidFill>
              </a:rPr>
              <a:t> in adaptive thresholding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pl">
                <a:solidFill>
                  <a:schemeClr val="dk1"/>
                </a:solidFill>
              </a:rPr>
              <a:t>Thresholding applied on a noisy image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6188d16a75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6188d16a7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solidFill>
                  <a:schemeClr val="dk1"/>
                </a:solidFill>
              </a:rPr>
              <a:t>We were interested in removing hair everywhere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pl">
                <a:solidFill>
                  <a:schemeClr val="dk1"/>
                </a:solidFill>
              </a:rPr>
              <a:t>We had made hair mask that was independent of hair color and it was done in hair coverage part, the problem is that when you apply binarization it highlights edges and not inside of the hair, but this can be solved using small kernel and closing operation. The other challenge is to adjust the small kernel size and threshold value, but we can use hair coverage as reference.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pl">
                <a:solidFill>
                  <a:schemeClr val="dk1"/>
                </a:solidFill>
              </a:rPr>
              <a:t>This is not perfect for all pictures still needs adjustments when hair coverage is really high, but it happens rarely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pl">
                <a:solidFill>
                  <a:schemeClr val="dk1"/>
                </a:solidFill>
              </a:rPr>
              <a:t>Why we didn't care about hollow hair mask in hair coverage? Should have, but the difference did not seem to be high, plus avoiding highlighting of the lesion artifacts which would inflate the number for images with no hair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pl">
                <a:solidFill>
                  <a:schemeClr val="dk1"/>
                </a:solidFill>
              </a:rPr>
              <a:t>What else could be done better: use hair coverage information only on the lesion area, if there is no hair on the lesion but only around don't perform hair removal because it would blurr perfectly fine lesion (so obvious now)</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61f43f959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61f43f959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In report was hair removal + hair feature</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pl">
                <a:solidFill>
                  <a:schemeClr val="dk1"/>
                </a:solidFill>
              </a:rPr>
              <a:t>Adding the </a:t>
            </a:r>
            <a:r>
              <a:rPr b="1" lang="pl">
                <a:solidFill>
                  <a:schemeClr val="dk1"/>
                </a:solidFill>
              </a:rPr>
              <a:t>hair coverage feature</a:t>
            </a:r>
            <a:r>
              <a:rPr lang="pl">
                <a:solidFill>
                  <a:schemeClr val="dk1"/>
                </a:solidFill>
              </a:rPr>
              <a:t> does </a:t>
            </a:r>
            <a:r>
              <a:rPr b="1" lang="pl">
                <a:solidFill>
                  <a:schemeClr val="dk1"/>
                </a:solidFill>
              </a:rPr>
              <a:t>not improve</a:t>
            </a:r>
            <a:r>
              <a:rPr lang="pl">
                <a:solidFill>
                  <a:schemeClr val="dk1"/>
                </a:solidFill>
              </a:rPr>
              <a:t> performance — in fact, it slightly </a:t>
            </a:r>
            <a:r>
              <a:rPr b="1" lang="pl">
                <a:solidFill>
                  <a:schemeClr val="dk1"/>
                </a:solidFill>
              </a:rPr>
              <a:t>lowers</a:t>
            </a:r>
            <a:r>
              <a:rPr lang="pl">
                <a:solidFill>
                  <a:schemeClr val="dk1"/>
                </a:solidFill>
              </a:rPr>
              <a:t> the AUC.</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pl">
                <a:solidFill>
                  <a:schemeClr val="dk1"/>
                </a:solidFill>
              </a:rPr>
              <a:t>The </a:t>
            </a:r>
            <a:r>
              <a:rPr b="1" lang="pl">
                <a:solidFill>
                  <a:schemeClr val="dk1"/>
                </a:solidFill>
              </a:rPr>
              <a:t>difference is marginal</a:t>
            </a:r>
            <a:r>
              <a:rPr lang="pl">
                <a:solidFill>
                  <a:schemeClr val="dk1"/>
                </a:solidFill>
              </a:rPr>
              <a:t> and </a:t>
            </a:r>
            <a:r>
              <a:rPr b="1" lang="pl">
                <a:solidFill>
                  <a:schemeClr val="dk1"/>
                </a:solidFill>
              </a:rPr>
              <a:t>within standard deviation</a:t>
            </a:r>
            <a:r>
              <a:rPr lang="pl">
                <a:solidFill>
                  <a:schemeClr val="dk1"/>
                </a:solidFill>
              </a:rPr>
              <a:t>, so not statistically significant.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pl">
                <a:solidFill>
                  <a:schemeClr val="dk1"/>
                </a:solidFill>
              </a:rPr>
              <a:t>Therefore, </a:t>
            </a:r>
            <a:r>
              <a:rPr b="1" lang="pl">
                <a:solidFill>
                  <a:schemeClr val="dk1"/>
                </a:solidFill>
              </a:rPr>
              <a:t>hair removal helps</a:t>
            </a:r>
            <a:r>
              <a:rPr lang="pl">
                <a:solidFill>
                  <a:schemeClr val="dk1"/>
                </a:solidFill>
              </a:rPr>
              <a:t>, but </a:t>
            </a:r>
            <a:r>
              <a:rPr b="1" lang="pl">
                <a:solidFill>
                  <a:schemeClr val="dk1"/>
                </a:solidFill>
              </a:rPr>
              <a:t>hair coverage as a feature adds no real value</a:t>
            </a:r>
            <a:r>
              <a:rPr lang="pl">
                <a:solidFill>
                  <a:schemeClr val="dk1"/>
                </a:solidFill>
              </a:rPr>
              <a:t> — possibly due to:</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pl">
                <a:solidFill>
                  <a:schemeClr val="dk1"/>
                </a:solidFill>
              </a:rPr>
              <a:t>Ambiguous annotation between classes 0 and 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pl">
                <a:solidFill>
                  <a:schemeClr val="dk1"/>
                </a:solidFill>
              </a:rPr>
              <a:t>Weak correlation between hair coverage and cancer</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61f43f959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61f43f959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61a990eae3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61a990eae3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Merriweather"/>
              <a:buChar char="●"/>
            </a:pPr>
            <a:r>
              <a:rPr lang="pl" sz="1500">
                <a:solidFill>
                  <a:schemeClr val="dk1"/>
                </a:solidFill>
                <a:latin typeface="Merriweather"/>
                <a:ea typeface="Merriweather"/>
                <a:cs typeface="Merriweather"/>
                <a:sym typeface="Merriweather"/>
              </a:rPr>
              <a:t>Extended metrics dropped</a:t>
            </a:r>
            <a:endParaRPr sz="1500">
              <a:solidFill>
                <a:schemeClr val="dk1"/>
              </a:solidFill>
              <a:latin typeface="Merriweather"/>
              <a:ea typeface="Merriweather"/>
              <a:cs typeface="Merriweather"/>
              <a:sym typeface="Merriweather"/>
            </a:endParaRPr>
          </a:p>
          <a:p>
            <a:pPr indent="0" lvl="0" marL="457200" rtl="0" algn="l">
              <a:lnSpc>
                <a:spcPct val="115000"/>
              </a:lnSpc>
              <a:spcBef>
                <a:spcPts val="0"/>
              </a:spcBef>
              <a:spcAft>
                <a:spcPts val="0"/>
              </a:spcAft>
              <a:buClr>
                <a:schemeClr val="dk1"/>
              </a:buClr>
              <a:buSzPts val="1100"/>
              <a:buFont typeface="Arial"/>
              <a:buNone/>
            </a:pPr>
            <a:r>
              <a:t/>
            </a:r>
            <a:endParaRPr sz="1500">
              <a:solidFill>
                <a:schemeClr val="dk1"/>
              </a:solidFill>
              <a:latin typeface="Merriweather"/>
              <a:ea typeface="Merriweather"/>
              <a:cs typeface="Merriweather"/>
              <a:sym typeface="Merriweather"/>
            </a:endParaRPr>
          </a:p>
          <a:p>
            <a:pPr indent="-323850" lvl="0" marL="457200" rtl="0" algn="l">
              <a:lnSpc>
                <a:spcPct val="115000"/>
              </a:lnSpc>
              <a:spcBef>
                <a:spcPts val="0"/>
              </a:spcBef>
              <a:spcAft>
                <a:spcPts val="0"/>
              </a:spcAft>
              <a:buClr>
                <a:schemeClr val="dk1"/>
              </a:buClr>
              <a:buSzPts val="1500"/>
              <a:buFont typeface="Merriweather"/>
              <a:buChar char="●"/>
            </a:pPr>
            <a:r>
              <a:rPr lang="pl" sz="1500">
                <a:solidFill>
                  <a:schemeClr val="dk1"/>
                </a:solidFill>
                <a:latin typeface="Merriweather"/>
                <a:ea typeface="Merriweather"/>
                <a:cs typeface="Merriweather"/>
                <a:sym typeface="Merriweather"/>
              </a:rPr>
              <a:t>Hair removal:</a:t>
            </a:r>
            <a:endParaRPr sz="1500">
              <a:solidFill>
                <a:schemeClr val="dk1"/>
              </a:solidFill>
              <a:latin typeface="Merriweather"/>
              <a:ea typeface="Merriweather"/>
              <a:cs typeface="Merriweather"/>
              <a:sym typeface="Merriweather"/>
            </a:endParaRPr>
          </a:p>
          <a:p>
            <a:pPr indent="-323850" lvl="0" marL="457200" rtl="0" algn="l">
              <a:lnSpc>
                <a:spcPct val="115000"/>
              </a:lnSpc>
              <a:spcBef>
                <a:spcPts val="0"/>
              </a:spcBef>
              <a:spcAft>
                <a:spcPts val="0"/>
              </a:spcAft>
              <a:buClr>
                <a:schemeClr val="dk1"/>
              </a:buClr>
              <a:buSzPts val="1500"/>
              <a:buFont typeface="Merriweather"/>
              <a:buChar char="-"/>
            </a:pPr>
            <a:r>
              <a:rPr lang="pl" sz="1500">
                <a:solidFill>
                  <a:schemeClr val="dk1"/>
                </a:solidFill>
                <a:latin typeface="Merriweather"/>
                <a:ea typeface="Merriweather"/>
                <a:cs typeface="Merriweather"/>
                <a:sym typeface="Merriweather"/>
              </a:rPr>
              <a:t>Not a complete hair removal</a:t>
            </a:r>
            <a:endParaRPr sz="1500">
              <a:solidFill>
                <a:schemeClr val="dk1"/>
              </a:solidFill>
              <a:latin typeface="Merriweather"/>
              <a:ea typeface="Merriweather"/>
              <a:cs typeface="Merriweather"/>
              <a:sym typeface="Merriweather"/>
            </a:endParaRPr>
          </a:p>
          <a:p>
            <a:pPr indent="-323850" lvl="0" marL="457200" rtl="0" algn="l">
              <a:lnSpc>
                <a:spcPct val="115000"/>
              </a:lnSpc>
              <a:spcBef>
                <a:spcPts val="0"/>
              </a:spcBef>
              <a:spcAft>
                <a:spcPts val="0"/>
              </a:spcAft>
              <a:buClr>
                <a:schemeClr val="dk1"/>
              </a:buClr>
              <a:buSzPts val="1500"/>
              <a:buFont typeface="Merriweather"/>
              <a:buChar char="-"/>
            </a:pPr>
            <a:r>
              <a:rPr lang="pl" sz="1500">
                <a:solidFill>
                  <a:schemeClr val="dk1"/>
                </a:solidFill>
                <a:latin typeface="Merriweather"/>
                <a:ea typeface="Merriweather"/>
                <a:cs typeface="Merriweather"/>
                <a:sym typeface="Merriweather"/>
              </a:rPr>
              <a:t>Misleading color values due to clustering after removal</a:t>
            </a:r>
            <a:endParaRPr sz="1500">
              <a:solidFill>
                <a:schemeClr val="dk1"/>
              </a:solidFill>
              <a:latin typeface="Merriweather"/>
              <a:ea typeface="Merriweather"/>
              <a:cs typeface="Merriweather"/>
              <a:sym typeface="Merriweather"/>
            </a:endParaRPr>
          </a:p>
          <a:p>
            <a:pPr indent="0" lvl="0" marL="0" rtl="0" algn="l">
              <a:lnSpc>
                <a:spcPct val="150000"/>
              </a:lnSpc>
              <a:spcBef>
                <a:spcPts val="0"/>
              </a:spcBef>
              <a:spcAft>
                <a:spcPts val="0"/>
              </a:spcAft>
              <a:buClr>
                <a:schemeClr val="dk1"/>
              </a:buClr>
              <a:buSzPts val="1100"/>
              <a:buFont typeface="Arial"/>
              <a:buNone/>
            </a:pPr>
            <a:r>
              <a:t/>
            </a:r>
            <a:endParaRPr sz="1500">
              <a:solidFill>
                <a:schemeClr val="dk1"/>
              </a:solidFill>
              <a:latin typeface="Merriweather"/>
              <a:ea typeface="Merriweather"/>
              <a:cs typeface="Merriweather"/>
              <a:sym typeface="Merriweather"/>
            </a:endParaRPr>
          </a:p>
          <a:p>
            <a:pPr indent="0" lvl="0" marL="0" rtl="0" algn="l">
              <a:lnSpc>
                <a:spcPct val="150000"/>
              </a:lnSpc>
              <a:spcBef>
                <a:spcPts val="0"/>
              </a:spcBef>
              <a:spcAft>
                <a:spcPts val="0"/>
              </a:spcAft>
              <a:buClr>
                <a:schemeClr val="dk1"/>
              </a:buClr>
              <a:buSzPts val="1100"/>
              <a:buFont typeface="Arial"/>
              <a:buNone/>
            </a:pPr>
            <a:r>
              <a:rPr lang="pl" sz="1500">
                <a:solidFill>
                  <a:schemeClr val="dk1"/>
                </a:solidFill>
                <a:latin typeface="Merriweather"/>
                <a:ea typeface="Merriweather"/>
                <a:cs typeface="Merriweather"/>
                <a:sym typeface="Merriweather"/>
              </a:rPr>
              <a:t>Conclusion: image preprocessing highly affects model performance</a:t>
            </a:r>
            <a:endParaRPr sz="15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61f760ef32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61f760ef32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61f760ef32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61f760ef32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61f760ef32_0_10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61f760ef32_0_10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61f43f959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61f43f959a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Another indication of our hair removal not being perfect</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61a990eae3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61a990eae3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66dbc2503c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66dbc2503c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6188d16a75_0_1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6188d16a75_0_1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sz="900" u="sng">
                <a:solidFill>
                  <a:srgbClr val="009384"/>
                </a:solidFill>
                <a:latin typeface="Roboto"/>
                <a:ea typeface="Roboto"/>
                <a:cs typeface="Roboto"/>
                <a:sym typeface="Roboto"/>
                <a:hlinkClick r:id="rId2">
                  <a:extLst>
                    <a:ext uri="{A12FA001-AC4F-418D-AE19-62706E023703}">
                      <ahyp:hlinkClr val="tx"/>
                    </a:ext>
                  </a:extLst>
                </a:hlinkClick>
              </a:rPr>
              <a:t>https://www.sciencedirect.com/science/article/pii/S0895611107000146?via%3Dihub</a:t>
            </a:r>
            <a:endParaRPr sz="900">
              <a:solidFill>
                <a:srgbClr val="666666"/>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900">
              <a:solidFill>
                <a:srgbClr val="666666"/>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pl" sz="900" u="sng">
                <a:solidFill>
                  <a:srgbClr val="009384"/>
                </a:solidFill>
                <a:latin typeface="Roboto"/>
                <a:ea typeface="Roboto"/>
                <a:cs typeface="Roboto"/>
                <a:sym typeface="Roboto"/>
                <a:hlinkClick r:id="rId3">
                  <a:extLst>
                    <a:ext uri="{A12FA001-AC4F-418D-AE19-62706E023703}">
                      <ahyp:hlinkClr val="tx"/>
                    </a:ext>
                  </a:extLst>
                </a:hlinkClick>
              </a:rPr>
              <a:t>https://www.researchgate.net/publication/328759615_A_Comparison_of_RGB_and_HSV_Colour_Spaces_for_Visual_Attention_Models</a:t>
            </a:r>
            <a:endParaRPr sz="900">
              <a:solidFill>
                <a:srgbClr val="666666"/>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700">
              <a:solidFill>
                <a:srgbClr val="666666"/>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61dd67871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61dd67871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61dd67871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61dd67871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61f43f959a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61f43f959a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61f43f959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61f43f959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61f760ef32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61f760ef32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61f760ef32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361f760ef32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61f760ef32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61f760ef32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61f760ef32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361f760ef32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61f760ef32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61f760ef32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61f760ef32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361f760ef32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61f760ef32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361f760ef32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61dd67871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361dd67871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Since border and asymmetry overlap classes and are correlated probably don't give useful information</a:t>
            </a:r>
            <a:endParaRPr/>
          </a:p>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61a990eae3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361a990eae3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Can see that noise actually affected feature selection in the tree</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61a990eae3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61a990eae3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Looks like asymmetry is more important since it can explore more features</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61f43f959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361f43f959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669af3799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3669af3799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61a990eae3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361a990eae3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61a990eae3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61a990eae3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66dbc2503c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366dbc2503c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solidFill>
                  <a:schemeClr val="dk1"/>
                </a:solidFill>
              </a:rPr>
              <a:t>But blackhat doesn't work on the white hair, and there were other issues so we decided to improve the given code reflecting those issues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pl"/>
              <a:t>Why did pixels cluster:</a:t>
            </a:r>
            <a:endParaRPr/>
          </a:p>
          <a:p>
            <a:pPr indent="-298450" lvl="0" marL="457200" rtl="0" algn="l">
              <a:spcBef>
                <a:spcPts val="0"/>
              </a:spcBef>
              <a:spcAft>
                <a:spcPts val="0"/>
              </a:spcAft>
              <a:buSzPts val="1100"/>
              <a:buChar char="-"/>
            </a:pPr>
            <a:r>
              <a:rPr lang="pl"/>
              <a:t>Adding 60% Black-hat and 40% Top-hat produces higher intensity values in overlapping areas.</a:t>
            </a:r>
            <a:endParaRPr/>
          </a:p>
          <a:p>
            <a:pPr indent="-298450" lvl="0" marL="457200" rtl="0" algn="l">
              <a:lnSpc>
                <a:spcPct val="115000"/>
              </a:lnSpc>
              <a:spcBef>
                <a:spcPts val="0"/>
              </a:spcBef>
              <a:spcAft>
                <a:spcPts val="0"/>
              </a:spcAft>
              <a:buClr>
                <a:schemeClr val="dk1"/>
              </a:buClr>
              <a:buSzPts val="1100"/>
              <a:buChar char="-"/>
            </a:pPr>
            <a:r>
              <a:rPr lang="pl">
                <a:solidFill>
                  <a:schemeClr val="dk1"/>
                </a:solidFill>
              </a:rPr>
              <a:t>Adaptive thresholding works locally — so even </a:t>
            </a:r>
            <a:r>
              <a:rPr b="1" lang="pl">
                <a:solidFill>
                  <a:schemeClr val="dk1"/>
                </a:solidFill>
              </a:rPr>
              <a:t>small local changes</a:t>
            </a:r>
            <a:r>
              <a:rPr lang="pl">
                <a:solidFill>
                  <a:schemeClr val="dk1"/>
                </a:solidFill>
              </a:rPr>
              <a:t> get binarized.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pl">
                <a:solidFill>
                  <a:schemeClr val="dk1"/>
                </a:solidFill>
              </a:rPr>
              <a:t>Small block size (</a:t>
            </a:r>
            <a:r>
              <a:rPr b="1" lang="pl">
                <a:solidFill>
                  <a:srgbClr val="188038"/>
                </a:solidFill>
                <a:latin typeface="Roboto Mono"/>
                <a:ea typeface="Roboto Mono"/>
                <a:cs typeface="Roboto Mono"/>
                <a:sym typeface="Roboto Mono"/>
              </a:rPr>
              <a:t>blockSize=11</a:t>
            </a:r>
            <a:r>
              <a:rPr b="1" lang="pl">
                <a:solidFill>
                  <a:schemeClr val="dk1"/>
                </a:solidFill>
              </a:rPr>
              <a:t>)</a:t>
            </a:r>
            <a:r>
              <a:rPr lang="pl">
                <a:solidFill>
                  <a:schemeClr val="dk1"/>
                </a:solidFill>
              </a:rPr>
              <a:t> in adaptive thresholding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pl">
                <a:solidFill>
                  <a:schemeClr val="dk1"/>
                </a:solidFill>
              </a:rPr>
              <a:t>Thresholding applied on a noisy image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669af3799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3669af3799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Most likely not all hair removed or so artifacts were left</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61f43f959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61f43f959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looks the same as extended model with hair feature</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texture was extracted after hair removal</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61f43f959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61f43f959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my guess is that there are some artifacts of hair left</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61f43f959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361f43f959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5f8520bde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35f8520bde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pl">
                <a:solidFill>
                  <a:schemeClr val="dk1"/>
                </a:solidFill>
              </a:rPr>
              <a:t>Best model:</a:t>
            </a:r>
            <a:br>
              <a:rPr b="1" lang="pl">
                <a:solidFill>
                  <a:schemeClr val="dk1"/>
                </a:solidFill>
              </a:rPr>
            </a:br>
            <a:r>
              <a:rPr lang="pl">
                <a:solidFill>
                  <a:schemeClr val="dk1"/>
                </a:solidFill>
              </a:rPr>
              <a:t>The baseline (ABC features only) performed the best overall — interpretable and reliable.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pl">
                <a:solidFill>
                  <a:schemeClr val="dk1"/>
                </a:solidFill>
              </a:rPr>
              <a:t>Most impactful features:</a:t>
            </a:r>
            <a:br>
              <a:rPr b="1" lang="pl">
                <a:solidFill>
                  <a:schemeClr val="dk1"/>
                </a:solidFill>
              </a:rPr>
            </a:br>
            <a:r>
              <a:rPr lang="pl">
                <a:solidFill>
                  <a:schemeClr val="dk1"/>
                </a:solidFill>
              </a:rPr>
              <a:t>Asymmetry and color variation were the most informative for classification.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pl">
                <a:solidFill>
                  <a:schemeClr val="dk1"/>
                </a:solidFill>
              </a:rPr>
              <a:t>Hair feature impact:</a:t>
            </a:r>
            <a:br>
              <a:rPr b="1" lang="pl">
                <a:solidFill>
                  <a:schemeClr val="dk1"/>
                </a:solidFill>
              </a:rPr>
            </a:br>
            <a:r>
              <a:rPr lang="pl">
                <a:solidFill>
                  <a:schemeClr val="dk1"/>
                </a:solidFill>
              </a:rPr>
              <a:t>Adding hair coverage slightly reduced performance.</a:t>
            </a:r>
            <a:br>
              <a:rPr lang="pl">
                <a:solidFill>
                  <a:schemeClr val="dk1"/>
                </a:solidFill>
              </a:rPr>
            </a:br>
            <a:r>
              <a:rPr lang="pl">
                <a:solidFill>
                  <a:schemeClr val="dk1"/>
                </a:solidFill>
              </a:rPr>
              <a:t>This may be due to poor hair removal quality or the model learning biased patterns (e.g., associating dark hair with cancer).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pl">
                <a:solidFill>
                  <a:schemeClr val="dk1"/>
                </a:solidFill>
              </a:rPr>
              <a:t>Texture (Open question):</a:t>
            </a:r>
            <a:br>
              <a:rPr b="1" lang="pl">
                <a:solidFill>
                  <a:schemeClr val="dk1"/>
                </a:solidFill>
              </a:rPr>
            </a:br>
            <a:r>
              <a:rPr lang="pl">
                <a:solidFill>
                  <a:schemeClr val="dk1"/>
                </a:solidFill>
              </a:rPr>
              <a:t>Texture feature (Sobel) showed no added value — possibly tested too late or not well-captured.</a:t>
            </a:r>
            <a:br>
              <a:rPr lang="pl">
                <a:solidFill>
                  <a:schemeClr val="dk1"/>
                </a:solidFill>
              </a:rPr>
            </a:br>
            <a:r>
              <a:rPr lang="pl">
                <a:solidFill>
                  <a:schemeClr val="dk1"/>
                </a:solidFill>
              </a:rPr>
              <a:t>Feature importance should be assessed earlier in model development.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pl">
                <a:solidFill>
                  <a:schemeClr val="dk1"/>
                </a:solidFill>
              </a:rPr>
              <a:t>Key takeaway:</a:t>
            </a:r>
            <a:br>
              <a:rPr b="1" lang="pl">
                <a:solidFill>
                  <a:schemeClr val="dk1"/>
                </a:solidFill>
              </a:rPr>
            </a:br>
            <a:r>
              <a:rPr lang="pl">
                <a:solidFill>
                  <a:schemeClr val="dk1"/>
                </a:solidFill>
              </a:rPr>
              <a:t>Handcrafted ABC features remain robust. But new features must be added carefully — both in implementation and timing — to avoid misleading or biased outcomes.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61f43f959a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61f43f959a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361a990eae3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361a990eae3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61a990eae3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61a990eae3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61f43f959a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361f43f959a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61a990eae3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361a990eae3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61a990eae3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361a990eae3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molecheck.com.au/statistics-on-survival-rates-with-early-detection-of-skin-cancer/" TargetMode="External"/><Relationship Id="rId4" Type="http://schemas.openxmlformats.org/officeDocument/2006/relationships/hyperlink" Target="https://www.sciencedirect.com/science/article/pii/S2949713224000582#:~:text=BCC%20is%20the%20most%20commonly,most%20skin%20cancer%2Drelated%20deaths" TargetMode="External"/><Relationship Id="rId5" Type="http://schemas.openxmlformats.org/officeDocument/2006/relationships/image" Target="../media/image3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molecheck.com.au/statistics-on-survival-rates-with-early-detection-of-skin-cancer/" TargetMode="External"/><Relationship Id="rId4" Type="http://schemas.openxmlformats.org/officeDocument/2006/relationships/hyperlink" Target="https://www.sciencedirect.com/science/article/pii/S2949713224000582#:~:text=BCC%20is%20the%20most%20commonly,most%20skin%20cancer%2Drelated%20deaths" TargetMode="External"/><Relationship Id="rId5"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hyperlink" Target="https://www.nature.com/articles/s41598-024-59783-0" TargetMode="External"/><Relationship Id="rId6" Type="http://schemas.openxmlformats.org/officeDocument/2006/relationships/hyperlink" Target="https://pmc.ncbi.nlm.nih.gov/articles/PMC8945332/"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nature.com/articles/s41598-024-59783-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hyperlink" Target="https://www.sciencedirect.com/science/article/abs/pii/S1746809411000048"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pmc.ncbi.nlm.nih.gov/articles/PMC11041978/" TargetMode="Externa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hyperlink" Target="https://www.sciencedirect.com/science/article/pii/S235234092031115X" TargetMode="Externa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33.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7.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s://itta.cyber.az/2024/papers/09.pdf" TargetMode="External"/><Relationship Id="rId4" Type="http://schemas.openxmlformats.org/officeDocument/2006/relationships/image" Target="../media/image21.png"/><Relationship Id="rId5"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6.png"/><Relationship Id="rId4" Type="http://schemas.openxmlformats.org/officeDocument/2006/relationships/image" Target="../media/image16.png"/><Relationship Id="rId5"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35.png"/><Relationship Id="rId8"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4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8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9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83.png"/><Relationship Id="rId4" Type="http://schemas.openxmlformats.org/officeDocument/2006/relationships/image" Target="../media/image9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83.png"/><Relationship Id="rId4" Type="http://schemas.openxmlformats.org/officeDocument/2006/relationships/image" Target="../media/image7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hyperlink" Target="https://ietresearch.onlinelibrary.wiley.com/doi/epdf/10.1049/iet-ipr.2015.0385" TargetMode="External"/><Relationship Id="rId4" Type="http://schemas.openxmlformats.org/officeDocument/2006/relationships/image" Target="../media/image34.png"/><Relationship Id="rId5"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5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hyperlink" Target="https://pmc.ncbi.nlm.nih.gov/articles/PMC3184884/" TargetMode="External"/><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40.png"/><Relationship Id="rId4" Type="http://schemas.openxmlformats.org/officeDocument/2006/relationships/image" Target="../media/image30.png"/><Relationship Id="rId5" Type="http://schemas.openxmlformats.org/officeDocument/2006/relationships/image" Target="../media/image70.png"/><Relationship Id="rId6"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7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72.png"/><Relationship Id="rId4" Type="http://schemas.openxmlformats.org/officeDocument/2006/relationships/image" Target="../media/image10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53.png"/><Relationship Id="rId4" Type="http://schemas.openxmlformats.org/officeDocument/2006/relationships/image" Target="../media/image68.png"/><Relationship Id="rId5" Type="http://schemas.openxmlformats.org/officeDocument/2006/relationships/image" Target="../media/image4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49.png"/><Relationship Id="rId4" Type="http://schemas.openxmlformats.org/officeDocument/2006/relationships/image" Target="../media/image48.png"/><Relationship Id="rId5" Type="http://schemas.openxmlformats.org/officeDocument/2006/relationships/image" Target="../media/image51.png"/><Relationship Id="rId6" Type="http://schemas.openxmlformats.org/officeDocument/2006/relationships/image" Target="../media/image44.png"/><Relationship Id="rId7" Type="http://schemas.openxmlformats.org/officeDocument/2006/relationships/image" Target="../media/image52.png"/><Relationship Id="rId8" Type="http://schemas.openxmlformats.org/officeDocument/2006/relationships/image" Target="../media/image5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50.png"/><Relationship Id="rId4" Type="http://schemas.openxmlformats.org/officeDocument/2006/relationships/image" Target="../media/image56.png"/><Relationship Id="rId5" Type="http://schemas.openxmlformats.org/officeDocument/2006/relationships/image" Target="../media/image5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61.png"/><Relationship Id="rId4" Type="http://schemas.openxmlformats.org/officeDocument/2006/relationships/image" Target="../media/image55.png"/><Relationship Id="rId5" Type="http://schemas.openxmlformats.org/officeDocument/2006/relationships/image" Target="../media/image64.png"/><Relationship Id="rId6" Type="http://schemas.openxmlformats.org/officeDocument/2006/relationships/image" Target="../media/image5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67.png"/><Relationship Id="rId4" Type="http://schemas.openxmlformats.org/officeDocument/2006/relationships/image" Target="../media/image6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6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hyperlink" Target="https://www.researchgate.net/publication/235387906_On_the_role_of_texture_and_color_in_the_classification_of_dermoscopy_image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8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6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9.xml"/><Relationship Id="rId3" Type="http://schemas.openxmlformats.org/officeDocument/2006/relationships/image" Target="../media/image65.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1.xml"/><Relationship Id="rId3" Type="http://schemas.openxmlformats.org/officeDocument/2006/relationships/image" Target="../media/image6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image" Target="../media/image10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83.png"/><Relationship Id="rId4" Type="http://schemas.openxmlformats.org/officeDocument/2006/relationships/image" Target="../media/image10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 Id="rId3" Type="http://schemas.openxmlformats.org/officeDocument/2006/relationships/image" Target="../media/image106.png"/><Relationship Id="rId4" Type="http://schemas.openxmlformats.org/officeDocument/2006/relationships/image" Target="../media/image9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 Id="rId3" Type="http://schemas.openxmlformats.org/officeDocument/2006/relationships/image" Target="../media/image108.png"/><Relationship Id="rId4" Type="http://schemas.openxmlformats.org/officeDocument/2006/relationships/image" Target="../media/image10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2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2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 Id="rId3" Type="http://schemas.openxmlformats.org/officeDocument/2006/relationships/hyperlink" Target="https://pmc.ncbi.nlm.nih.gov/articles/PMC3184884/" TargetMode="External"/><Relationship Id="rId4" Type="http://schemas.openxmlformats.org/officeDocument/2006/relationships/image" Target="../media/image6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 Id="rId3" Type="http://schemas.openxmlformats.org/officeDocument/2006/relationships/hyperlink" Target="https://pmc.ncbi.nlm.nih.gov/articles/PMC3184884/" TargetMode="External"/><Relationship Id="rId4" Type="http://schemas.openxmlformats.org/officeDocument/2006/relationships/image" Target="../media/image7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 Id="rId3" Type="http://schemas.openxmlformats.org/officeDocument/2006/relationships/image" Target="../media/image9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7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 Id="rId3" Type="http://schemas.openxmlformats.org/officeDocument/2006/relationships/image" Target="../media/image10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 Id="rId3" Type="http://schemas.openxmlformats.org/officeDocument/2006/relationships/image" Target="../media/image76.png"/><Relationship Id="rId4" Type="http://schemas.openxmlformats.org/officeDocument/2006/relationships/image" Target="../media/image7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image" Target="../media/image78.png"/><Relationship Id="rId4" Type="http://schemas.openxmlformats.org/officeDocument/2006/relationships/image" Target="../media/image7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 Id="rId3" Type="http://schemas.openxmlformats.org/officeDocument/2006/relationships/image" Target="../media/image92.png"/><Relationship Id="rId4" Type="http://schemas.openxmlformats.org/officeDocument/2006/relationships/image" Target="../media/image8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 Id="rId3" Type="http://schemas.openxmlformats.org/officeDocument/2006/relationships/image" Target="../media/image38.png"/><Relationship Id="rId4" Type="http://schemas.openxmlformats.org/officeDocument/2006/relationships/image" Target="../media/image8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8.xml"/><Relationship Id="rId3" Type="http://schemas.openxmlformats.org/officeDocument/2006/relationships/image" Target="../media/image84.png"/><Relationship Id="rId4" Type="http://schemas.openxmlformats.org/officeDocument/2006/relationships/image" Target="../media/image8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9.xml"/><Relationship Id="rId3" Type="http://schemas.openxmlformats.org/officeDocument/2006/relationships/image" Target="../media/image8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 Id="rId3" Type="http://schemas.openxmlformats.org/officeDocument/2006/relationships/image" Target="../media/image9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1.xml"/><Relationship Id="rId3" Type="http://schemas.openxmlformats.org/officeDocument/2006/relationships/image" Target="../media/image63.png"/><Relationship Id="rId4" Type="http://schemas.openxmlformats.org/officeDocument/2006/relationships/image" Target="../media/image10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2.xml"/><Relationship Id="rId3" Type="http://schemas.openxmlformats.org/officeDocument/2006/relationships/image" Target="../media/image9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3.xml"/><Relationship Id="rId3" Type="http://schemas.openxmlformats.org/officeDocument/2006/relationships/image" Target="../media/image8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4.xml"/><Relationship Id="rId3" Type="http://schemas.openxmlformats.org/officeDocument/2006/relationships/image" Target="../media/image9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7.xml"/><Relationship Id="rId3" Type="http://schemas.openxmlformats.org/officeDocument/2006/relationships/image" Target="../media/image9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8.xml"/><Relationship Id="rId3" Type="http://schemas.openxmlformats.org/officeDocument/2006/relationships/image" Target="../media/image9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9.xml"/><Relationship Id="rId3" Type="http://schemas.openxmlformats.org/officeDocument/2006/relationships/image" Target="../media/image8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0.xml"/><Relationship Id="rId3" Type="http://schemas.openxmlformats.org/officeDocument/2006/relationships/image" Target="../media/image10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1.xml"/><Relationship Id="rId3" Type="http://schemas.openxmlformats.org/officeDocument/2006/relationships/image" Target="../media/image9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Projects in Data Science:</a:t>
            </a:r>
            <a:endParaRPr/>
          </a:p>
          <a:p>
            <a:pPr indent="0" lvl="0" marL="0" rtl="0" algn="l">
              <a:spcBef>
                <a:spcPts val="0"/>
              </a:spcBef>
              <a:spcAft>
                <a:spcPts val="0"/>
              </a:spcAft>
              <a:buNone/>
            </a:pPr>
            <a:r>
              <a:rPr lang="pl"/>
              <a:t>Final Project</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Group Penguins</a:t>
            </a:r>
            <a:endParaRPr/>
          </a:p>
        </p:txBody>
      </p:sp>
      <p:pic>
        <p:nvPicPr>
          <p:cNvPr id="66" name="Google Shape;66;p13"/>
          <p:cNvPicPr preferRelativeResize="0"/>
          <p:nvPr/>
        </p:nvPicPr>
        <p:blipFill>
          <a:blip r:embed="rId3">
            <a:alphaModFix/>
          </a:blip>
          <a:stretch>
            <a:fillRect/>
          </a:stretch>
        </p:blipFill>
        <p:spPr>
          <a:xfrm>
            <a:off x="6403881" y="2520800"/>
            <a:ext cx="3583549" cy="35835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Project</a:t>
            </a:r>
            <a:endParaRPr/>
          </a:p>
          <a:p>
            <a:pPr indent="0" lvl="0" marL="0" rtl="0" algn="ctr">
              <a:spcBef>
                <a:spcPts val="0"/>
              </a:spcBef>
              <a:spcAft>
                <a:spcPts val="0"/>
              </a:spcAft>
              <a:buNone/>
            </a:pPr>
            <a:r>
              <a:rPr lang="pl"/>
              <a:t>Motivation:</a:t>
            </a:r>
            <a:endParaRPr/>
          </a:p>
          <a:p>
            <a:pPr indent="0" lvl="0" marL="0" rtl="0" algn="ctr">
              <a:spcBef>
                <a:spcPts val="0"/>
              </a:spcBef>
              <a:spcAft>
                <a:spcPts val="0"/>
              </a:spcAft>
              <a:buNone/>
            </a:pPr>
            <a:r>
              <a:t/>
            </a:r>
            <a:endParaRPr/>
          </a:p>
          <a:p>
            <a:pPr indent="0" lvl="0" marL="0" rtl="0" algn="ctr">
              <a:spcBef>
                <a:spcPts val="0"/>
              </a:spcBef>
              <a:spcAft>
                <a:spcPts val="0"/>
              </a:spcAft>
              <a:buNone/>
            </a:pPr>
            <a:r>
              <a:rPr lang="pl"/>
              <a:t>Early Detection</a:t>
            </a:r>
            <a:endParaRPr/>
          </a:p>
          <a:p>
            <a:pPr indent="0" lvl="0" marL="0" rtl="0" algn="ctr">
              <a:spcBef>
                <a:spcPts val="0"/>
              </a:spcBef>
              <a:spcAft>
                <a:spcPts val="0"/>
              </a:spcAft>
              <a:buNone/>
            </a:pPr>
            <a:r>
              <a:rPr lang="pl"/>
              <a:t>of Skin Cancer</a:t>
            </a:r>
            <a:endParaRPr/>
          </a:p>
        </p:txBody>
      </p:sp>
      <p:sp>
        <p:nvSpPr>
          <p:cNvPr id="72" name="Google Shape;72;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73" name="Google Shape;73;p14"/>
          <p:cNvSpPr txBox="1"/>
          <p:nvPr/>
        </p:nvSpPr>
        <p:spPr>
          <a:xfrm>
            <a:off x="113425" y="4381500"/>
            <a:ext cx="4103100" cy="7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750" u="sng">
                <a:solidFill>
                  <a:schemeClr val="hlink"/>
                </a:solidFill>
                <a:hlinkClick r:id="rId3"/>
              </a:rPr>
              <a:t>https://www.molecheck.com.au/statistics-on-survival-rates-with-early-detection-of-skin-cancer/</a:t>
            </a:r>
            <a:endParaRPr sz="750"/>
          </a:p>
          <a:p>
            <a:pPr indent="0" lvl="0" marL="0" rtl="0" algn="l">
              <a:spcBef>
                <a:spcPts val="0"/>
              </a:spcBef>
              <a:spcAft>
                <a:spcPts val="0"/>
              </a:spcAft>
              <a:buNone/>
            </a:pPr>
            <a:r>
              <a:t/>
            </a:r>
            <a:endParaRPr sz="750"/>
          </a:p>
          <a:p>
            <a:pPr indent="0" lvl="0" marL="0" rtl="0" algn="l">
              <a:spcBef>
                <a:spcPts val="0"/>
              </a:spcBef>
              <a:spcAft>
                <a:spcPts val="0"/>
              </a:spcAft>
              <a:buNone/>
            </a:pPr>
            <a:r>
              <a:rPr lang="pl" sz="750" u="sng">
                <a:solidFill>
                  <a:schemeClr val="hlink"/>
                </a:solidFill>
                <a:hlinkClick r:id="rId4"/>
              </a:rPr>
              <a:t>https://www.sciencedirect.com/science/article/pii/S2949713224000582#:~:text=BCC%20is%20the%20most%20commonly,most%20skin%20cancer%2Drelated%20deaths.</a:t>
            </a:r>
            <a:endParaRPr sz="750"/>
          </a:p>
        </p:txBody>
      </p:sp>
      <p:pic>
        <p:nvPicPr>
          <p:cNvPr id="74" name="Google Shape;74;p14" title="survival_rates_mel.png"/>
          <p:cNvPicPr preferRelativeResize="0"/>
          <p:nvPr/>
        </p:nvPicPr>
        <p:blipFill>
          <a:blip r:embed="rId5">
            <a:alphaModFix/>
          </a:blip>
          <a:stretch>
            <a:fillRect/>
          </a:stretch>
        </p:blipFill>
        <p:spPr>
          <a:xfrm>
            <a:off x="4466300" y="793675"/>
            <a:ext cx="4380726" cy="2717150"/>
          </a:xfrm>
          <a:prstGeom prst="rect">
            <a:avLst/>
          </a:prstGeom>
          <a:noFill/>
          <a:ln>
            <a:noFill/>
          </a:ln>
          <a:effectLst>
            <a:outerShdw blurRad="57150" rotWithShape="0" algn="bl" dir="5400000" dist="19050">
              <a:srgbClr val="000000">
                <a:alpha val="50000"/>
              </a:srgbClr>
            </a:outerShdw>
          </a:effectLst>
        </p:spPr>
      </p:pic>
      <p:sp>
        <p:nvSpPr>
          <p:cNvPr id="75" name="Google Shape;75;p14"/>
          <p:cNvSpPr txBox="1"/>
          <p:nvPr/>
        </p:nvSpPr>
        <p:spPr>
          <a:xfrm>
            <a:off x="4861850" y="3586625"/>
            <a:ext cx="4053600" cy="7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200">
                <a:solidFill>
                  <a:schemeClr val="dk2"/>
                </a:solidFill>
                <a:latin typeface="Roboto"/>
                <a:ea typeface="Roboto"/>
                <a:cs typeface="Roboto"/>
                <a:sym typeface="Roboto"/>
              </a:rPr>
              <a:t>* Same survival rates for </a:t>
            </a:r>
            <a:r>
              <a:rPr b="1" lang="pl" sz="1200">
                <a:solidFill>
                  <a:schemeClr val="dk2"/>
                </a:solidFill>
                <a:latin typeface="Roboto"/>
                <a:ea typeface="Roboto"/>
                <a:cs typeface="Roboto"/>
                <a:sym typeface="Roboto"/>
              </a:rPr>
              <a:t>early stages</a:t>
            </a:r>
            <a:r>
              <a:rPr lang="pl" sz="1200">
                <a:solidFill>
                  <a:schemeClr val="dk2"/>
                </a:solidFill>
                <a:latin typeface="Roboto"/>
                <a:ea typeface="Roboto"/>
                <a:cs typeface="Roboto"/>
                <a:sym typeface="Roboto"/>
              </a:rPr>
              <a:t> of BCC and SCC.</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pl" sz="1200">
                <a:solidFill>
                  <a:schemeClr val="dk2"/>
                </a:solidFill>
                <a:latin typeface="Roboto"/>
                <a:ea typeface="Roboto"/>
                <a:cs typeface="Roboto"/>
                <a:sym typeface="Roboto"/>
              </a:rPr>
              <a:t>However, MEL is the most lethal of them all.</a:t>
            </a:r>
            <a:endParaRPr sz="12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Project</a:t>
            </a:r>
            <a:endParaRPr/>
          </a:p>
          <a:p>
            <a:pPr indent="0" lvl="0" marL="0" rtl="0" algn="ctr">
              <a:spcBef>
                <a:spcPts val="0"/>
              </a:spcBef>
              <a:spcAft>
                <a:spcPts val="0"/>
              </a:spcAft>
              <a:buNone/>
            </a:pPr>
            <a:r>
              <a:rPr lang="pl"/>
              <a:t>Motivation:</a:t>
            </a:r>
            <a:endParaRPr/>
          </a:p>
          <a:p>
            <a:pPr indent="0" lvl="0" marL="0" rtl="0" algn="ctr">
              <a:spcBef>
                <a:spcPts val="0"/>
              </a:spcBef>
              <a:spcAft>
                <a:spcPts val="0"/>
              </a:spcAft>
              <a:buNone/>
            </a:pPr>
            <a:r>
              <a:t/>
            </a:r>
            <a:endParaRPr/>
          </a:p>
          <a:p>
            <a:pPr indent="0" lvl="0" marL="0" rtl="0" algn="ctr">
              <a:spcBef>
                <a:spcPts val="0"/>
              </a:spcBef>
              <a:spcAft>
                <a:spcPts val="0"/>
              </a:spcAft>
              <a:buNone/>
            </a:pPr>
            <a:r>
              <a:rPr lang="pl"/>
              <a:t>Early Detection</a:t>
            </a:r>
            <a:endParaRPr/>
          </a:p>
          <a:p>
            <a:pPr indent="0" lvl="0" marL="0" rtl="0" algn="ctr">
              <a:spcBef>
                <a:spcPts val="0"/>
              </a:spcBef>
              <a:spcAft>
                <a:spcPts val="0"/>
              </a:spcAft>
              <a:buNone/>
            </a:pPr>
            <a:r>
              <a:rPr lang="pl"/>
              <a:t>of Skin Cancer</a:t>
            </a:r>
            <a:endParaRPr/>
          </a:p>
        </p:txBody>
      </p:sp>
      <p:sp>
        <p:nvSpPr>
          <p:cNvPr id="81" name="Google Shape;8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82" name="Google Shape;82;p15"/>
          <p:cNvSpPr txBox="1"/>
          <p:nvPr/>
        </p:nvSpPr>
        <p:spPr>
          <a:xfrm>
            <a:off x="113425" y="4381500"/>
            <a:ext cx="4103100" cy="7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750" u="sng">
                <a:solidFill>
                  <a:schemeClr val="hlink"/>
                </a:solidFill>
                <a:hlinkClick r:id="rId3"/>
              </a:rPr>
              <a:t>https://www.molecheck.com.au/statistics-on-survival-rates-with-early-detection-of-skin-cancer/</a:t>
            </a:r>
            <a:endParaRPr sz="750"/>
          </a:p>
          <a:p>
            <a:pPr indent="0" lvl="0" marL="0" rtl="0" algn="l">
              <a:spcBef>
                <a:spcPts val="0"/>
              </a:spcBef>
              <a:spcAft>
                <a:spcPts val="0"/>
              </a:spcAft>
              <a:buNone/>
            </a:pPr>
            <a:r>
              <a:t/>
            </a:r>
            <a:endParaRPr sz="750"/>
          </a:p>
          <a:p>
            <a:pPr indent="0" lvl="0" marL="0" rtl="0" algn="l">
              <a:spcBef>
                <a:spcPts val="0"/>
              </a:spcBef>
              <a:spcAft>
                <a:spcPts val="0"/>
              </a:spcAft>
              <a:buNone/>
            </a:pPr>
            <a:r>
              <a:rPr lang="pl" sz="750" u="sng">
                <a:solidFill>
                  <a:schemeClr val="hlink"/>
                </a:solidFill>
                <a:hlinkClick r:id="rId4"/>
              </a:rPr>
              <a:t>https://www.sciencedirect.com/science/article/pii/S2949713224000582#:~:text=BCC%20is%20the%20most%20commonly,most%20skin%20cancer%2Drelated%20deaths.</a:t>
            </a:r>
            <a:endParaRPr sz="750"/>
          </a:p>
        </p:txBody>
      </p:sp>
      <p:pic>
        <p:nvPicPr>
          <p:cNvPr id="83" name="Google Shape;83;p15" title="skin_cancer_dist.png"/>
          <p:cNvPicPr preferRelativeResize="0"/>
          <p:nvPr/>
        </p:nvPicPr>
        <p:blipFill>
          <a:blip r:embed="rId5">
            <a:alphaModFix/>
          </a:blip>
          <a:stretch>
            <a:fillRect/>
          </a:stretch>
        </p:blipFill>
        <p:spPr>
          <a:xfrm>
            <a:off x="4888375" y="908926"/>
            <a:ext cx="3683328" cy="3759050"/>
          </a:xfrm>
          <a:prstGeom prst="rect">
            <a:avLst/>
          </a:prstGeom>
          <a:noFill/>
          <a:ln>
            <a:noFill/>
          </a:ln>
          <a:effectLst>
            <a:outerShdw blurRad="57150" rotWithShape="0" algn="bl" dir="5400000" dist="19050">
              <a:srgbClr val="000000">
                <a:alpha val="50000"/>
              </a:srgbClr>
            </a:outerShdw>
          </a:effectLst>
        </p:spPr>
      </p:pic>
      <p:sp>
        <p:nvSpPr>
          <p:cNvPr id="84" name="Google Shape;84;p15"/>
          <p:cNvSpPr txBox="1"/>
          <p:nvPr/>
        </p:nvSpPr>
        <p:spPr>
          <a:xfrm>
            <a:off x="4438950" y="140900"/>
            <a:ext cx="4582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l" sz="1600">
                <a:solidFill>
                  <a:schemeClr val="accent1"/>
                </a:solidFill>
                <a:latin typeface="Merriweather"/>
                <a:ea typeface="Merriweather"/>
                <a:cs typeface="Merriweather"/>
                <a:sym typeface="Merriweather"/>
              </a:rPr>
              <a:t>Why generalize to skin cancer instead</a:t>
            </a:r>
            <a:endParaRPr sz="1600">
              <a:solidFill>
                <a:schemeClr val="accent1"/>
              </a:solidFill>
              <a:latin typeface="Merriweather"/>
              <a:ea typeface="Merriweather"/>
              <a:cs typeface="Merriweather"/>
              <a:sym typeface="Merriweather"/>
            </a:endParaRPr>
          </a:p>
          <a:p>
            <a:pPr indent="0" lvl="0" marL="0" rtl="0" algn="ctr">
              <a:spcBef>
                <a:spcPts val="0"/>
              </a:spcBef>
              <a:spcAft>
                <a:spcPts val="0"/>
              </a:spcAft>
              <a:buNone/>
            </a:pPr>
            <a:r>
              <a:rPr lang="pl" sz="1600">
                <a:solidFill>
                  <a:schemeClr val="accent1"/>
                </a:solidFill>
                <a:latin typeface="Merriweather"/>
                <a:ea typeface="Merriweather"/>
                <a:cs typeface="Merriweather"/>
                <a:sym typeface="Merriweather"/>
              </a:rPr>
              <a:t>of focusing on melanoma?</a:t>
            </a:r>
            <a:endParaRPr sz="100"/>
          </a:p>
        </p:txBody>
      </p:sp>
      <p:sp>
        <p:nvSpPr>
          <p:cNvPr id="85" name="Google Shape;85;p15"/>
          <p:cNvSpPr txBox="1"/>
          <p:nvPr/>
        </p:nvSpPr>
        <p:spPr>
          <a:xfrm>
            <a:off x="4678500" y="4663225"/>
            <a:ext cx="4103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l" sz="1100">
                <a:solidFill>
                  <a:schemeClr val="accent1"/>
                </a:solidFill>
                <a:latin typeface="Merriweather"/>
                <a:ea typeface="Merriweather"/>
                <a:cs typeface="Merriweather"/>
                <a:sym typeface="Merriweather"/>
              </a:rPr>
              <a:t>Caveat: Using  the ABC rule for melanoma detection to predict any skin cancer (BCC, SCC or MEL)</a:t>
            </a:r>
            <a:endParaRPr sz="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311700" y="383475"/>
            <a:ext cx="8520600" cy="62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Motivation: Many existing early detection algorithms</a:t>
            </a:r>
            <a:endParaRPr/>
          </a:p>
        </p:txBody>
      </p:sp>
      <p:sp>
        <p:nvSpPr>
          <p:cNvPr id="91" name="Google Shape;91;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92" name="Google Shape;92;p16"/>
          <p:cNvPicPr preferRelativeResize="0"/>
          <p:nvPr/>
        </p:nvPicPr>
        <p:blipFill>
          <a:blip r:embed="rId3">
            <a:alphaModFix/>
          </a:blip>
          <a:stretch>
            <a:fillRect/>
          </a:stretch>
        </p:blipFill>
        <p:spPr>
          <a:xfrm>
            <a:off x="228625" y="1813488"/>
            <a:ext cx="4065749" cy="2503725"/>
          </a:xfrm>
          <a:prstGeom prst="rect">
            <a:avLst/>
          </a:prstGeom>
          <a:noFill/>
          <a:ln>
            <a:noFill/>
          </a:ln>
          <a:effectLst>
            <a:outerShdw blurRad="57150" rotWithShape="0" algn="bl" dir="5400000" dist="19050">
              <a:srgbClr val="000000">
                <a:alpha val="50000"/>
              </a:srgbClr>
            </a:outerShdw>
          </a:effectLst>
        </p:spPr>
      </p:pic>
      <p:pic>
        <p:nvPicPr>
          <p:cNvPr id="93" name="Google Shape;93;p16"/>
          <p:cNvPicPr preferRelativeResize="0"/>
          <p:nvPr/>
        </p:nvPicPr>
        <p:blipFill>
          <a:blip r:embed="rId4">
            <a:alphaModFix/>
          </a:blip>
          <a:stretch>
            <a:fillRect/>
          </a:stretch>
        </p:blipFill>
        <p:spPr>
          <a:xfrm>
            <a:off x="4475949" y="2118312"/>
            <a:ext cx="4509627" cy="1984706"/>
          </a:xfrm>
          <a:prstGeom prst="rect">
            <a:avLst/>
          </a:prstGeom>
          <a:noFill/>
          <a:ln>
            <a:noFill/>
          </a:ln>
          <a:effectLst>
            <a:outerShdw blurRad="57150" rotWithShape="0" algn="bl" dir="5400000" dist="19050">
              <a:srgbClr val="000000">
                <a:alpha val="50000"/>
              </a:srgbClr>
            </a:outerShdw>
          </a:effectLst>
        </p:spPr>
      </p:pic>
      <p:sp>
        <p:nvSpPr>
          <p:cNvPr id="94" name="Google Shape;94;p16"/>
          <p:cNvSpPr txBox="1"/>
          <p:nvPr/>
        </p:nvSpPr>
        <p:spPr>
          <a:xfrm>
            <a:off x="250600" y="4455325"/>
            <a:ext cx="402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sz="1100" u="sng">
                <a:solidFill>
                  <a:schemeClr val="hlink"/>
                </a:solidFill>
                <a:latin typeface="Roboto"/>
                <a:ea typeface="Roboto"/>
                <a:cs typeface="Roboto"/>
                <a:sym typeface="Roboto"/>
                <a:hlinkClick r:id="rId5"/>
              </a:rPr>
              <a:t>https://www.nature.com/articles/s41598-024-59783-0</a:t>
            </a:r>
            <a:endParaRPr sz="1100">
              <a:solidFill>
                <a:schemeClr val="dk2"/>
              </a:solidFill>
              <a:latin typeface="Roboto"/>
              <a:ea typeface="Roboto"/>
              <a:cs typeface="Roboto"/>
              <a:sym typeface="Roboto"/>
            </a:endParaRPr>
          </a:p>
        </p:txBody>
      </p:sp>
      <p:sp>
        <p:nvSpPr>
          <p:cNvPr id="95" name="Google Shape;95;p16"/>
          <p:cNvSpPr txBox="1"/>
          <p:nvPr/>
        </p:nvSpPr>
        <p:spPr>
          <a:xfrm>
            <a:off x="4488225" y="4243975"/>
            <a:ext cx="45096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sz="1100" u="sng">
                <a:solidFill>
                  <a:schemeClr val="hlink"/>
                </a:solidFill>
                <a:latin typeface="Roboto"/>
                <a:ea typeface="Roboto"/>
                <a:cs typeface="Roboto"/>
                <a:sym typeface="Roboto"/>
                <a:hlinkClick r:id="rId6"/>
              </a:rPr>
              <a:t>https://pmc.ncbi.nlm.nih.gov/articles/PMC8945332/</a:t>
            </a:r>
            <a:endParaRPr sz="1100">
              <a:solidFill>
                <a:schemeClr val="dk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title"/>
          </p:nvPr>
        </p:nvSpPr>
        <p:spPr>
          <a:xfrm>
            <a:off x="311700" y="304875"/>
            <a:ext cx="8520600" cy="780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Typical pipeline</a:t>
            </a:r>
            <a:endParaRPr sz="3200"/>
          </a:p>
        </p:txBody>
      </p:sp>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102" name="Google Shape;102;p17"/>
          <p:cNvSpPr txBox="1"/>
          <p:nvPr/>
        </p:nvSpPr>
        <p:spPr>
          <a:xfrm>
            <a:off x="5074025" y="4815625"/>
            <a:ext cx="402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sz="1100" u="sng">
                <a:solidFill>
                  <a:schemeClr val="hlink"/>
                </a:solidFill>
                <a:latin typeface="Roboto"/>
                <a:ea typeface="Roboto"/>
                <a:cs typeface="Roboto"/>
                <a:sym typeface="Roboto"/>
                <a:hlinkClick r:id="rId3"/>
              </a:rPr>
              <a:t>https://www.nature.com/articles/s41598-024-59783-0</a:t>
            </a:r>
            <a:endParaRPr sz="1100">
              <a:solidFill>
                <a:schemeClr val="dk2"/>
              </a:solidFill>
              <a:latin typeface="Roboto"/>
              <a:ea typeface="Roboto"/>
              <a:cs typeface="Roboto"/>
              <a:sym typeface="Roboto"/>
            </a:endParaRPr>
          </a:p>
        </p:txBody>
      </p:sp>
      <p:grpSp>
        <p:nvGrpSpPr>
          <p:cNvPr id="103" name="Google Shape;103;p17"/>
          <p:cNvGrpSpPr/>
          <p:nvPr/>
        </p:nvGrpSpPr>
        <p:grpSpPr>
          <a:xfrm>
            <a:off x="6330716" y="1470543"/>
            <a:ext cx="2460300" cy="2460300"/>
            <a:chOff x="6254516" y="1318143"/>
            <a:chExt cx="2460300" cy="2460300"/>
          </a:xfrm>
        </p:grpSpPr>
        <p:sp>
          <p:nvSpPr>
            <p:cNvPr id="104" name="Google Shape;104;p17"/>
            <p:cNvSpPr/>
            <p:nvPr/>
          </p:nvSpPr>
          <p:spPr>
            <a:xfrm rot="2700000">
              <a:off x="7239866" y="1053398"/>
              <a:ext cx="489601" cy="2989789"/>
            </a:xfrm>
            <a:prstGeom prst="roundRect">
              <a:avLst>
                <a:gd fmla="val 50000" name="adj"/>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p:nvPr/>
          </p:nvSpPr>
          <p:spPr>
            <a:xfrm>
              <a:off x="6443962"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pl" sz="900">
                  <a:solidFill>
                    <a:srgbClr val="249C91"/>
                  </a:solidFill>
                  <a:latin typeface="Roboto"/>
                  <a:ea typeface="Roboto"/>
                  <a:cs typeface="Roboto"/>
                  <a:sym typeface="Roboto"/>
                </a:rPr>
                <a:t>5</a:t>
              </a:r>
              <a:endParaRPr b="1" sz="900">
                <a:solidFill>
                  <a:srgbClr val="249C91"/>
                </a:solidFill>
                <a:latin typeface="Roboto"/>
                <a:ea typeface="Roboto"/>
                <a:cs typeface="Roboto"/>
                <a:sym typeface="Roboto"/>
              </a:endParaRPr>
            </a:p>
          </p:txBody>
        </p:sp>
        <p:sp>
          <p:nvSpPr>
            <p:cNvPr id="106" name="Google Shape;106;p17"/>
            <p:cNvSpPr txBox="1"/>
            <p:nvPr/>
          </p:nvSpPr>
          <p:spPr>
            <a:xfrm rot="-2700000">
              <a:off x="6375763" y="2297099"/>
              <a:ext cx="2378424"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rgbClr val="FFFFFF"/>
                  </a:solidFill>
                  <a:latin typeface="Roboto"/>
                  <a:ea typeface="Roboto"/>
                  <a:cs typeface="Roboto"/>
                  <a:sym typeface="Roboto"/>
                </a:rPr>
                <a:t>Evaluation</a:t>
              </a:r>
              <a:endParaRPr b="1" sz="1300">
                <a:solidFill>
                  <a:srgbClr val="FFFFFF"/>
                </a:solidFill>
                <a:latin typeface="Roboto"/>
                <a:ea typeface="Roboto"/>
                <a:cs typeface="Roboto"/>
                <a:sym typeface="Roboto"/>
              </a:endParaRPr>
            </a:p>
          </p:txBody>
        </p:sp>
      </p:grpSp>
      <p:grpSp>
        <p:nvGrpSpPr>
          <p:cNvPr id="107" name="Google Shape;107;p17"/>
          <p:cNvGrpSpPr/>
          <p:nvPr/>
        </p:nvGrpSpPr>
        <p:grpSpPr>
          <a:xfrm>
            <a:off x="4837618" y="1470543"/>
            <a:ext cx="2460300" cy="2460300"/>
            <a:chOff x="4761418" y="1318143"/>
            <a:chExt cx="2460300" cy="2460300"/>
          </a:xfrm>
        </p:grpSpPr>
        <p:sp>
          <p:nvSpPr>
            <p:cNvPr id="108" name="Google Shape;108;p17"/>
            <p:cNvSpPr/>
            <p:nvPr/>
          </p:nvSpPr>
          <p:spPr>
            <a:xfrm rot="2700000">
              <a:off x="5746767" y="1053398"/>
              <a:ext cx="489601" cy="2989789"/>
            </a:xfrm>
            <a:prstGeom prst="roundRect">
              <a:avLst>
                <a:gd fmla="val 50000" name="adj"/>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7"/>
            <p:cNvSpPr/>
            <p:nvPr/>
          </p:nvSpPr>
          <p:spPr>
            <a:xfrm>
              <a:off x="4950863"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pl" sz="900">
                  <a:solidFill>
                    <a:srgbClr val="1F887E"/>
                  </a:solidFill>
                  <a:latin typeface="Roboto"/>
                  <a:ea typeface="Roboto"/>
                  <a:cs typeface="Roboto"/>
                  <a:sym typeface="Roboto"/>
                </a:rPr>
                <a:t>4</a:t>
              </a:r>
              <a:endParaRPr b="1" sz="900">
                <a:solidFill>
                  <a:srgbClr val="1F887E"/>
                </a:solidFill>
                <a:latin typeface="Roboto"/>
                <a:ea typeface="Roboto"/>
                <a:cs typeface="Roboto"/>
                <a:sym typeface="Roboto"/>
              </a:endParaRPr>
            </a:p>
          </p:txBody>
        </p:sp>
        <p:sp>
          <p:nvSpPr>
            <p:cNvPr id="110" name="Google Shape;110;p17"/>
            <p:cNvSpPr txBox="1"/>
            <p:nvPr/>
          </p:nvSpPr>
          <p:spPr>
            <a:xfrm rot="-2700000">
              <a:off x="4896424" y="2302799"/>
              <a:ext cx="2362302"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rgbClr val="FFFFFF"/>
                  </a:solidFill>
                  <a:latin typeface="Roboto"/>
                  <a:ea typeface="Roboto"/>
                  <a:cs typeface="Roboto"/>
                  <a:sym typeface="Roboto"/>
                </a:rPr>
                <a:t>Model Training</a:t>
              </a:r>
              <a:endParaRPr b="1" sz="1300">
                <a:solidFill>
                  <a:srgbClr val="FFFFFF"/>
                </a:solidFill>
                <a:latin typeface="Roboto"/>
                <a:ea typeface="Roboto"/>
                <a:cs typeface="Roboto"/>
                <a:sym typeface="Roboto"/>
              </a:endParaRPr>
            </a:p>
          </p:txBody>
        </p:sp>
      </p:grpSp>
      <p:grpSp>
        <p:nvGrpSpPr>
          <p:cNvPr id="111" name="Google Shape;111;p17"/>
          <p:cNvGrpSpPr/>
          <p:nvPr/>
        </p:nvGrpSpPr>
        <p:grpSpPr>
          <a:xfrm>
            <a:off x="3345951" y="1470543"/>
            <a:ext cx="2460300" cy="2460300"/>
            <a:chOff x="3269751" y="1318143"/>
            <a:chExt cx="2460300" cy="2460300"/>
          </a:xfrm>
        </p:grpSpPr>
        <p:sp>
          <p:nvSpPr>
            <p:cNvPr id="112" name="Google Shape;112;p17"/>
            <p:cNvSpPr/>
            <p:nvPr/>
          </p:nvSpPr>
          <p:spPr>
            <a:xfrm rot="2700000">
              <a:off x="4255100" y="1053398"/>
              <a:ext cx="489601" cy="2989789"/>
            </a:xfrm>
            <a:prstGeom prst="roundRect">
              <a:avLst>
                <a:gd fmla="val 50000" name="adj"/>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a:off x="3459197"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pl" sz="900">
                  <a:solidFill>
                    <a:srgbClr val="1D7E75"/>
                  </a:solidFill>
                  <a:latin typeface="Roboto"/>
                  <a:ea typeface="Roboto"/>
                  <a:cs typeface="Roboto"/>
                  <a:sym typeface="Roboto"/>
                </a:rPr>
                <a:t>3</a:t>
              </a:r>
              <a:endParaRPr b="1" sz="900">
                <a:solidFill>
                  <a:srgbClr val="1D7E75"/>
                </a:solidFill>
                <a:latin typeface="Roboto"/>
                <a:ea typeface="Roboto"/>
                <a:cs typeface="Roboto"/>
                <a:sym typeface="Roboto"/>
              </a:endParaRPr>
            </a:p>
          </p:txBody>
        </p:sp>
        <p:sp>
          <p:nvSpPr>
            <p:cNvPr id="114" name="Google Shape;114;p17"/>
            <p:cNvSpPr txBox="1"/>
            <p:nvPr/>
          </p:nvSpPr>
          <p:spPr>
            <a:xfrm rot="-2700000">
              <a:off x="3404724" y="2302799"/>
              <a:ext cx="2362302"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rgbClr val="FFFFFF"/>
                  </a:solidFill>
                  <a:latin typeface="Roboto"/>
                  <a:ea typeface="Roboto"/>
                  <a:cs typeface="Roboto"/>
                  <a:sym typeface="Roboto"/>
                </a:rPr>
                <a:t>Feature Extraction</a:t>
              </a:r>
              <a:endParaRPr b="1" sz="1300">
                <a:solidFill>
                  <a:srgbClr val="FFFFFF"/>
                </a:solidFill>
                <a:latin typeface="Roboto"/>
                <a:ea typeface="Roboto"/>
                <a:cs typeface="Roboto"/>
                <a:sym typeface="Roboto"/>
              </a:endParaRPr>
            </a:p>
          </p:txBody>
        </p:sp>
      </p:grpSp>
      <p:grpSp>
        <p:nvGrpSpPr>
          <p:cNvPr id="115" name="Google Shape;115;p17"/>
          <p:cNvGrpSpPr/>
          <p:nvPr/>
        </p:nvGrpSpPr>
        <p:grpSpPr>
          <a:xfrm>
            <a:off x="1852826" y="1470543"/>
            <a:ext cx="2460300" cy="2460300"/>
            <a:chOff x="1776626" y="1318143"/>
            <a:chExt cx="2460300" cy="2460300"/>
          </a:xfrm>
        </p:grpSpPr>
        <p:grpSp>
          <p:nvGrpSpPr>
            <p:cNvPr id="116" name="Google Shape;116;p17"/>
            <p:cNvGrpSpPr/>
            <p:nvPr/>
          </p:nvGrpSpPr>
          <p:grpSpPr>
            <a:xfrm>
              <a:off x="1776626" y="1318143"/>
              <a:ext cx="2460300" cy="2460300"/>
              <a:chOff x="1776626" y="1318143"/>
              <a:chExt cx="2460300" cy="2460300"/>
            </a:xfrm>
          </p:grpSpPr>
          <p:sp>
            <p:nvSpPr>
              <p:cNvPr id="117" name="Google Shape;117;p17"/>
              <p:cNvSpPr/>
              <p:nvPr/>
            </p:nvSpPr>
            <p:spPr>
              <a:xfrm rot="2700000">
                <a:off x="2761975" y="1053398"/>
                <a:ext cx="489601" cy="2989789"/>
              </a:xfrm>
              <a:prstGeom prst="roundRect">
                <a:avLst>
                  <a:gd fmla="val 50000" name="adj"/>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txBox="1"/>
              <p:nvPr/>
            </p:nvSpPr>
            <p:spPr>
              <a:xfrm rot="-2700000">
                <a:off x="1899549" y="2297849"/>
                <a:ext cx="2376303"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rgbClr val="FFFFFF"/>
                    </a:solidFill>
                    <a:latin typeface="Roboto"/>
                    <a:ea typeface="Roboto"/>
                    <a:cs typeface="Roboto"/>
                    <a:sym typeface="Roboto"/>
                  </a:rPr>
                  <a:t>Segmentation</a:t>
                </a:r>
                <a:endParaRPr b="1" sz="1300">
                  <a:solidFill>
                    <a:srgbClr val="FFFFFF"/>
                  </a:solidFill>
                  <a:latin typeface="Roboto"/>
                  <a:ea typeface="Roboto"/>
                  <a:cs typeface="Roboto"/>
                  <a:sym typeface="Roboto"/>
                </a:endParaRPr>
              </a:p>
            </p:txBody>
          </p:sp>
        </p:grpSp>
        <p:sp>
          <p:nvSpPr>
            <p:cNvPr id="119" name="Google Shape;119;p17"/>
            <p:cNvSpPr/>
            <p:nvPr/>
          </p:nvSpPr>
          <p:spPr>
            <a:xfrm>
              <a:off x="1966072"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pl" sz="900">
                  <a:solidFill>
                    <a:srgbClr val="1B786F"/>
                  </a:solidFill>
                  <a:latin typeface="Roboto"/>
                  <a:ea typeface="Roboto"/>
                  <a:cs typeface="Roboto"/>
                  <a:sym typeface="Roboto"/>
                </a:rPr>
                <a:t>2</a:t>
              </a:r>
              <a:endParaRPr b="1" sz="900">
                <a:solidFill>
                  <a:srgbClr val="1B786F"/>
                </a:solidFill>
                <a:latin typeface="Roboto"/>
                <a:ea typeface="Roboto"/>
                <a:cs typeface="Roboto"/>
                <a:sym typeface="Roboto"/>
              </a:endParaRPr>
            </a:p>
          </p:txBody>
        </p:sp>
      </p:grpSp>
      <p:grpSp>
        <p:nvGrpSpPr>
          <p:cNvPr id="120" name="Google Shape;120;p17"/>
          <p:cNvGrpSpPr/>
          <p:nvPr/>
        </p:nvGrpSpPr>
        <p:grpSpPr>
          <a:xfrm>
            <a:off x="361159" y="1470543"/>
            <a:ext cx="2460300" cy="2460300"/>
            <a:chOff x="284959" y="1318143"/>
            <a:chExt cx="2460300" cy="2460300"/>
          </a:xfrm>
        </p:grpSpPr>
        <p:sp>
          <p:nvSpPr>
            <p:cNvPr id="121" name="Google Shape;121;p17"/>
            <p:cNvSpPr/>
            <p:nvPr/>
          </p:nvSpPr>
          <p:spPr>
            <a:xfrm rot="2700000">
              <a:off x="1270309" y="1053398"/>
              <a:ext cx="489601" cy="2989789"/>
            </a:xfrm>
            <a:prstGeom prst="roundRect">
              <a:avLst>
                <a:gd fmla="val 50000" name="adj"/>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p:nvPr/>
          </p:nvSpPr>
          <p:spPr>
            <a:xfrm>
              <a:off x="472955"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pl" sz="900">
                  <a:solidFill>
                    <a:srgbClr val="155B55"/>
                  </a:solidFill>
                  <a:latin typeface="Roboto"/>
                  <a:ea typeface="Roboto"/>
                  <a:cs typeface="Roboto"/>
                  <a:sym typeface="Roboto"/>
                </a:rPr>
                <a:t>1</a:t>
              </a:r>
              <a:endParaRPr b="1" sz="900">
                <a:solidFill>
                  <a:srgbClr val="155B55"/>
                </a:solidFill>
                <a:latin typeface="Roboto"/>
                <a:ea typeface="Roboto"/>
                <a:cs typeface="Roboto"/>
                <a:sym typeface="Roboto"/>
              </a:endParaRPr>
            </a:p>
          </p:txBody>
        </p:sp>
        <p:sp>
          <p:nvSpPr>
            <p:cNvPr id="123" name="Google Shape;123;p17"/>
            <p:cNvSpPr txBox="1"/>
            <p:nvPr/>
          </p:nvSpPr>
          <p:spPr>
            <a:xfrm rot="-2700000">
              <a:off x="414317" y="2300549"/>
              <a:ext cx="2368666"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rgbClr val="FFFFFF"/>
                  </a:solidFill>
                  <a:latin typeface="Roboto"/>
                  <a:ea typeface="Roboto"/>
                  <a:cs typeface="Roboto"/>
                  <a:sym typeface="Roboto"/>
                </a:rPr>
                <a:t>Image Preprocessing</a:t>
              </a:r>
              <a:endParaRPr b="1" sz="1300">
                <a:solidFill>
                  <a:srgbClr val="FFFFFF"/>
                </a:solidFill>
                <a:latin typeface="Roboto"/>
                <a:ea typeface="Roboto"/>
                <a:cs typeface="Roboto"/>
                <a:sym typeface="Roboto"/>
              </a:endParaRPr>
            </a:p>
          </p:txBody>
        </p:sp>
      </p:grpSp>
      <p:cxnSp>
        <p:nvCxnSpPr>
          <p:cNvPr id="124" name="Google Shape;124;p17"/>
          <p:cNvCxnSpPr/>
          <p:nvPr/>
        </p:nvCxnSpPr>
        <p:spPr>
          <a:xfrm>
            <a:off x="636005" y="3810212"/>
            <a:ext cx="476100" cy="439500"/>
          </a:xfrm>
          <a:prstGeom prst="bentConnector3">
            <a:avLst>
              <a:gd fmla="val 2567" name="adj1"/>
            </a:avLst>
          </a:prstGeom>
          <a:noFill/>
          <a:ln cap="flat" cmpd="sng" w="28575">
            <a:solidFill>
              <a:schemeClr val="accent1"/>
            </a:solidFill>
            <a:prstDash val="solid"/>
            <a:round/>
            <a:headEnd len="med" w="med" type="none"/>
            <a:tailEnd len="med" w="med" type="none"/>
          </a:ln>
        </p:spPr>
      </p:cxnSp>
      <p:sp>
        <p:nvSpPr>
          <p:cNvPr id="125" name="Google Shape;125;p17"/>
          <p:cNvSpPr txBox="1"/>
          <p:nvPr/>
        </p:nvSpPr>
        <p:spPr>
          <a:xfrm>
            <a:off x="1270600" y="4091325"/>
            <a:ext cx="24603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126" name="Google Shape;126;p17"/>
          <p:cNvSpPr txBox="1"/>
          <p:nvPr/>
        </p:nvSpPr>
        <p:spPr>
          <a:xfrm>
            <a:off x="1206601" y="4091325"/>
            <a:ext cx="2553600" cy="342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chemeClr val="accent1"/>
                </a:solidFill>
                <a:latin typeface="Roboto"/>
                <a:ea typeface="Roboto"/>
                <a:cs typeface="Roboto"/>
                <a:sym typeface="Roboto"/>
              </a:rPr>
              <a:t>Noise reduction: Hair Removal</a:t>
            </a:r>
            <a:endParaRPr b="1" sz="1300">
              <a:solidFill>
                <a:schemeClr val="accent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311700" y="371750"/>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Hair Removal: Avoiding Bias</a:t>
            </a:r>
            <a:endParaRPr/>
          </a:p>
        </p:txBody>
      </p:sp>
      <p:sp>
        <p:nvSpPr>
          <p:cNvPr id="132" name="Google Shape;13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solidFill>
                  <a:schemeClr val="dk2"/>
                </a:solidFill>
              </a:rPr>
              <a:t>‹#›</a:t>
            </a:fld>
            <a:endParaRPr>
              <a:solidFill>
                <a:schemeClr val="dk2"/>
              </a:solidFill>
            </a:endParaRPr>
          </a:p>
        </p:txBody>
      </p:sp>
      <p:pic>
        <p:nvPicPr>
          <p:cNvPr id="133" name="Google Shape;133;p18"/>
          <p:cNvPicPr preferRelativeResize="0"/>
          <p:nvPr/>
        </p:nvPicPr>
        <p:blipFill>
          <a:blip r:embed="rId3">
            <a:alphaModFix/>
          </a:blip>
          <a:stretch>
            <a:fillRect/>
          </a:stretch>
        </p:blipFill>
        <p:spPr>
          <a:xfrm>
            <a:off x="2256675" y="1360025"/>
            <a:ext cx="4630658" cy="3696790"/>
          </a:xfrm>
          <a:prstGeom prst="rect">
            <a:avLst/>
          </a:prstGeom>
          <a:noFill/>
          <a:ln>
            <a:noFill/>
          </a:ln>
          <a:effectLst>
            <a:outerShdw blurRad="57150" rotWithShape="0" algn="bl" dir="5400000" dist="19050">
              <a:srgbClr val="000000">
                <a:alpha val="50000"/>
              </a:srgbClr>
            </a:outerShdw>
          </a:effectLst>
        </p:spPr>
      </p:pic>
      <p:sp>
        <p:nvSpPr>
          <p:cNvPr id="134" name="Google Shape;134;p18"/>
          <p:cNvSpPr txBox="1"/>
          <p:nvPr/>
        </p:nvSpPr>
        <p:spPr>
          <a:xfrm>
            <a:off x="2475" y="4715125"/>
            <a:ext cx="2212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l" sz="900" u="sng">
                <a:solidFill>
                  <a:schemeClr val="accent5"/>
                </a:solidFill>
                <a:latin typeface="Roboto"/>
                <a:ea typeface="Roboto"/>
                <a:cs typeface="Roboto"/>
                <a:sym typeface="Roboto"/>
                <a:hlinkClick r:id="rId4">
                  <a:extLst>
                    <a:ext uri="{A12FA001-AC4F-418D-AE19-62706E023703}">
                      <ahyp:hlinkClr val="tx"/>
                    </a:ext>
                  </a:extLst>
                </a:hlinkClick>
              </a:rPr>
              <a:t>https://www.sciencedirect.com/science/article/abs/pii/S1746809411000048</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type="title"/>
          </p:nvPr>
        </p:nvSpPr>
        <p:spPr>
          <a:xfrm>
            <a:off x="311700" y="371750"/>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Hair Removal: Impact on Performance</a:t>
            </a:r>
            <a:endParaRPr/>
          </a:p>
        </p:txBody>
      </p:sp>
      <p:sp>
        <p:nvSpPr>
          <p:cNvPr id="140" name="Google Shape;14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solidFill>
                  <a:schemeClr val="dk2"/>
                </a:solidFill>
              </a:rPr>
              <a:t>‹#›</a:t>
            </a:fld>
            <a:endParaRPr>
              <a:solidFill>
                <a:schemeClr val="dk2"/>
              </a:solidFill>
            </a:endParaRPr>
          </a:p>
        </p:txBody>
      </p:sp>
      <p:sp>
        <p:nvSpPr>
          <p:cNvPr id="141" name="Google Shape;141;p19"/>
          <p:cNvSpPr txBox="1"/>
          <p:nvPr/>
        </p:nvSpPr>
        <p:spPr>
          <a:xfrm>
            <a:off x="5074025" y="4815625"/>
            <a:ext cx="402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sz="1100" u="sng">
                <a:solidFill>
                  <a:schemeClr val="hlink"/>
                </a:solidFill>
                <a:latin typeface="Roboto"/>
                <a:ea typeface="Roboto"/>
                <a:cs typeface="Roboto"/>
                <a:sym typeface="Roboto"/>
                <a:hlinkClick r:id="rId3"/>
              </a:rPr>
              <a:t>https://pmc.ncbi.nlm.nih.gov/articles/PMC11041978/</a:t>
            </a:r>
            <a:endParaRPr sz="1100">
              <a:solidFill>
                <a:schemeClr val="dk2"/>
              </a:solidFill>
              <a:latin typeface="Roboto"/>
              <a:ea typeface="Roboto"/>
              <a:cs typeface="Roboto"/>
              <a:sym typeface="Roboto"/>
            </a:endParaRPr>
          </a:p>
        </p:txBody>
      </p:sp>
      <p:pic>
        <p:nvPicPr>
          <p:cNvPr id="142" name="Google Shape;142;p19"/>
          <p:cNvPicPr preferRelativeResize="0"/>
          <p:nvPr/>
        </p:nvPicPr>
        <p:blipFill rotWithShape="1">
          <a:blip r:embed="rId4">
            <a:alphaModFix/>
          </a:blip>
          <a:srcRect b="0" l="768" r="699" t="1594"/>
          <a:stretch/>
        </p:blipFill>
        <p:spPr>
          <a:xfrm>
            <a:off x="1560475" y="1356125"/>
            <a:ext cx="6027176" cy="34595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311700" y="371750"/>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Research Question</a:t>
            </a:r>
            <a:endParaRPr/>
          </a:p>
        </p:txBody>
      </p:sp>
      <p:sp>
        <p:nvSpPr>
          <p:cNvPr id="148" name="Google Shape;14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solidFill>
                  <a:schemeClr val="dk2"/>
                </a:solidFill>
              </a:rPr>
              <a:t>‹#›</a:t>
            </a:fld>
            <a:endParaRPr>
              <a:solidFill>
                <a:schemeClr val="dk2"/>
              </a:solidFill>
            </a:endParaRPr>
          </a:p>
        </p:txBody>
      </p:sp>
      <p:sp>
        <p:nvSpPr>
          <p:cNvPr id="149" name="Google Shape;149;p20"/>
          <p:cNvSpPr txBox="1"/>
          <p:nvPr>
            <p:ph type="title"/>
          </p:nvPr>
        </p:nvSpPr>
        <p:spPr>
          <a:xfrm>
            <a:off x="405150" y="2148063"/>
            <a:ext cx="8333700" cy="1857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sz="3600">
                <a:solidFill>
                  <a:schemeClr val="accent1"/>
                </a:solidFill>
              </a:rPr>
              <a:t>How much does the removal of hair prior to feature extraction improve our model performance?</a:t>
            </a:r>
            <a:endParaRPr sz="3600">
              <a:solidFill>
                <a:schemeClr val="accen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155" name="Google Shape;155;p21"/>
          <p:cNvSpPr/>
          <p:nvPr/>
        </p:nvSpPr>
        <p:spPr>
          <a:xfrm>
            <a:off x="3555893" y="1450850"/>
            <a:ext cx="1538100" cy="442500"/>
          </a:xfrm>
          <a:prstGeom prst="roundRect">
            <a:avLst>
              <a:gd fmla="val 50000" name="adj"/>
            </a:avLst>
          </a:prstGeom>
          <a:solidFill>
            <a:srgbClr val="155B5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Two Models</a:t>
            </a:r>
            <a:endParaRPr>
              <a:solidFill>
                <a:srgbClr val="FFFFFF"/>
              </a:solidFill>
            </a:endParaRPr>
          </a:p>
        </p:txBody>
      </p:sp>
      <p:sp>
        <p:nvSpPr>
          <p:cNvPr id="156" name="Google Shape;156;p21"/>
          <p:cNvSpPr/>
          <p:nvPr/>
        </p:nvSpPr>
        <p:spPr>
          <a:xfrm>
            <a:off x="5890840" y="2350501"/>
            <a:ext cx="1538100" cy="442500"/>
          </a:xfrm>
          <a:prstGeom prst="roundRect">
            <a:avLst>
              <a:gd fmla="val 50000" name="adj"/>
            </a:avLst>
          </a:prstGeom>
          <a:solidFill>
            <a:srgbClr val="1D7E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Extended </a:t>
            </a:r>
            <a:endParaRPr>
              <a:solidFill>
                <a:srgbClr val="FFFFFF"/>
              </a:solidFill>
            </a:endParaRPr>
          </a:p>
        </p:txBody>
      </p:sp>
      <p:sp>
        <p:nvSpPr>
          <p:cNvPr id="157" name="Google Shape;157;p21"/>
          <p:cNvSpPr/>
          <p:nvPr/>
        </p:nvSpPr>
        <p:spPr>
          <a:xfrm>
            <a:off x="1176047" y="2350501"/>
            <a:ext cx="1538100" cy="442500"/>
          </a:xfrm>
          <a:prstGeom prst="roundRect">
            <a:avLst>
              <a:gd fmla="val 50000" name="adj"/>
            </a:avLst>
          </a:prstGeom>
          <a:solidFill>
            <a:srgbClr val="1D7E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Baseline</a:t>
            </a:r>
            <a:endParaRPr>
              <a:solidFill>
                <a:srgbClr val="FFFFFF"/>
              </a:solidFill>
            </a:endParaRPr>
          </a:p>
        </p:txBody>
      </p:sp>
      <p:sp>
        <p:nvSpPr>
          <p:cNvPr id="158" name="Google Shape;158;p21"/>
          <p:cNvSpPr/>
          <p:nvPr/>
        </p:nvSpPr>
        <p:spPr>
          <a:xfrm>
            <a:off x="144075" y="3425175"/>
            <a:ext cx="1095600" cy="314100"/>
          </a:xfrm>
          <a:prstGeom prst="roundRect">
            <a:avLst>
              <a:gd fmla="val 50000" name="adj"/>
            </a:avLst>
          </a:prstGeom>
          <a:solidFill>
            <a:srgbClr val="249C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Segmentation</a:t>
            </a:r>
            <a:endParaRPr>
              <a:solidFill>
                <a:srgbClr val="FFFFFF"/>
              </a:solidFill>
            </a:endParaRPr>
          </a:p>
        </p:txBody>
      </p:sp>
      <p:sp>
        <p:nvSpPr>
          <p:cNvPr id="159" name="Google Shape;159;p21"/>
          <p:cNvSpPr txBox="1"/>
          <p:nvPr>
            <p:ph type="title"/>
          </p:nvPr>
        </p:nvSpPr>
        <p:spPr>
          <a:xfrm>
            <a:off x="64650" y="369950"/>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Approach</a:t>
            </a:r>
            <a:endParaRPr/>
          </a:p>
        </p:txBody>
      </p:sp>
      <p:sp>
        <p:nvSpPr>
          <p:cNvPr id="160" name="Google Shape;160;p21"/>
          <p:cNvSpPr/>
          <p:nvPr/>
        </p:nvSpPr>
        <p:spPr>
          <a:xfrm>
            <a:off x="1397300" y="3425175"/>
            <a:ext cx="1095600" cy="314100"/>
          </a:xfrm>
          <a:prstGeom prst="roundRect">
            <a:avLst>
              <a:gd fmla="val 50000" name="adj"/>
            </a:avLst>
          </a:prstGeom>
          <a:solidFill>
            <a:srgbClr val="249C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Feature Extraction</a:t>
            </a:r>
            <a:endParaRPr>
              <a:solidFill>
                <a:srgbClr val="FFFFFF"/>
              </a:solidFill>
            </a:endParaRPr>
          </a:p>
        </p:txBody>
      </p:sp>
      <p:sp>
        <p:nvSpPr>
          <p:cNvPr id="161" name="Google Shape;161;p21"/>
          <p:cNvSpPr/>
          <p:nvPr/>
        </p:nvSpPr>
        <p:spPr>
          <a:xfrm>
            <a:off x="2650525" y="3425175"/>
            <a:ext cx="1152300" cy="314100"/>
          </a:xfrm>
          <a:prstGeom prst="roundRect">
            <a:avLst>
              <a:gd fmla="val 50000" name="adj"/>
            </a:avLst>
          </a:prstGeom>
          <a:solidFill>
            <a:srgbClr val="249C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Model Training</a:t>
            </a:r>
            <a:endParaRPr>
              <a:solidFill>
                <a:srgbClr val="FFFFFF"/>
              </a:solidFill>
            </a:endParaRPr>
          </a:p>
        </p:txBody>
      </p:sp>
      <p:sp>
        <p:nvSpPr>
          <p:cNvPr id="162" name="Google Shape;162;p21"/>
          <p:cNvSpPr/>
          <p:nvPr/>
        </p:nvSpPr>
        <p:spPr>
          <a:xfrm>
            <a:off x="4422750" y="3425175"/>
            <a:ext cx="1027200" cy="314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Hair Removal</a:t>
            </a:r>
            <a:endParaRPr>
              <a:solidFill>
                <a:srgbClr val="FFFFFF"/>
              </a:solidFill>
            </a:endParaRPr>
          </a:p>
        </p:txBody>
      </p:sp>
      <p:sp>
        <p:nvSpPr>
          <p:cNvPr id="163" name="Google Shape;163;p21"/>
          <p:cNvSpPr/>
          <p:nvPr/>
        </p:nvSpPr>
        <p:spPr>
          <a:xfrm>
            <a:off x="5540900" y="3425175"/>
            <a:ext cx="1095600" cy="314100"/>
          </a:xfrm>
          <a:prstGeom prst="roundRect">
            <a:avLst>
              <a:gd fmla="val 50000" name="adj"/>
            </a:avLst>
          </a:prstGeom>
          <a:solidFill>
            <a:srgbClr val="249C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Segmentation</a:t>
            </a:r>
            <a:endParaRPr>
              <a:solidFill>
                <a:srgbClr val="FFFFFF"/>
              </a:solidFill>
            </a:endParaRPr>
          </a:p>
        </p:txBody>
      </p:sp>
      <p:sp>
        <p:nvSpPr>
          <p:cNvPr id="164" name="Google Shape;164;p21"/>
          <p:cNvSpPr/>
          <p:nvPr/>
        </p:nvSpPr>
        <p:spPr>
          <a:xfrm>
            <a:off x="6727450" y="3425175"/>
            <a:ext cx="969900" cy="314100"/>
          </a:xfrm>
          <a:prstGeom prst="roundRect">
            <a:avLst>
              <a:gd fmla="val 50000" name="adj"/>
            </a:avLst>
          </a:prstGeom>
          <a:solidFill>
            <a:srgbClr val="249C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Feature Extraction</a:t>
            </a:r>
            <a:endParaRPr>
              <a:solidFill>
                <a:srgbClr val="FFFFFF"/>
              </a:solidFill>
            </a:endParaRPr>
          </a:p>
        </p:txBody>
      </p:sp>
      <p:sp>
        <p:nvSpPr>
          <p:cNvPr id="165" name="Google Shape;165;p21"/>
          <p:cNvSpPr/>
          <p:nvPr/>
        </p:nvSpPr>
        <p:spPr>
          <a:xfrm>
            <a:off x="7788300" y="3425175"/>
            <a:ext cx="1095600" cy="314100"/>
          </a:xfrm>
          <a:prstGeom prst="roundRect">
            <a:avLst>
              <a:gd fmla="val 50000" name="adj"/>
            </a:avLst>
          </a:prstGeom>
          <a:solidFill>
            <a:srgbClr val="249C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Model Training</a:t>
            </a:r>
            <a:endParaRPr>
              <a:solidFill>
                <a:srgbClr val="FFFFFF"/>
              </a:solidFill>
            </a:endParaRPr>
          </a:p>
        </p:txBody>
      </p:sp>
      <p:cxnSp>
        <p:nvCxnSpPr>
          <p:cNvPr id="166" name="Google Shape;166;p21"/>
          <p:cNvCxnSpPr>
            <a:stCxn id="155" idx="2"/>
          </p:cNvCxnSpPr>
          <p:nvPr/>
        </p:nvCxnSpPr>
        <p:spPr>
          <a:xfrm flipH="1">
            <a:off x="2779343" y="1893350"/>
            <a:ext cx="1545600" cy="488700"/>
          </a:xfrm>
          <a:prstGeom prst="straightConnector1">
            <a:avLst/>
          </a:prstGeom>
          <a:noFill/>
          <a:ln cap="flat" cmpd="sng" w="9525">
            <a:solidFill>
              <a:schemeClr val="dk2"/>
            </a:solidFill>
            <a:prstDash val="solid"/>
            <a:round/>
            <a:headEnd len="med" w="med" type="none"/>
            <a:tailEnd len="med" w="med" type="triangle"/>
          </a:ln>
        </p:spPr>
      </p:cxnSp>
      <p:cxnSp>
        <p:nvCxnSpPr>
          <p:cNvPr id="167" name="Google Shape;167;p21"/>
          <p:cNvCxnSpPr>
            <a:stCxn id="155" idx="2"/>
          </p:cNvCxnSpPr>
          <p:nvPr/>
        </p:nvCxnSpPr>
        <p:spPr>
          <a:xfrm>
            <a:off x="4324943" y="1893350"/>
            <a:ext cx="1568700" cy="480000"/>
          </a:xfrm>
          <a:prstGeom prst="straightConnector1">
            <a:avLst/>
          </a:prstGeom>
          <a:noFill/>
          <a:ln cap="flat" cmpd="sng" w="9525">
            <a:solidFill>
              <a:schemeClr val="dk2"/>
            </a:solidFill>
            <a:prstDash val="solid"/>
            <a:round/>
            <a:headEnd len="med" w="med" type="none"/>
            <a:tailEnd len="med" w="med" type="triangle"/>
          </a:ln>
        </p:spPr>
      </p:cxnSp>
      <p:cxnSp>
        <p:nvCxnSpPr>
          <p:cNvPr id="168" name="Google Shape;168;p21"/>
          <p:cNvCxnSpPr>
            <a:stCxn id="157" idx="2"/>
          </p:cNvCxnSpPr>
          <p:nvPr/>
        </p:nvCxnSpPr>
        <p:spPr>
          <a:xfrm>
            <a:off x="1945097" y="2793001"/>
            <a:ext cx="4800" cy="48900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21"/>
          <p:cNvCxnSpPr>
            <a:stCxn id="157" idx="2"/>
          </p:cNvCxnSpPr>
          <p:nvPr/>
        </p:nvCxnSpPr>
        <p:spPr>
          <a:xfrm flipH="1">
            <a:off x="670397" y="2793001"/>
            <a:ext cx="1274700" cy="497700"/>
          </a:xfrm>
          <a:prstGeom prst="straightConnector1">
            <a:avLst/>
          </a:prstGeom>
          <a:noFill/>
          <a:ln cap="flat" cmpd="sng" w="9525">
            <a:solidFill>
              <a:schemeClr val="dk2"/>
            </a:solidFill>
            <a:prstDash val="solid"/>
            <a:round/>
            <a:headEnd len="med" w="med" type="none"/>
            <a:tailEnd len="med" w="med" type="triangle"/>
          </a:ln>
        </p:spPr>
      </p:cxnSp>
      <p:cxnSp>
        <p:nvCxnSpPr>
          <p:cNvPr id="170" name="Google Shape;170;p21"/>
          <p:cNvCxnSpPr/>
          <p:nvPr/>
        </p:nvCxnSpPr>
        <p:spPr>
          <a:xfrm>
            <a:off x="1945100" y="2790450"/>
            <a:ext cx="1195800" cy="500400"/>
          </a:xfrm>
          <a:prstGeom prst="straightConnector1">
            <a:avLst/>
          </a:prstGeom>
          <a:noFill/>
          <a:ln cap="flat" cmpd="sng" w="9525">
            <a:solidFill>
              <a:schemeClr val="dk2"/>
            </a:solidFill>
            <a:prstDash val="solid"/>
            <a:round/>
            <a:headEnd len="med" w="med" type="none"/>
            <a:tailEnd len="med" w="med" type="triangle"/>
          </a:ln>
        </p:spPr>
      </p:cxnSp>
      <p:cxnSp>
        <p:nvCxnSpPr>
          <p:cNvPr id="171" name="Google Shape;171;p21"/>
          <p:cNvCxnSpPr>
            <a:stCxn id="156" idx="2"/>
          </p:cNvCxnSpPr>
          <p:nvPr/>
        </p:nvCxnSpPr>
        <p:spPr>
          <a:xfrm flipH="1">
            <a:off x="6343390" y="2793001"/>
            <a:ext cx="316500" cy="462000"/>
          </a:xfrm>
          <a:prstGeom prst="straightConnector1">
            <a:avLst/>
          </a:prstGeom>
          <a:noFill/>
          <a:ln cap="flat" cmpd="sng" w="9525">
            <a:solidFill>
              <a:schemeClr val="dk2"/>
            </a:solidFill>
            <a:prstDash val="solid"/>
            <a:round/>
            <a:headEnd len="med" w="med" type="none"/>
            <a:tailEnd len="med" w="med" type="triangle"/>
          </a:ln>
        </p:spPr>
      </p:cxnSp>
      <p:cxnSp>
        <p:nvCxnSpPr>
          <p:cNvPr id="172" name="Google Shape;172;p21"/>
          <p:cNvCxnSpPr>
            <a:stCxn id="156" idx="2"/>
          </p:cNvCxnSpPr>
          <p:nvPr/>
        </p:nvCxnSpPr>
        <p:spPr>
          <a:xfrm flipH="1">
            <a:off x="4984690" y="2793001"/>
            <a:ext cx="1675200" cy="506700"/>
          </a:xfrm>
          <a:prstGeom prst="straightConnector1">
            <a:avLst/>
          </a:prstGeom>
          <a:noFill/>
          <a:ln cap="flat" cmpd="sng" w="9525">
            <a:solidFill>
              <a:schemeClr val="dk2"/>
            </a:solidFill>
            <a:prstDash val="solid"/>
            <a:round/>
            <a:headEnd len="med" w="med" type="none"/>
            <a:tailEnd len="med" w="med" type="triangle"/>
          </a:ln>
        </p:spPr>
      </p:cxnSp>
      <p:cxnSp>
        <p:nvCxnSpPr>
          <p:cNvPr id="173" name="Google Shape;173;p21"/>
          <p:cNvCxnSpPr/>
          <p:nvPr/>
        </p:nvCxnSpPr>
        <p:spPr>
          <a:xfrm>
            <a:off x="6659890" y="2790451"/>
            <a:ext cx="1650900" cy="509100"/>
          </a:xfrm>
          <a:prstGeom prst="straightConnector1">
            <a:avLst/>
          </a:prstGeom>
          <a:noFill/>
          <a:ln cap="flat" cmpd="sng" w="9525">
            <a:solidFill>
              <a:schemeClr val="dk2"/>
            </a:solidFill>
            <a:prstDash val="solid"/>
            <a:round/>
            <a:headEnd len="med" w="med" type="none"/>
            <a:tailEnd len="med" w="med" type="triangle"/>
          </a:ln>
        </p:spPr>
      </p:cxnSp>
      <p:cxnSp>
        <p:nvCxnSpPr>
          <p:cNvPr id="174" name="Google Shape;174;p21"/>
          <p:cNvCxnSpPr/>
          <p:nvPr/>
        </p:nvCxnSpPr>
        <p:spPr>
          <a:xfrm>
            <a:off x="6659890" y="2790451"/>
            <a:ext cx="433500" cy="465000"/>
          </a:xfrm>
          <a:prstGeom prst="straightConnector1">
            <a:avLst/>
          </a:prstGeom>
          <a:noFill/>
          <a:ln cap="flat" cmpd="sng" w="9525">
            <a:solidFill>
              <a:schemeClr val="dk2"/>
            </a:solidFill>
            <a:prstDash val="solid"/>
            <a:round/>
            <a:headEnd len="med" w="med" type="none"/>
            <a:tailEnd len="med" w="med" type="triangle"/>
          </a:ln>
        </p:spPr>
      </p:cxnSp>
      <p:cxnSp>
        <p:nvCxnSpPr>
          <p:cNvPr id="175" name="Google Shape;175;p21"/>
          <p:cNvCxnSpPr>
            <a:stCxn id="176" idx="3"/>
            <a:endCxn id="177" idx="1"/>
          </p:cNvCxnSpPr>
          <p:nvPr/>
        </p:nvCxnSpPr>
        <p:spPr>
          <a:xfrm>
            <a:off x="4807600" y="4376850"/>
            <a:ext cx="1276200" cy="0"/>
          </a:xfrm>
          <a:prstGeom prst="straightConnector1">
            <a:avLst/>
          </a:prstGeom>
          <a:noFill/>
          <a:ln cap="flat" cmpd="sng" w="9525">
            <a:solidFill>
              <a:schemeClr val="dk2"/>
            </a:solidFill>
            <a:prstDash val="solid"/>
            <a:round/>
            <a:headEnd len="med" w="med" type="triangle"/>
            <a:tailEnd len="med" w="med" type="triangle"/>
          </a:ln>
        </p:spPr>
      </p:cxnSp>
      <p:cxnSp>
        <p:nvCxnSpPr>
          <p:cNvPr id="178" name="Google Shape;178;p21"/>
          <p:cNvCxnSpPr>
            <a:stCxn id="176" idx="1"/>
            <a:endCxn id="179" idx="3"/>
          </p:cNvCxnSpPr>
          <p:nvPr/>
        </p:nvCxnSpPr>
        <p:spPr>
          <a:xfrm rot="10800000">
            <a:off x="2521300" y="4376850"/>
            <a:ext cx="1134000" cy="0"/>
          </a:xfrm>
          <a:prstGeom prst="straightConnector1">
            <a:avLst/>
          </a:prstGeom>
          <a:noFill/>
          <a:ln cap="flat" cmpd="sng" w="9525">
            <a:solidFill>
              <a:schemeClr val="dk2"/>
            </a:solidFill>
            <a:prstDash val="solid"/>
            <a:round/>
            <a:headEnd len="med" w="med" type="triangle"/>
            <a:tailEnd len="med" w="med" type="triangle"/>
          </a:ln>
        </p:spPr>
      </p:cxnSp>
      <p:sp>
        <p:nvSpPr>
          <p:cNvPr id="179" name="Google Shape;179;p21"/>
          <p:cNvSpPr/>
          <p:nvPr/>
        </p:nvSpPr>
        <p:spPr>
          <a:xfrm>
            <a:off x="1368950" y="4219800"/>
            <a:ext cx="1152300" cy="314100"/>
          </a:xfrm>
          <a:prstGeom prst="roundRect">
            <a:avLst>
              <a:gd fmla="val 50000" name="adj"/>
            </a:avLst>
          </a:prstGeom>
          <a:solidFill>
            <a:srgbClr val="1F88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Evaluation</a:t>
            </a:r>
            <a:endParaRPr>
              <a:solidFill>
                <a:srgbClr val="FFFFFF"/>
              </a:solidFill>
            </a:endParaRPr>
          </a:p>
        </p:txBody>
      </p:sp>
      <p:sp>
        <p:nvSpPr>
          <p:cNvPr id="177" name="Google Shape;177;p21"/>
          <p:cNvSpPr/>
          <p:nvPr/>
        </p:nvSpPr>
        <p:spPr>
          <a:xfrm>
            <a:off x="6083750" y="4219800"/>
            <a:ext cx="1152300" cy="314100"/>
          </a:xfrm>
          <a:prstGeom prst="roundRect">
            <a:avLst>
              <a:gd fmla="val 50000" name="adj"/>
            </a:avLst>
          </a:prstGeom>
          <a:solidFill>
            <a:srgbClr val="1F88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Evaluation </a:t>
            </a:r>
            <a:endParaRPr>
              <a:solidFill>
                <a:srgbClr val="FFFFFF"/>
              </a:solidFill>
            </a:endParaRPr>
          </a:p>
        </p:txBody>
      </p:sp>
      <p:sp>
        <p:nvSpPr>
          <p:cNvPr id="176" name="Google Shape;176;p21"/>
          <p:cNvSpPr/>
          <p:nvPr/>
        </p:nvSpPr>
        <p:spPr>
          <a:xfrm>
            <a:off x="3655300" y="4219800"/>
            <a:ext cx="1152300" cy="314100"/>
          </a:xfrm>
          <a:prstGeom prst="roundRect">
            <a:avLst>
              <a:gd fmla="val 50000" name="adj"/>
            </a:avLst>
          </a:prstGeom>
          <a:solidFill>
            <a:srgbClr val="1F887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l" sz="1000">
                <a:solidFill>
                  <a:srgbClr val="FFFFFF"/>
                </a:solidFill>
                <a:latin typeface="Roboto"/>
                <a:ea typeface="Roboto"/>
                <a:cs typeface="Roboto"/>
                <a:sym typeface="Roboto"/>
              </a:rPr>
              <a:t>Compare</a:t>
            </a:r>
            <a:endParaRPr>
              <a:solidFill>
                <a:srgbClr val="FFFFFF"/>
              </a:solidFill>
            </a:endParaRPr>
          </a:p>
        </p:txBody>
      </p:sp>
      <p:sp>
        <p:nvSpPr>
          <p:cNvPr id="180" name="Google Shape;180;p21"/>
          <p:cNvSpPr/>
          <p:nvPr/>
        </p:nvSpPr>
        <p:spPr>
          <a:xfrm rot="-5400000">
            <a:off x="1787150" y="2141600"/>
            <a:ext cx="396300" cy="3675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1" name="Google Shape;181;p21"/>
          <p:cNvSpPr/>
          <p:nvPr/>
        </p:nvSpPr>
        <p:spPr>
          <a:xfrm rot="-5400000">
            <a:off x="6461750" y="1695188"/>
            <a:ext cx="396300" cy="45687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22"/>
          <p:cNvSpPr txBox="1"/>
          <p:nvPr>
            <p:ph type="title"/>
          </p:nvPr>
        </p:nvSpPr>
        <p:spPr>
          <a:xfrm>
            <a:off x="311725" y="388775"/>
            <a:ext cx="8520600" cy="73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l" sz="3600"/>
              <a:t>Workflow</a:t>
            </a:r>
            <a:endParaRPr sz="3600"/>
          </a:p>
        </p:txBody>
      </p:sp>
      <p:sp>
        <p:nvSpPr>
          <p:cNvPr id="187" name="Google Shape;18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grpSp>
        <p:nvGrpSpPr>
          <p:cNvPr id="188" name="Google Shape;188;p22"/>
          <p:cNvGrpSpPr/>
          <p:nvPr/>
        </p:nvGrpSpPr>
        <p:grpSpPr>
          <a:xfrm>
            <a:off x="5464058" y="1879327"/>
            <a:ext cx="2175643" cy="2303579"/>
            <a:chOff x="6254516" y="1318143"/>
            <a:chExt cx="2460300" cy="2460300"/>
          </a:xfrm>
        </p:grpSpPr>
        <p:sp>
          <p:nvSpPr>
            <p:cNvPr id="189" name="Google Shape;189;p22"/>
            <p:cNvSpPr/>
            <p:nvPr/>
          </p:nvSpPr>
          <p:spPr>
            <a:xfrm rot="2700000">
              <a:off x="7239866" y="1053398"/>
              <a:ext cx="489601" cy="2989789"/>
            </a:xfrm>
            <a:prstGeom prst="roundRect">
              <a:avLst>
                <a:gd fmla="val 50000" name="adj"/>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
            <p:cNvSpPr/>
            <p:nvPr/>
          </p:nvSpPr>
          <p:spPr>
            <a:xfrm>
              <a:off x="6443962"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pl" sz="900">
                  <a:solidFill>
                    <a:srgbClr val="249C91"/>
                  </a:solidFill>
                  <a:latin typeface="Roboto"/>
                  <a:ea typeface="Roboto"/>
                  <a:cs typeface="Roboto"/>
                  <a:sym typeface="Roboto"/>
                </a:rPr>
                <a:t>5</a:t>
              </a:r>
              <a:endParaRPr b="1" sz="900">
                <a:solidFill>
                  <a:srgbClr val="249C91"/>
                </a:solidFill>
                <a:latin typeface="Roboto"/>
                <a:ea typeface="Roboto"/>
                <a:cs typeface="Roboto"/>
                <a:sym typeface="Roboto"/>
              </a:endParaRPr>
            </a:p>
          </p:txBody>
        </p:sp>
        <p:sp>
          <p:nvSpPr>
            <p:cNvPr id="191" name="Google Shape;191;p22"/>
            <p:cNvSpPr txBox="1"/>
            <p:nvPr/>
          </p:nvSpPr>
          <p:spPr>
            <a:xfrm rot="-2700000">
              <a:off x="6375763" y="2297099"/>
              <a:ext cx="2378424"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rgbClr val="FFFFFF"/>
                  </a:solidFill>
                  <a:latin typeface="Roboto"/>
                  <a:ea typeface="Roboto"/>
                  <a:cs typeface="Roboto"/>
                  <a:sym typeface="Roboto"/>
                </a:rPr>
                <a:t>Integrate Hair Removal</a:t>
              </a:r>
              <a:endParaRPr b="1" sz="1300">
                <a:solidFill>
                  <a:srgbClr val="FFFFFF"/>
                </a:solidFill>
                <a:latin typeface="Roboto"/>
                <a:ea typeface="Roboto"/>
                <a:cs typeface="Roboto"/>
                <a:sym typeface="Roboto"/>
              </a:endParaRPr>
            </a:p>
          </p:txBody>
        </p:sp>
      </p:grpSp>
      <p:grpSp>
        <p:nvGrpSpPr>
          <p:cNvPr id="192" name="Google Shape;192;p22"/>
          <p:cNvGrpSpPr/>
          <p:nvPr/>
        </p:nvGrpSpPr>
        <p:grpSpPr>
          <a:xfrm>
            <a:off x="4143711" y="1879327"/>
            <a:ext cx="2175643" cy="2303579"/>
            <a:chOff x="4761418" y="1318143"/>
            <a:chExt cx="2460300" cy="2460300"/>
          </a:xfrm>
        </p:grpSpPr>
        <p:sp>
          <p:nvSpPr>
            <p:cNvPr id="193" name="Google Shape;193;p22"/>
            <p:cNvSpPr/>
            <p:nvPr/>
          </p:nvSpPr>
          <p:spPr>
            <a:xfrm rot="2700000">
              <a:off x="5746767" y="1053398"/>
              <a:ext cx="489601" cy="2989789"/>
            </a:xfrm>
            <a:prstGeom prst="roundRect">
              <a:avLst>
                <a:gd fmla="val 50000" name="adj"/>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p:nvPr/>
          </p:nvSpPr>
          <p:spPr>
            <a:xfrm>
              <a:off x="4950863"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pl" sz="900">
                  <a:solidFill>
                    <a:srgbClr val="1F887E"/>
                  </a:solidFill>
                  <a:latin typeface="Roboto"/>
                  <a:ea typeface="Roboto"/>
                  <a:cs typeface="Roboto"/>
                  <a:sym typeface="Roboto"/>
                </a:rPr>
                <a:t>4</a:t>
              </a:r>
              <a:endParaRPr b="1" sz="900">
                <a:solidFill>
                  <a:srgbClr val="1F887E"/>
                </a:solidFill>
                <a:latin typeface="Roboto"/>
                <a:ea typeface="Roboto"/>
                <a:cs typeface="Roboto"/>
                <a:sym typeface="Roboto"/>
              </a:endParaRPr>
            </a:p>
          </p:txBody>
        </p:sp>
        <p:sp>
          <p:nvSpPr>
            <p:cNvPr id="195" name="Google Shape;195;p22"/>
            <p:cNvSpPr txBox="1"/>
            <p:nvPr/>
          </p:nvSpPr>
          <p:spPr>
            <a:xfrm rot="-2700000">
              <a:off x="4896424" y="2302799"/>
              <a:ext cx="2362302"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rgbClr val="FFFFFF"/>
                  </a:solidFill>
                  <a:latin typeface="Roboto"/>
                  <a:ea typeface="Roboto"/>
                  <a:cs typeface="Roboto"/>
                  <a:sym typeface="Roboto"/>
                </a:rPr>
                <a:t>Select Baseline Model</a:t>
              </a:r>
              <a:endParaRPr b="1" sz="1300">
                <a:solidFill>
                  <a:srgbClr val="FFFFFF"/>
                </a:solidFill>
                <a:latin typeface="Roboto"/>
                <a:ea typeface="Roboto"/>
                <a:cs typeface="Roboto"/>
                <a:sym typeface="Roboto"/>
              </a:endParaRPr>
            </a:p>
          </p:txBody>
        </p:sp>
      </p:grpSp>
      <p:grpSp>
        <p:nvGrpSpPr>
          <p:cNvPr id="196" name="Google Shape;196;p22"/>
          <p:cNvGrpSpPr/>
          <p:nvPr/>
        </p:nvGrpSpPr>
        <p:grpSpPr>
          <a:xfrm>
            <a:off x="2824630" y="1800053"/>
            <a:ext cx="2233898" cy="2382853"/>
            <a:chOff x="3269751" y="1233476"/>
            <a:chExt cx="2526176" cy="2544967"/>
          </a:xfrm>
        </p:grpSpPr>
        <p:sp>
          <p:nvSpPr>
            <p:cNvPr id="197" name="Google Shape;197;p22"/>
            <p:cNvSpPr/>
            <p:nvPr/>
          </p:nvSpPr>
          <p:spPr>
            <a:xfrm rot="2700000">
              <a:off x="4255100" y="1053398"/>
              <a:ext cx="489601" cy="2989789"/>
            </a:xfrm>
            <a:prstGeom prst="roundRect">
              <a:avLst>
                <a:gd fmla="val 50000" name="adj"/>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2"/>
            <p:cNvSpPr/>
            <p:nvPr/>
          </p:nvSpPr>
          <p:spPr>
            <a:xfrm>
              <a:off x="3459197"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pl" sz="900">
                  <a:solidFill>
                    <a:srgbClr val="1D7E75"/>
                  </a:solidFill>
                  <a:latin typeface="Roboto"/>
                  <a:ea typeface="Roboto"/>
                  <a:cs typeface="Roboto"/>
                  <a:sym typeface="Roboto"/>
                </a:rPr>
                <a:t>3</a:t>
              </a:r>
              <a:endParaRPr b="1" sz="900">
                <a:solidFill>
                  <a:srgbClr val="1D7E75"/>
                </a:solidFill>
                <a:latin typeface="Roboto"/>
                <a:ea typeface="Roboto"/>
                <a:cs typeface="Roboto"/>
                <a:sym typeface="Roboto"/>
              </a:endParaRPr>
            </a:p>
          </p:txBody>
        </p:sp>
        <p:sp>
          <p:nvSpPr>
            <p:cNvPr id="199" name="Google Shape;199;p22"/>
            <p:cNvSpPr txBox="1"/>
            <p:nvPr/>
          </p:nvSpPr>
          <p:spPr>
            <a:xfrm rot="-2700000">
              <a:off x="3313386" y="2148573"/>
              <a:ext cx="2748383" cy="3865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rgbClr val="FFFFFF"/>
                  </a:solidFill>
                  <a:latin typeface="Roboto"/>
                  <a:ea typeface="Roboto"/>
                  <a:cs typeface="Roboto"/>
                  <a:sym typeface="Roboto"/>
                </a:rPr>
                <a:t>Implement </a:t>
              </a:r>
              <a:r>
                <a:rPr b="1" lang="pl" sz="1300">
                  <a:solidFill>
                    <a:srgbClr val="FFFFFF"/>
                  </a:solidFill>
                  <a:latin typeface="Roboto"/>
                  <a:ea typeface="Roboto"/>
                  <a:cs typeface="Roboto"/>
                  <a:sym typeface="Roboto"/>
                </a:rPr>
                <a:t>Feature Extraction</a:t>
              </a:r>
              <a:endParaRPr b="1" sz="1300">
                <a:solidFill>
                  <a:srgbClr val="FFFFFF"/>
                </a:solidFill>
                <a:latin typeface="Roboto"/>
                <a:ea typeface="Roboto"/>
                <a:cs typeface="Roboto"/>
                <a:sym typeface="Roboto"/>
              </a:endParaRPr>
            </a:p>
          </p:txBody>
        </p:sp>
      </p:grpSp>
      <p:grpSp>
        <p:nvGrpSpPr>
          <p:cNvPr id="200" name="Google Shape;200;p22"/>
          <p:cNvGrpSpPr/>
          <p:nvPr/>
        </p:nvGrpSpPr>
        <p:grpSpPr>
          <a:xfrm>
            <a:off x="1504260" y="1879327"/>
            <a:ext cx="2175643" cy="2303579"/>
            <a:chOff x="1776626" y="1318143"/>
            <a:chExt cx="2460300" cy="2460300"/>
          </a:xfrm>
        </p:grpSpPr>
        <p:grpSp>
          <p:nvGrpSpPr>
            <p:cNvPr id="201" name="Google Shape;201;p22"/>
            <p:cNvGrpSpPr/>
            <p:nvPr/>
          </p:nvGrpSpPr>
          <p:grpSpPr>
            <a:xfrm>
              <a:off x="1776626" y="1318143"/>
              <a:ext cx="2460300" cy="2460300"/>
              <a:chOff x="1776626" y="1318143"/>
              <a:chExt cx="2460300" cy="2460300"/>
            </a:xfrm>
          </p:grpSpPr>
          <p:sp>
            <p:nvSpPr>
              <p:cNvPr id="202" name="Google Shape;202;p22"/>
              <p:cNvSpPr/>
              <p:nvPr/>
            </p:nvSpPr>
            <p:spPr>
              <a:xfrm rot="2700000">
                <a:off x="2761975" y="1053398"/>
                <a:ext cx="489601" cy="2989789"/>
              </a:xfrm>
              <a:prstGeom prst="roundRect">
                <a:avLst>
                  <a:gd fmla="val 50000" name="adj"/>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2"/>
              <p:cNvSpPr txBox="1"/>
              <p:nvPr/>
            </p:nvSpPr>
            <p:spPr>
              <a:xfrm rot="-2700000">
                <a:off x="1899549" y="2297849"/>
                <a:ext cx="2376303"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rgbClr val="FFFFFF"/>
                    </a:solidFill>
                    <a:latin typeface="Roboto"/>
                    <a:ea typeface="Roboto"/>
                    <a:cs typeface="Roboto"/>
                    <a:sym typeface="Roboto"/>
                  </a:rPr>
                  <a:t>Inspect Masks &amp; Augment</a:t>
                </a:r>
                <a:endParaRPr b="1" sz="1300">
                  <a:solidFill>
                    <a:srgbClr val="FFFFFF"/>
                  </a:solidFill>
                  <a:latin typeface="Roboto"/>
                  <a:ea typeface="Roboto"/>
                  <a:cs typeface="Roboto"/>
                  <a:sym typeface="Roboto"/>
                </a:endParaRPr>
              </a:p>
            </p:txBody>
          </p:sp>
        </p:grpSp>
        <p:sp>
          <p:nvSpPr>
            <p:cNvPr id="204" name="Google Shape;204;p22"/>
            <p:cNvSpPr/>
            <p:nvPr/>
          </p:nvSpPr>
          <p:spPr>
            <a:xfrm>
              <a:off x="1966072"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pl" sz="900">
                  <a:solidFill>
                    <a:srgbClr val="1B786F"/>
                  </a:solidFill>
                  <a:latin typeface="Roboto"/>
                  <a:ea typeface="Roboto"/>
                  <a:cs typeface="Roboto"/>
                  <a:sym typeface="Roboto"/>
                </a:rPr>
                <a:t>2</a:t>
              </a:r>
              <a:endParaRPr b="1" sz="900">
                <a:solidFill>
                  <a:srgbClr val="1B786F"/>
                </a:solidFill>
                <a:latin typeface="Roboto"/>
                <a:ea typeface="Roboto"/>
                <a:cs typeface="Roboto"/>
                <a:sym typeface="Roboto"/>
              </a:endParaRPr>
            </a:p>
          </p:txBody>
        </p:sp>
      </p:grpSp>
      <p:grpSp>
        <p:nvGrpSpPr>
          <p:cNvPr id="205" name="Google Shape;205;p22"/>
          <p:cNvGrpSpPr/>
          <p:nvPr/>
        </p:nvGrpSpPr>
        <p:grpSpPr>
          <a:xfrm>
            <a:off x="185179" y="1879327"/>
            <a:ext cx="2175643" cy="2303579"/>
            <a:chOff x="284959" y="1318143"/>
            <a:chExt cx="2460300" cy="2460300"/>
          </a:xfrm>
        </p:grpSpPr>
        <p:sp>
          <p:nvSpPr>
            <p:cNvPr id="206" name="Google Shape;206;p22"/>
            <p:cNvSpPr/>
            <p:nvPr/>
          </p:nvSpPr>
          <p:spPr>
            <a:xfrm rot="2700000">
              <a:off x="1270309" y="1053398"/>
              <a:ext cx="489601" cy="2989789"/>
            </a:xfrm>
            <a:prstGeom prst="roundRect">
              <a:avLst>
                <a:gd fmla="val 50000" name="adj"/>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2"/>
            <p:cNvSpPr/>
            <p:nvPr/>
          </p:nvSpPr>
          <p:spPr>
            <a:xfrm>
              <a:off x="472955"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pl" sz="900">
                  <a:solidFill>
                    <a:srgbClr val="155B55"/>
                  </a:solidFill>
                  <a:latin typeface="Roboto"/>
                  <a:ea typeface="Roboto"/>
                  <a:cs typeface="Roboto"/>
                  <a:sym typeface="Roboto"/>
                </a:rPr>
                <a:t>1</a:t>
              </a:r>
              <a:endParaRPr b="1" sz="900">
                <a:solidFill>
                  <a:srgbClr val="155B55"/>
                </a:solidFill>
                <a:latin typeface="Roboto"/>
                <a:ea typeface="Roboto"/>
                <a:cs typeface="Roboto"/>
                <a:sym typeface="Roboto"/>
              </a:endParaRPr>
            </a:p>
          </p:txBody>
        </p:sp>
        <p:sp>
          <p:nvSpPr>
            <p:cNvPr id="208" name="Google Shape;208;p22"/>
            <p:cNvSpPr txBox="1"/>
            <p:nvPr/>
          </p:nvSpPr>
          <p:spPr>
            <a:xfrm rot="-2700000">
              <a:off x="414317" y="2300549"/>
              <a:ext cx="2368666"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rgbClr val="FFFFFF"/>
                  </a:solidFill>
                  <a:latin typeface="Roboto"/>
                  <a:ea typeface="Roboto"/>
                  <a:cs typeface="Roboto"/>
                  <a:sym typeface="Roboto"/>
                </a:rPr>
                <a:t>Inspect Dataset</a:t>
              </a:r>
              <a:endParaRPr b="1" sz="1300">
                <a:solidFill>
                  <a:srgbClr val="FFFFFF"/>
                </a:solidFill>
                <a:latin typeface="Roboto"/>
                <a:ea typeface="Roboto"/>
                <a:cs typeface="Roboto"/>
                <a:sym typeface="Roboto"/>
              </a:endParaRPr>
            </a:p>
          </p:txBody>
        </p:sp>
      </p:grpSp>
      <p:grpSp>
        <p:nvGrpSpPr>
          <p:cNvPr id="209" name="Google Shape;209;p22"/>
          <p:cNvGrpSpPr/>
          <p:nvPr/>
        </p:nvGrpSpPr>
        <p:grpSpPr>
          <a:xfrm>
            <a:off x="6783158" y="1879327"/>
            <a:ext cx="2175643" cy="2303579"/>
            <a:chOff x="6254516" y="1318143"/>
            <a:chExt cx="2460300" cy="2460300"/>
          </a:xfrm>
        </p:grpSpPr>
        <p:sp>
          <p:nvSpPr>
            <p:cNvPr id="210" name="Google Shape;210;p22"/>
            <p:cNvSpPr/>
            <p:nvPr/>
          </p:nvSpPr>
          <p:spPr>
            <a:xfrm rot="2700000">
              <a:off x="7239866" y="1053398"/>
              <a:ext cx="489601" cy="2989789"/>
            </a:xfrm>
            <a:prstGeom prst="roundRect">
              <a:avLst>
                <a:gd fmla="val 50000" name="adj"/>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p:nvPr/>
          </p:nvSpPr>
          <p:spPr>
            <a:xfrm>
              <a:off x="6443962"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pl" sz="900">
                  <a:solidFill>
                    <a:srgbClr val="249C91"/>
                  </a:solidFill>
                  <a:latin typeface="Roboto"/>
                  <a:ea typeface="Roboto"/>
                  <a:cs typeface="Roboto"/>
                  <a:sym typeface="Roboto"/>
                </a:rPr>
                <a:t>6</a:t>
              </a:r>
              <a:endParaRPr b="1" sz="900">
                <a:solidFill>
                  <a:srgbClr val="249C91"/>
                </a:solidFill>
                <a:latin typeface="Roboto"/>
                <a:ea typeface="Roboto"/>
                <a:cs typeface="Roboto"/>
                <a:sym typeface="Roboto"/>
              </a:endParaRPr>
            </a:p>
          </p:txBody>
        </p:sp>
        <p:sp>
          <p:nvSpPr>
            <p:cNvPr id="212" name="Google Shape;212;p22"/>
            <p:cNvSpPr txBox="1"/>
            <p:nvPr/>
          </p:nvSpPr>
          <p:spPr>
            <a:xfrm rot="-2700000">
              <a:off x="6375763" y="2297099"/>
              <a:ext cx="2378424"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l" sz="1300">
                  <a:solidFill>
                    <a:srgbClr val="FFFFFF"/>
                  </a:solidFill>
                  <a:latin typeface="Roboto"/>
                  <a:ea typeface="Roboto"/>
                  <a:cs typeface="Roboto"/>
                  <a:sym typeface="Roboto"/>
                </a:rPr>
                <a:t>Evaluate &amp; Conclude</a:t>
              </a:r>
              <a:endParaRPr b="1" sz="1300">
                <a:solidFill>
                  <a:srgbClr val="FFFFFF"/>
                </a:solidFill>
                <a:latin typeface="Roboto"/>
                <a:ea typeface="Roboto"/>
                <a:cs typeface="Roboto"/>
                <a:sym typeface="Robo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type="title"/>
          </p:nvPr>
        </p:nvSpPr>
        <p:spPr>
          <a:xfrm>
            <a:off x="373050" y="451525"/>
            <a:ext cx="8397900" cy="1244700"/>
          </a:xfrm>
          <a:prstGeom prst="rect">
            <a:avLst/>
          </a:prstGeom>
        </p:spPr>
        <p:txBody>
          <a:bodyPr anchorCtr="0" anchor="b" bIns="91425" lIns="91425" spcFirstLastPara="1" rIns="91425" wrap="square" tIns="91425">
            <a:noAutofit/>
          </a:bodyPr>
          <a:lstStyle/>
          <a:p>
            <a:pPr indent="-622300" lvl="0" marL="457200" rtl="0" algn="ctr">
              <a:spcBef>
                <a:spcPts val="0"/>
              </a:spcBef>
              <a:spcAft>
                <a:spcPts val="0"/>
              </a:spcAft>
              <a:buSzPts val="6200"/>
              <a:buAutoNum type="arabicPeriod"/>
            </a:pPr>
            <a:r>
              <a:rPr lang="pl" sz="6200"/>
              <a:t>Dataset Inspection</a:t>
            </a:r>
            <a:endParaRPr sz="6200"/>
          </a:p>
        </p:txBody>
      </p:sp>
      <p:sp>
        <p:nvSpPr>
          <p:cNvPr id="218" name="Google Shape;21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solidFill>
                  <a:schemeClr val="lt1"/>
                </a:solidFill>
              </a:rPr>
              <a:t>‹#›</a:t>
            </a:fld>
            <a:endParaRPr>
              <a:solidFill>
                <a:schemeClr val="lt1"/>
              </a:solidFill>
            </a:endParaRPr>
          </a:p>
        </p:txBody>
      </p:sp>
      <p:sp>
        <p:nvSpPr>
          <p:cNvPr id="219" name="Google Shape;219;p23"/>
          <p:cNvSpPr txBox="1"/>
          <p:nvPr>
            <p:ph idx="1" type="body"/>
          </p:nvPr>
        </p:nvSpPr>
        <p:spPr>
          <a:xfrm>
            <a:off x="115750" y="4524425"/>
            <a:ext cx="6401700" cy="94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t>PAD-UFES-20: </a:t>
            </a:r>
            <a:r>
              <a:rPr lang="pl" u="sng">
                <a:solidFill>
                  <a:schemeClr val="hlink"/>
                </a:solidFill>
                <a:hlinkClick r:id="rId3"/>
              </a:rPr>
              <a:t>https://www.sciencedirect.com/science/article/pii/S235234092031115X</a:t>
            </a:r>
            <a:endParaRPr/>
          </a:p>
        </p:txBody>
      </p:sp>
      <p:pic>
        <p:nvPicPr>
          <p:cNvPr id="220" name="Google Shape;220;p23"/>
          <p:cNvPicPr preferRelativeResize="0"/>
          <p:nvPr/>
        </p:nvPicPr>
        <p:blipFill rotWithShape="1">
          <a:blip r:embed="rId4">
            <a:alphaModFix/>
          </a:blip>
          <a:srcRect b="0" l="0" r="26172" t="0"/>
          <a:stretch/>
        </p:blipFill>
        <p:spPr>
          <a:xfrm>
            <a:off x="2327588" y="1850250"/>
            <a:ext cx="4488825" cy="28891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txBox="1"/>
          <p:nvPr>
            <p:ph type="title"/>
          </p:nvPr>
        </p:nvSpPr>
        <p:spPr>
          <a:xfrm>
            <a:off x="446000" y="344425"/>
            <a:ext cx="3704400" cy="2049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Dataset Inspection</a:t>
            </a:r>
            <a:endParaRPr/>
          </a:p>
        </p:txBody>
      </p:sp>
      <p:sp>
        <p:nvSpPr>
          <p:cNvPr id="226" name="Google Shape;226;p24"/>
          <p:cNvSpPr txBox="1"/>
          <p:nvPr>
            <p:ph idx="12" type="sldNum"/>
          </p:nvPr>
        </p:nvSpPr>
        <p:spPr>
          <a:xfrm>
            <a:off x="-228592" y="48260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227" name="Google Shape;227;p24" title="dataset skin cancer types.png"/>
          <p:cNvPicPr preferRelativeResize="0"/>
          <p:nvPr/>
        </p:nvPicPr>
        <p:blipFill>
          <a:blip r:embed="rId3">
            <a:alphaModFix/>
          </a:blip>
          <a:stretch>
            <a:fillRect/>
          </a:stretch>
        </p:blipFill>
        <p:spPr>
          <a:xfrm>
            <a:off x="4840725" y="953899"/>
            <a:ext cx="3992225" cy="3646125"/>
          </a:xfrm>
          <a:prstGeom prst="rect">
            <a:avLst/>
          </a:prstGeom>
          <a:noFill/>
          <a:ln>
            <a:noFill/>
          </a:ln>
          <a:effectLst>
            <a:outerShdw blurRad="57150" rotWithShape="0" algn="bl" dir="5400000" dist="19050">
              <a:srgbClr val="000000">
                <a:alpha val="50000"/>
              </a:srgbClr>
            </a:outerShdw>
          </a:effectLst>
        </p:spPr>
      </p:pic>
      <p:sp>
        <p:nvSpPr>
          <p:cNvPr id="228" name="Google Shape;22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229" name="Google Shape;229;p24" title="dataset distribution.png"/>
          <p:cNvPicPr preferRelativeResize="0"/>
          <p:nvPr/>
        </p:nvPicPr>
        <p:blipFill>
          <a:blip r:embed="rId4">
            <a:alphaModFix/>
          </a:blip>
          <a:stretch>
            <a:fillRect/>
          </a:stretch>
        </p:blipFill>
        <p:spPr>
          <a:xfrm>
            <a:off x="145387" y="1195812"/>
            <a:ext cx="4305625" cy="31623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5"/>
          <p:cNvSpPr txBox="1"/>
          <p:nvPr>
            <p:ph type="title"/>
          </p:nvPr>
        </p:nvSpPr>
        <p:spPr>
          <a:xfrm>
            <a:off x="311750" y="831175"/>
            <a:ext cx="8557200" cy="124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pl" sz="6500"/>
              <a:t>2. Masks Inspection</a:t>
            </a:r>
            <a:endParaRPr sz="6500"/>
          </a:p>
        </p:txBody>
      </p:sp>
      <p:sp>
        <p:nvSpPr>
          <p:cNvPr id="235" name="Google Shape;23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solidFill>
                  <a:schemeClr val="lt1"/>
                </a:solidFill>
              </a:rPr>
              <a:t>‹#›</a:t>
            </a:fld>
            <a:endParaRPr>
              <a:solidFill>
                <a:schemeClr val="lt1"/>
              </a:solidFill>
            </a:endParaRPr>
          </a:p>
        </p:txBody>
      </p:sp>
      <p:sp>
        <p:nvSpPr>
          <p:cNvPr id="236" name="Google Shape;236;p25"/>
          <p:cNvSpPr txBox="1"/>
          <p:nvPr>
            <p:ph idx="1" type="body"/>
          </p:nvPr>
        </p:nvSpPr>
        <p:spPr>
          <a:xfrm>
            <a:off x="0" y="4757100"/>
            <a:ext cx="6401700" cy="94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t>Provided by previous years’ students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6"/>
          <p:cNvSpPr txBox="1"/>
          <p:nvPr>
            <p:ph type="title"/>
          </p:nvPr>
        </p:nvSpPr>
        <p:spPr>
          <a:xfrm>
            <a:off x="311700" y="3358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Masks Challenge</a:t>
            </a:r>
            <a:endParaRPr/>
          </a:p>
        </p:txBody>
      </p:sp>
      <p:pic>
        <p:nvPicPr>
          <p:cNvPr id="242" name="Google Shape;242;p26" title="masks_issus.png"/>
          <p:cNvPicPr preferRelativeResize="0"/>
          <p:nvPr/>
        </p:nvPicPr>
        <p:blipFill>
          <a:blip r:embed="rId3">
            <a:alphaModFix/>
          </a:blip>
          <a:stretch>
            <a:fillRect/>
          </a:stretch>
        </p:blipFill>
        <p:spPr>
          <a:xfrm>
            <a:off x="1608650" y="1380775"/>
            <a:ext cx="5926700" cy="3676050"/>
          </a:xfrm>
          <a:prstGeom prst="rect">
            <a:avLst/>
          </a:prstGeom>
          <a:noFill/>
          <a:ln>
            <a:noFill/>
          </a:ln>
          <a:effectLst>
            <a:outerShdw blurRad="57150" rotWithShape="0" algn="bl" dir="5400000" dist="19050">
              <a:srgbClr val="000000">
                <a:alpha val="50000"/>
              </a:srgbClr>
            </a:outerShdw>
          </a:effectLst>
        </p:spPr>
      </p:pic>
      <p:sp>
        <p:nvSpPr>
          <p:cNvPr id="243" name="Google Shape;24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txBox="1"/>
          <p:nvPr>
            <p:ph type="title"/>
          </p:nvPr>
        </p:nvSpPr>
        <p:spPr>
          <a:xfrm>
            <a:off x="311700" y="3358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Mask Matching Results</a:t>
            </a:r>
            <a:endParaRPr/>
          </a:p>
        </p:txBody>
      </p:sp>
      <p:sp>
        <p:nvSpPr>
          <p:cNvPr id="249" name="Google Shape;24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250" name="Google Shape;250;p27" title="Zrzut ekranu 2025-06-1 o 23.19.24.png"/>
          <p:cNvPicPr preferRelativeResize="0"/>
          <p:nvPr/>
        </p:nvPicPr>
        <p:blipFill>
          <a:blip r:embed="rId3">
            <a:alphaModFix/>
          </a:blip>
          <a:stretch>
            <a:fillRect/>
          </a:stretch>
        </p:blipFill>
        <p:spPr>
          <a:xfrm>
            <a:off x="1219138" y="1495650"/>
            <a:ext cx="6705724" cy="3352875"/>
          </a:xfrm>
          <a:prstGeom prst="rect">
            <a:avLst/>
          </a:prstGeom>
          <a:noFill/>
          <a:ln>
            <a:noFill/>
          </a:ln>
          <a:effectLst>
            <a:outerShdw blurRad="57150" rotWithShape="0" algn="bl" dir="5400000" dist="19050">
              <a:srgbClr val="000000">
                <a:alpha val="50000"/>
              </a:srgbClr>
            </a:outerShdw>
          </a:effectLst>
        </p:spPr>
      </p:pic>
      <p:sp>
        <p:nvSpPr>
          <p:cNvPr id="251" name="Google Shape;251;p27"/>
          <p:cNvSpPr/>
          <p:nvPr/>
        </p:nvSpPr>
        <p:spPr>
          <a:xfrm>
            <a:off x="6418325" y="3757750"/>
            <a:ext cx="759600" cy="361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type="title"/>
          </p:nvPr>
        </p:nvSpPr>
        <p:spPr>
          <a:xfrm>
            <a:off x="311700" y="267675"/>
            <a:ext cx="8520600" cy="623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pl" sz="2620"/>
              <a:t>Correct </a:t>
            </a:r>
            <a:r>
              <a:rPr lang="pl" sz="2620"/>
              <a:t>Masks: Examples</a:t>
            </a:r>
            <a:endParaRPr sz="2620"/>
          </a:p>
          <a:p>
            <a:pPr indent="0" lvl="0" marL="0" rtl="0" algn="ctr">
              <a:lnSpc>
                <a:spcPct val="115000"/>
              </a:lnSpc>
              <a:spcBef>
                <a:spcPts val="0"/>
              </a:spcBef>
              <a:spcAft>
                <a:spcPts val="0"/>
              </a:spcAft>
              <a:buSzPts val="990"/>
              <a:buNone/>
            </a:pPr>
            <a:r>
              <a:rPr lang="pl" sz="1540"/>
              <a:t>PAT_78_118_164</a:t>
            </a:r>
            <a:endParaRPr sz="2620"/>
          </a:p>
        </p:txBody>
      </p:sp>
      <p:pic>
        <p:nvPicPr>
          <p:cNvPr id="257" name="Google Shape;257;p28"/>
          <p:cNvPicPr preferRelativeResize="0"/>
          <p:nvPr/>
        </p:nvPicPr>
        <p:blipFill>
          <a:blip r:embed="rId3">
            <a:alphaModFix/>
          </a:blip>
          <a:stretch>
            <a:fillRect/>
          </a:stretch>
        </p:blipFill>
        <p:spPr>
          <a:xfrm>
            <a:off x="1208338" y="1580875"/>
            <a:ext cx="3082349" cy="3082349"/>
          </a:xfrm>
          <a:prstGeom prst="rect">
            <a:avLst/>
          </a:prstGeom>
          <a:noFill/>
          <a:ln>
            <a:noFill/>
          </a:ln>
          <a:effectLst>
            <a:outerShdw blurRad="57150" rotWithShape="0" algn="bl" dir="5400000" dist="19050">
              <a:srgbClr val="000000">
                <a:alpha val="50000"/>
              </a:srgbClr>
            </a:outerShdw>
          </a:effectLst>
        </p:spPr>
      </p:pic>
      <p:pic>
        <p:nvPicPr>
          <p:cNvPr id="258" name="Google Shape;258;p28"/>
          <p:cNvPicPr preferRelativeResize="0"/>
          <p:nvPr/>
        </p:nvPicPr>
        <p:blipFill>
          <a:blip r:embed="rId4">
            <a:alphaModFix/>
          </a:blip>
          <a:stretch>
            <a:fillRect/>
          </a:stretch>
        </p:blipFill>
        <p:spPr>
          <a:xfrm>
            <a:off x="4853312" y="1580875"/>
            <a:ext cx="3082349" cy="3082349"/>
          </a:xfrm>
          <a:prstGeom prst="rect">
            <a:avLst/>
          </a:prstGeom>
          <a:noFill/>
          <a:ln>
            <a:noFill/>
          </a:ln>
          <a:effectLst>
            <a:outerShdw blurRad="57150" rotWithShape="0" algn="bl" dir="5400000" dist="19050">
              <a:srgbClr val="000000">
                <a:alpha val="50000"/>
              </a:srgbClr>
            </a:outerShdw>
          </a:effectLst>
        </p:spPr>
      </p:pic>
      <p:sp>
        <p:nvSpPr>
          <p:cNvPr id="259" name="Google Shape;25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260" name="Google Shape;260;p28"/>
          <p:cNvSpPr txBox="1"/>
          <p:nvPr/>
        </p:nvSpPr>
        <p:spPr>
          <a:xfrm>
            <a:off x="-437375" y="-38875"/>
            <a:ext cx="5081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9"/>
          <p:cNvSpPr txBox="1"/>
          <p:nvPr>
            <p:ph type="title"/>
          </p:nvPr>
        </p:nvSpPr>
        <p:spPr>
          <a:xfrm>
            <a:off x="311725" y="291575"/>
            <a:ext cx="8520600" cy="8331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pl" sz="2720"/>
              <a:t>Unfit Masks: Examples</a:t>
            </a:r>
            <a:endParaRPr sz="2720"/>
          </a:p>
          <a:p>
            <a:pPr indent="0" lvl="0" marL="0" rtl="0" algn="ctr">
              <a:lnSpc>
                <a:spcPct val="115000"/>
              </a:lnSpc>
              <a:spcBef>
                <a:spcPts val="0"/>
              </a:spcBef>
              <a:spcAft>
                <a:spcPts val="0"/>
              </a:spcAft>
              <a:buSzPts val="990"/>
              <a:buNone/>
            </a:pPr>
            <a:r>
              <a:rPr lang="pl" sz="1640"/>
              <a:t>PAT_996_6_886</a:t>
            </a:r>
            <a:endParaRPr sz="2720"/>
          </a:p>
        </p:txBody>
      </p:sp>
      <p:pic>
        <p:nvPicPr>
          <p:cNvPr id="266" name="Google Shape;266;p29"/>
          <p:cNvPicPr preferRelativeResize="0"/>
          <p:nvPr/>
        </p:nvPicPr>
        <p:blipFill>
          <a:blip r:embed="rId3">
            <a:alphaModFix/>
          </a:blip>
          <a:stretch>
            <a:fillRect/>
          </a:stretch>
        </p:blipFill>
        <p:spPr>
          <a:xfrm>
            <a:off x="1124738" y="1614625"/>
            <a:ext cx="3187026" cy="3187026"/>
          </a:xfrm>
          <a:prstGeom prst="rect">
            <a:avLst/>
          </a:prstGeom>
          <a:noFill/>
          <a:ln>
            <a:noFill/>
          </a:ln>
          <a:effectLst>
            <a:outerShdw blurRad="57150" rotWithShape="0" algn="bl" dir="5400000" dist="19050">
              <a:srgbClr val="000000">
                <a:alpha val="50000"/>
              </a:srgbClr>
            </a:outerShdw>
          </a:effectLst>
        </p:spPr>
      </p:pic>
      <p:pic>
        <p:nvPicPr>
          <p:cNvPr id="267" name="Google Shape;267;p29"/>
          <p:cNvPicPr preferRelativeResize="0"/>
          <p:nvPr/>
        </p:nvPicPr>
        <p:blipFill>
          <a:blip r:embed="rId4">
            <a:alphaModFix/>
          </a:blip>
          <a:stretch>
            <a:fillRect/>
          </a:stretch>
        </p:blipFill>
        <p:spPr>
          <a:xfrm>
            <a:off x="4832225" y="1614625"/>
            <a:ext cx="3187026" cy="3187026"/>
          </a:xfrm>
          <a:prstGeom prst="rect">
            <a:avLst/>
          </a:prstGeom>
          <a:noFill/>
          <a:ln>
            <a:noFill/>
          </a:ln>
          <a:effectLst>
            <a:outerShdw blurRad="57150" rotWithShape="0" algn="bl" dir="5400000" dist="19050">
              <a:srgbClr val="000000">
                <a:alpha val="50000"/>
              </a:srgbClr>
            </a:outerShdw>
          </a:effectLst>
        </p:spPr>
      </p:pic>
      <p:sp>
        <p:nvSpPr>
          <p:cNvPr id="268" name="Google Shape;26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0"/>
          <p:cNvSpPr txBox="1"/>
          <p:nvPr>
            <p:ph type="title"/>
          </p:nvPr>
        </p:nvSpPr>
        <p:spPr>
          <a:xfrm>
            <a:off x="311725" y="174950"/>
            <a:ext cx="8520600" cy="949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pl" sz="2720"/>
              <a:t>Unfit Masks: Examples</a:t>
            </a:r>
            <a:endParaRPr sz="2720"/>
          </a:p>
          <a:p>
            <a:pPr indent="0" lvl="0" marL="0" rtl="0" algn="ctr">
              <a:lnSpc>
                <a:spcPct val="115000"/>
              </a:lnSpc>
              <a:spcBef>
                <a:spcPts val="0"/>
              </a:spcBef>
              <a:spcAft>
                <a:spcPts val="0"/>
              </a:spcAft>
              <a:buSzPts val="990"/>
              <a:buNone/>
            </a:pPr>
            <a:r>
              <a:rPr lang="pl" sz="1640"/>
              <a:t>PAT_87_133_810</a:t>
            </a:r>
            <a:endParaRPr sz="1640"/>
          </a:p>
          <a:p>
            <a:pPr indent="0" lvl="0" marL="0" rtl="0" algn="ctr">
              <a:lnSpc>
                <a:spcPct val="115000"/>
              </a:lnSpc>
              <a:spcBef>
                <a:spcPts val="0"/>
              </a:spcBef>
              <a:spcAft>
                <a:spcPts val="0"/>
              </a:spcAft>
              <a:buSzPts val="990"/>
              <a:buNone/>
            </a:pPr>
            <a:r>
              <a:t/>
            </a:r>
            <a:endParaRPr sz="2720"/>
          </a:p>
        </p:txBody>
      </p:sp>
      <p:pic>
        <p:nvPicPr>
          <p:cNvPr id="274" name="Google Shape;274;p30"/>
          <p:cNvPicPr preferRelativeResize="0"/>
          <p:nvPr/>
        </p:nvPicPr>
        <p:blipFill>
          <a:blip r:embed="rId3">
            <a:alphaModFix/>
          </a:blip>
          <a:stretch>
            <a:fillRect/>
          </a:stretch>
        </p:blipFill>
        <p:spPr>
          <a:xfrm>
            <a:off x="1391488" y="1648486"/>
            <a:ext cx="2982782" cy="2923118"/>
          </a:xfrm>
          <a:prstGeom prst="rect">
            <a:avLst/>
          </a:prstGeom>
          <a:noFill/>
          <a:ln>
            <a:noFill/>
          </a:ln>
          <a:effectLst>
            <a:outerShdw blurRad="57150" rotWithShape="0" algn="bl" dir="5400000" dist="19050">
              <a:srgbClr val="000000">
                <a:alpha val="50000"/>
              </a:srgbClr>
            </a:outerShdw>
          </a:effectLst>
        </p:spPr>
      </p:pic>
      <p:pic>
        <p:nvPicPr>
          <p:cNvPr id="275" name="Google Shape;275;p30"/>
          <p:cNvPicPr preferRelativeResize="0"/>
          <p:nvPr/>
        </p:nvPicPr>
        <p:blipFill>
          <a:blip r:embed="rId4">
            <a:alphaModFix/>
          </a:blip>
          <a:stretch>
            <a:fillRect/>
          </a:stretch>
        </p:blipFill>
        <p:spPr>
          <a:xfrm>
            <a:off x="4732658" y="1629451"/>
            <a:ext cx="3019855" cy="2959450"/>
          </a:xfrm>
          <a:prstGeom prst="rect">
            <a:avLst/>
          </a:prstGeom>
          <a:noFill/>
          <a:ln>
            <a:noFill/>
          </a:ln>
          <a:effectLst>
            <a:outerShdw blurRad="57150" rotWithShape="0" algn="bl" dir="5400000" dist="19050">
              <a:srgbClr val="000000">
                <a:alpha val="50000"/>
              </a:srgbClr>
            </a:outerShdw>
          </a:effectLst>
        </p:spPr>
      </p:pic>
      <p:sp>
        <p:nvSpPr>
          <p:cNvPr id="276" name="Google Shape;27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1"/>
          <p:cNvSpPr txBox="1"/>
          <p:nvPr>
            <p:ph type="title"/>
          </p:nvPr>
        </p:nvSpPr>
        <p:spPr>
          <a:xfrm>
            <a:off x="311725" y="174950"/>
            <a:ext cx="8520600" cy="949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pl" sz="2720"/>
              <a:t>Unfit Masks: Examples</a:t>
            </a:r>
            <a:endParaRPr sz="2720"/>
          </a:p>
          <a:p>
            <a:pPr indent="0" lvl="0" marL="0" rtl="0" algn="ctr">
              <a:lnSpc>
                <a:spcPct val="115000"/>
              </a:lnSpc>
              <a:spcBef>
                <a:spcPts val="0"/>
              </a:spcBef>
              <a:spcAft>
                <a:spcPts val="0"/>
              </a:spcAft>
              <a:buSzPts val="990"/>
              <a:buNone/>
            </a:pPr>
            <a:r>
              <a:rPr lang="pl" sz="1640"/>
              <a:t>PAT_385_783_22</a:t>
            </a:r>
            <a:endParaRPr sz="1640"/>
          </a:p>
          <a:p>
            <a:pPr indent="0" lvl="0" marL="0" rtl="0" algn="ctr">
              <a:lnSpc>
                <a:spcPct val="115000"/>
              </a:lnSpc>
              <a:spcBef>
                <a:spcPts val="0"/>
              </a:spcBef>
              <a:spcAft>
                <a:spcPts val="0"/>
              </a:spcAft>
              <a:buSzPts val="990"/>
              <a:buNone/>
            </a:pPr>
            <a:r>
              <a:t/>
            </a:r>
            <a:endParaRPr sz="2720"/>
          </a:p>
        </p:txBody>
      </p:sp>
      <p:sp>
        <p:nvSpPr>
          <p:cNvPr id="282" name="Google Shape;28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283" name="Google Shape;283;p31"/>
          <p:cNvPicPr preferRelativeResize="0"/>
          <p:nvPr/>
        </p:nvPicPr>
        <p:blipFill>
          <a:blip r:embed="rId3">
            <a:alphaModFix/>
          </a:blip>
          <a:stretch>
            <a:fillRect/>
          </a:stretch>
        </p:blipFill>
        <p:spPr>
          <a:xfrm>
            <a:off x="1415675" y="1680450"/>
            <a:ext cx="2982774" cy="2982774"/>
          </a:xfrm>
          <a:prstGeom prst="rect">
            <a:avLst/>
          </a:prstGeom>
          <a:noFill/>
          <a:ln>
            <a:noFill/>
          </a:ln>
          <a:effectLst>
            <a:outerShdw blurRad="57150" rotWithShape="0" algn="bl" dir="5400000" dist="19050">
              <a:srgbClr val="000000">
                <a:alpha val="50000"/>
              </a:srgbClr>
            </a:outerShdw>
          </a:effectLst>
        </p:spPr>
      </p:pic>
      <p:pic>
        <p:nvPicPr>
          <p:cNvPr id="284" name="Google Shape;284;p31"/>
          <p:cNvPicPr preferRelativeResize="0"/>
          <p:nvPr/>
        </p:nvPicPr>
        <p:blipFill>
          <a:blip r:embed="rId4">
            <a:alphaModFix/>
          </a:blip>
          <a:stretch>
            <a:fillRect/>
          </a:stretch>
        </p:blipFill>
        <p:spPr>
          <a:xfrm>
            <a:off x="4745550" y="1680450"/>
            <a:ext cx="2982774" cy="298277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2"/>
          <p:cNvSpPr txBox="1"/>
          <p:nvPr>
            <p:ph type="title"/>
          </p:nvPr>
        </p:nvSpPr>
        <p:spPr>
          <a:xfrm>
            <a:off x="311700" y="378475"/>
            <a:ext cx="8520600" cy="62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Region-based Segmentation Algorithm: </a:t>
            </a:r>
            <a:r>
              <a:rPr b="1" lang="pl"/>
              <a:t>Graph Cut</a:t>
            </a:r>
            <a:endParaRPr b="1"/>
          </a:p>
        </p:txBody>
      </p:sp>
      <p:sp>
        <p:nvSpPr>
          <p:cNvPr id="290" name="Google Shape;29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291" name="Google Shape;291;p32"/>
          <p:cNvSpPr txBox="1"/>
          <p:nvPr/>
        </p:nvSpPr>
        <p:spPr>
          <a:xfrm>
            <a:off x="0" y="4827300"/>
            <a:ext cx="3429000" cy="2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200" u="sng">
                <a:solidFill>
                  <a:schemeClr val="hlink"/>
                </a:solidFill>
                <a:latin typeface="Roboto"/>
                <a:ea typeface="Roboto"/>
                <a:cs typeface="Roboto"/>
                <a:sym typeface="Roboto"/>
                <a:hlinkClick r:id="rId3"/>
              </a:rPr>
              <a:t>https://itta.cyber.az/2024/papers/09.pdf</a:t>
            </a:r>
            <a:endParaRPr sz="1200">
              <a:solidFill>
                <a:schemeClr val="dk2"/>
              </a:solidFill>
              <a:latin typeface="Roboto"/>
              <a:ea typeface="Roboto"/>
              <a:cs typeface="Roboto"/>
              <a:sym typeface="Roboto"/>
            </a:endParaRPr>
          </a:p>
        </p:txBody>
      </p:sp>
      <p:pic>
        <p:nvPicPr>
          <p:cNvPr id="292" name="Google Shape;292;p32"/>
          <p:cNvPicPr preferRelativeResize="0"/>
          <p:nvPr/>
        </p:nvPicPr>
        <p:blipFill>
          <a:blip r:embed="rId4">
            <a:alphaModFix/>
          </a:blip>
          <a:stretch>
            <a:fillRect/>
          </a:stretch>
        </p:blipFill>
        <p:spPr>
          <a:xfrm>
            <a:off x="460513" y="1487675"/>
            <a:ext cx="3784326" cy="3415825"/>
          </a:xfrm>
          <a:prstGeom prst="rect">
            <a:avLst/>
          </a:prstGeom>
          <a:noFill/>
          <a:ln>
            <a:noFill/>
          </a:ln>
          <a:effectLst>
            <a:outerShdw blurRad="57150" rotWithShape="0" algn="bl" dir="5400000" dist="19050">
              <a:srgbClr val="000000">
                <a:alpha val="50000"/>
              </a:srgbClr>
            </a:outerShdw>
          </a:effectLst>
        </p:spPr>
      </p:pic>
      <p:pic>
        <p:nvPicPr>
          <p:cNvPr id="293" name="Google Shape;293;p32"/>
          <p:cNvPicPr preferRelativeResize="0"/>
          <p:nvPr/>
        </p:nvPicPr>
        <p:blipFill>
          <a:blip r:embed="rId5">
            <a:alphaModFix/>
          </a:blip>
          <a:stretch>
            <a:fillRect/>
          </a:stretch>
        </p:blipFill>
        <p:spPr>
          <a:xfrm>
            <a:off x="5229938" y="1435425"/>
            <a:ext cx="3339795" cy="3520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3"/>
          <p:cNvSpPr txBox="1"/>
          <p:nvPr>
            <p:ph type="title"/>
          </p:nvPr>
        </p:nvSpPr>
        <p:spPr>
          <a:xfrm>
            <a:off x="311750" y="831175"/>
            <a:ext cx="8400300" cy="124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pl" sz="6500"/>
              <a:t>3. Feature Extraction</a:t>
            </a:r>
            <a:endParaRPr sz="6500"/>
          </a:p>
        </p:txBody>
      </p:sp>
      <p:sp>
        <p:nvSpPr>
          <p:cNvPr id="299" name="Google Shape;29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Asymmetry</a:t>
            </a:r>
            <a:endParaRPr/>
          </a:p>
        </p:txBody>
      </p:sp>
      <p:sp>
        <p:nvSpPr>
          <p:cNvPr id="305" name="Google Shape;30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306" name="Google Shape;306;p34"/>
          <p:cNvSpPr txBox="1"/>
          <p:nvPr/>
        </p:nvSpPr>
        <p:spPr>
          <a:xfrm>
            <a:off x="462175" y="1611625"/>
            <a:ext cx="69447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l" sz="1300">
                <a:solidFill>
                  <a:schemeClr val="dk1"/>
                </a:solidFill>
                <a:latin typeface="Roboto"/>
                <a:ea typeface="Roboto"/>
                <a:cs typeface="Roboto"/>
                <a:sym typeface="Roboto"/>
              </a:rPr>
              <a:t>Method:</a:t>
            </a:r>
            <a:endParaRPr b="1" sz="1300">
              <a:solidFill>
                <a:schemeClr val="dk1"/>
              </a:solidFill>
              <a:latin typeface="Roboto"/>
              <a:ea typeface="Roboto"/>
              <a:cs typeface="Roboto"/>
              <a:sym typeface="Roboto"/>
            </a:endParaRPr>
          </a:p>
          <a:p>
            <a:pPr indent="0" lvl="0" marL="0" rtl="0" algn="l">
              <a:spcBef>
                <a:spcPts val="0"/>
              </a:spcBef>
              <a:spcAft>
                <a:spcPts val="0"/>
              </a:spcAft>
              <a:buNone/>
            </a:pPr>
            <a:r>
              <a:t/>
            </a:r>
            <a:endParaRPr b="1" sz="1300">
              <a:solidFill>
                <a:schemeClr val="dk1"/>
              </a:solidFill>
              <a:latin typeface="Roboto"/>
              <a:ea typeface="Roboto"/>
              <a:cs typeface="Roboto"/>
              <a:sym typeface="Roboto"/>
            </a:endParaRPr>
          </a:p>
          <a:p>
            <a:pPr indent="-311150" lvl="0" marL="457200" rtl="0" algn="l">
              <a:spcBef>
                <a:spcPts val="0"/>
              </a:spcBef>
              <a:spcAft>
                <a:spcPts val="0"/>
              </a:spcAft>
              <a:buClr>
                <a:schemeClr val="dk1"/>
              </a:buClr>
              <a:buSzPts val="1300"/>
              <a:buFont typeface="Roboto"/>
              <a:buAutoNum type="arabicPeriod"/>
            </a:pPr>
            <a:r>
              <a:rPr b="1" lang="pl" sz="1300">
                <a:solidFill>
                  <a:schemeClr val="dk1"/>
                </a:solidFill>
                <a:latin typeface="Roboto"/>
                <a:ea typeface="Roboto"/>
                <a:cs typeface="Roboto"/>
                <a:sym typeface="Roboto"/>
              </a:rPr>
              <a:t>Cut mask</a:t>
            </a:r>
            <a:endParaRPr b="1" sz="1300">
              <a:solidFill>
                <a:schemeClr val="dk1"/>
              </a:solidFill>
              <a:latin typeface="Roboto"/>
              <a:ea typeface="Roboto"/>
              <a:cs typeface="Roboto"/>
              <a:sym typeface="Roboto"/>
            </a:endParaRPr>
          </a:p>
          <a:p>
            <a:pPr indent="-311150" lvl="0" marL="457200" rtl="0" algn="l">
              <a:spcBef>
                <a:spcPts val="0"/>
              </a:spcBef>
              <a:spcAft>
                <a:spcPts val="0"/>
              </a:spcAft>
              <a:buClr>
                <a:schemeClr val="dk1"/>
              </a:buClr>
              <a:buSzPts val="1300"/>
              <a:buFont typeface="Roboto"/>
              <a:buAutoNum type="arabicPeriod"/>
            </a:pPr>
            <a:r>
              <a:rPr b="1" lang="pl" sz="1300">
                <a:solidFill>
                  <a:schemeClr val="dk1"/>
                </a:solidFill>
                <a:latin typeface="Roboto"/>
                <a:ea typeface="Roboto"/>
                <a:cs typeface="Roboto"/>
                <a:sym typeface="Roboto"/>
              </a:rPr>
              <a:t>Find center </a:t>
            </a:r>
            <a:endParaRPr b="1" sz="1300">
              <a:solidFill>
                <a:schemeClr val="dk1"/>
              </a:solidFill>
              <a:latin typeface="Roboto"/>
              <a:ea typeface="Roboto"/>
              <a:cs typeface="Roboto"/>
              <a:sym typeface="Roboto"/>
            </a:endParaRPr>
          </a:p>
          <a:p>
            <a:pPr indent="-311150" lvl="0" marL="457200" rtl="0" algn="l">
              <a:spcBef>
                <a:spcPts val="0"/>
              </a:spcBef>
              <a:spcAft>
                <a:spcPts val="0"/>
              </a:spcAft>
              <a:buClr>
                <a:schemeClr val="dk1"/>
              </a:buClr>
              <a:buSzPts val="1300"/>
              <a:buFont typeface="Roboto"/>
              <a:buAutoNum type="arabicPeriod"/>
            </a:pPr>
            <a:r>
              <a:rPr b="1" lang="pl" sz="1300">
                <a:solidFill>
                  <a:schemeClr val="dk1"/>
                </a:solidFill>
                <a:latin typeface="Roboto"/>
                <a:ea typeface="Roboto"/>
                <a:cs typeface="Roboto"/>
                <a:sym typeface="Roboto"/>
              </a:rPr>
              <a:t>Split in halves</a:t>
            </a:r>
            <a:endParaRPr b="1" sz="1300">
              <a:solidFill>
                <a:schemeClr val="dk1"/>
              </a:solidFill>
              <a:latin typeface="Roboto"/>
              <a:ea typeface="Roboto"/>
              <a:cs typeface="Roboto"/>
              <a:sym typeface="Roboto"/>
            </a:endParaRPr>
          </a:p>
          <a:p>
            <a:pPr indent="-311150" lvl="0" marL="457200" rtl="0" algn="l">
              <a:spcBef>
                <a:spcPts val="0"/>
              </a:spcBef>
              <a:spcAft>
                <a:spcPts val="0"/>
              </a:spcAft>
              <a:buClr>
                <a:schemeClr val="dk1"/>
              </a:buClr>
              <a:buSzPts val="1300"/>
              <a:buFont typeface="Roboto"/>
              <a:buAutoNum type="arabicPeriod"/>
            </a:pPr>
            <a:r>
              <a:rPr b="1" lang="pl" sz="1300">
                <a:solidFill>
                  <a:schemeClr val="dk1"/>
                </a:solidFill>
                <a:latin typeface="Roboto"/>
                <a:ea typeface="Roboto"/>
                <a:cs typeface="Roboto"/>
                <a:sym typeface="Roboto"/>
              </a:rPr>
              <a:t>Flip halves</a:t>
            </a:r>
            <a:endParaRPr b="1" sz="1300">
              <a:solidFill>
                <a:schemeClr val="dk1"/>
              </a:solidFill>
              <a:latin typeface="Roboto"/>
              <a:ea typeface="Roboto"/>
              <a:cs typeface="Roboto"/>
              <a:sym typeface="Roboto"/>
            </a:endParaRPr>
          </a:p>
          <a:p>
            <a:pPr indent="-311150" lvl="0" marL="457200" rtl="0" algn="l">
              <a:spcBef>
                <a:spcPts val="0"/>
              </a:spcBef>
              <a:spcAft>
                <a:spcPts val="0"/>
              </a:spcAft>
              <a:buClr>
                <a:schemeClr val="dk1"/>
              </a:buClr>
              <a:buSzPts val="1300"/>
              <a:buFont typeface="Roboto"/>
              <a:buAutoNum type="arabicPeriod"/>
            </a:pPr>
            <a:r>
              <a:rPr b="1" lang="pl" sz="1300">
                <a:solidFill>
                  <a:schemeClr val="dk1"/>
                </a:solidFill>
                <a:latin typeface="Roboto"/>
                <a:ea typeface="Roboto"/>
                <a:cs typeface="Roboto"/>
                <a:sym typeface="Roboto"/>
              </a:rPr>
              <a:t>Count mismatched pixels</a:t>
            </a:r>
            <a:endParaRPr b="1" sz="1300">
              <a:solidFill>
                <a:schemeClr val="dk1"/>
              </a:solidFill>
              <a:latin typeface="Roboto"/>
              <a:ea typeface="Roboto"/>
              <a:cs typeface="Roboto"/>
              <a:sym typeface="Roboto"/>
            </a:endParaRPr>
          </a:p>
          <a:p>
            <a:pPr indent="-311150" lvl="0" marL="457200" rtl="0" algn="l">
              <a:spcBef>
                <a:spcPts val="0"/>
              </a:spcBef>
              <a:spcAft>
                <a:spcPts val="0"/>
              </a:spcAft>
              <a:buClr>
                <a:schemeClr val="dk1"/>
              </a:buClr>
              <a:buSzPts val="1300"/>
              <a:buFont typeface="Roboto"/>
              <a:buAutoNum type="arabicPeriod"/>
            </a:pPr>
            <a:r>
              <a:rPr b="1" lang="pl" sz="1300">
                <a:solidFill>
                  <a:schemeClr val="dk1"/>
                </a:solidFill>
                <a:latin typeface="Roboto"/>
                <a:ea typeface="Roboto"/>
                <a:cs typeface="Roboto"/>
                <a:sym typeface="Roboto"/>
              </a:rPr>
              <a:t>Normalize by the area → </a:t>
            </a:r>
            <a:r>
              <a:rPr b="1" lang="pl" sz="1300">
                <a:solidFill>
                  <a:schemeClr val="dk1"/>
                </a:solidFill>
                <a:latin typeface="Roboto"/>
                <a:ea typeface="Roboto"/>
                <a:cs typeface="Roboto"/>
                <a:sym typeface="Roboto"/>
              </a:rPr>
              <a:t>asymmetry</a:t>
            </a:r>
            <a:r>
              <a:rPr b="1" lang="pl" sz="1300">
                <a:solidFill>
                  <a:schemeClr val="dk1"/>
                </a:solidFill>
                <a:latin typeface="Roboto"/>
                <a:ea typeface="Roboto"/>
                <a:cs typeface="Roboto"/>
                <a:sym typeface="Roboto"/>
              </a:rPr>
              <a:t> score</a:t>
            </a:r>
            <a:endParaRPr b="1" sz="1300">
              <a:solidFill>
                <a:schemeClr val="dk1"/>
              </a:solidFill>
              <a:latin typeface="Roboto"/>
              <a:ea typeface="Roboto"/>
              <a:cs typeface="Roboto"/>
              <a:sym typeface="Roboto"/>
            </a:endParaRPr>
          </a:p>
          <a:p>
            <a:pPr indent="-311150" lvl="0" marL="457200" rtl="0" algn="l">
              <a:spcBef>
                <a:spcPts val="0"/>
              </a:spcBef>
              <a:spcAft>
                <a:spcPts val="0"/>
              </a:spcAft>
              <a:buClr>
                <a:schemeClr val="dk1"/>
              </a:buClr>
              <a:buSzPts val="1300"/>
              <a:buFont typeface="Roboto"/>
              <a:buAutoNum type="arabicPeriod"/>
            </a:pPr>
            <a:r>
              <a:rPr b="1" lang="pl" sz="1300">
                <a:solidFill>
                  <a:schemeClr val="dk1"/>
                </a:solidFill>
                <a:latin typeface="Roboto"/>
                <a:ea typeface="Roboto"/>
                <a:cs typeface="Roboto"/>
                <a:sym typeface="Roboto"/>
              </a:rPr>
              <a:t>Rotate the lesion several times</a:t>
            </a:r>
            <a:endParaRPr b="1" sz="1300">
              <a:solidFill>
                <a:schemeClr val="dk1"/>
              </a:solidFill>
              <a:latin typeface="Roboto"/>
              <a:ea typeface="Roboto"/>
              <a:cs typeface="Roboto"/>
              <a:sym typeface="Roboto"/>
            </a:endParaRPr>
          </a:p>
          <a:p>
            <a:pPr indent="-311150" lvl="0" marL="457200" rtl="0" algn="l">
              <a:spcBef>
                <a:spcPts val="0"/>
              </a:spcBef>
              <a:spcAft>
                <a:spcPts val="0"/>
              </a:spcAft>
              <a:buClr>
                <a:schemeClr val="dk1"/>
              </a:buClr>
              <a:buSzPts val="1300"/>
              <a:buFont typeface="Roboto"/>
              <a:buAutoNum type="arabicPeriod"/>
            </a:pPr>
            <a:r>
              <a:rPr b="1" lang="pl" sz="1300">
                <a:solidFill>
                  <a:schemeClr val="dk1"/>
                </a:solidFill>
                <a:latin typeface="Roboto"/>
                <a:ea typeface="Roboto"/>
                <a:cs typeface="Roboto"/>
                <a:sym typeface="Roboto"/>
              </a:rPr>
              <a:t>Repeat for all directions</a:t>
            </a:r>
            <a:endParaRPr b="1" sz="1300">
              <a:solidFill>
                <a:schemeClr val="dk1"/>
              </a:solidFill>
              <a:latin typeface="Roboto"/>
              <a:ea typeface="Roboto"/>
              <a:cs typeface="Roboto"/>
              <a:sym typeface="Roboto"/>
            </a:endParaRPr>
          </a:p>
          <a:p>
            <a:pPr indent="-311150" lvl="0" marL="457200" rtl="0" algn="l">
              <a:spcBef>
                <a:spcPts val="0"/>
              </a:spcBef>
              <a:spcAft>
                <a:spcPts val="0"/>
              </a:spcAft>
              <a:buClr>
                <a:schemeClr val="dk1"/>
              </a:buClr>
              <a:buSzPts val="1300"/>
              <a:buFont typeface="Roboto"/>
              <a:buAutoNum type="arabicPeriod"/>
            </a:pPr>
            <a:r>
              <a:rPr b="1" lang="pl" sz="1300">
                <a:solidFill>
                  <a:schemeClr val="dk1"/>
                </a:solidFill>
                <a:latin typeface="Roboto"/>
                <a:ea typeface="Roboto"/>
                <a:cs typeface="Roboto"/>
                <a:sym typeface="Roboto"/>
              </a:rPr>
              <a:t>Return mean </a:t>
            </a:r>
            <a:r>
              <a:rPr b="1" lang="pl" sz="1300">
                <a:solidFill>
                  <a:schemeClr val="dk1"/>
                </a:solidFill>
                <a:latin typeface="Roboto"/>
                <a:ea typeface="Roboto"/>
                <a:cs typeface="Roboto"/>
                <a:sym typeface="Roboto"/>
              </a:rPr>
              <a:t>asymmetry</a:t>
            </a:r>
            <a:endParaRPr b="1" sz="1300">
              <a:solidFill>
                <a:schemeClr val="dk1"/>
              </a:solidFill>
              <a:latin typeface="Roboto"/>
              <a:ea typeface="Roboto"/>
              <a:cs typeface="Roboto"/>
              <a:sym typeface="Roboto"/>
            </a:endParaRPr>
          </a:p>
        </p:txBody>
      </p:sp>
      <p:pic>
        <p:nvPicPr>
          <p:cNvPr id="307" name="Google Shape;307;p34"/>
          <p:cNvPicPr preferRelativeResize="0"/>
          <p:nvPr/>
        </p:nvPicPr>
        <p:blipFill rotWithShape="1">
          <a:blip r:embed="rId3">
            <a:alphaModFix/>
          </a:blip>
          <a:srcRect b="0" l="66810" r="0" t="6533"/>
          <a:stretch/>
        </p:blipFill>
        <p:spPr>
          <a:xfrm>
            <a:off x="4689950" y="2288959"/>
            <a:ext cx="1883377" cy="1838675"/>
          </a:xfrm>
          <a:prstGeom prst="rect">
            <a:avLst/>
          </a:prstGeom>
          <a:noFill/>
          <a:ln>
            <a:noFill/>
          </a:ln>
          <a:effectLst>
            <a:outerShdw blurRad="57150" rotWithShape="0" algn="bl" dir="5400000" dist="19050">
              <a:srgbClr val="000000">
                <a:alpha val="50000"/>
              </a:srgbClr>
            </a:outerShdw>
          </a:effectLst>
        </p:spPr>
      </p:pic>
      <p:pic>
        <p:nvPicPr>
          <p:cNvPr id="308" name="Google Shape;308;p34"/>
          <p:cNvPicPr preferRelativeResize="0"/>
          <p:nvPr/>
        </p:nvPicPr>
        <p:blipFill>
          <a:blip r:embed="rId4">
            <a:alphaModFix/>
          </a:blip>
          <a:stretch>
            <a:fillRect/>
          </a:stretch>
        </p:blipFill>
        <p:spPr>
          <a:xfrm>
            <a:off x="598525" y="4087953"/>
            <a:ext cx="3462335" cy="623700"/>
          </a:xfrm>
          <a:prstGeom prst="rect">
            <a:avLst/>
          </a:prstGeom>
          <a:noFill/>
          <a:ln>
            <a:noFill/>
          </a:ln>
        </p:spPr>
      </p:pic>
      <p:pic>
        <p:nvPicPr>
          <p:cNvPr id="309" name="Google Shape;309;p34"/>
          <p:cNvPicPr preferRelativeResize="0"/>
          <p:nvPr/>
        </p:nvPicPr>
        <p:blipFill rotWithShape="1">
          <a:blip r:embed="rId5">
            <a:alphaModFix/>
          </a:blip>
          <a:srcRect b="0" l="4589" r="0" t="0"/>
          <a:stretch/>
        </p:blipFill>
        <p:spPr>
          <a:xfrm>
            <a:off x="6808150" y="1364463"/>
            <a:ext cx="1740100" cy="36876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35"/>
          <p:cNvPicPr preferRelativeResize="0"/>
          <p:nvPr/>
        </p:nvPicPr>
        <p:blipFill rotWithShape="1">
          <a:blip r:embed="rId3">
            <a:alphaModFix/>
          </a:blip>
          <a:srcRect b="0" l="45866" r="0" t="0"/>
          <a:stretch/>
        </p:blipFill>
        <p:spPr>
          <a:xfrm>
            <a:off x="2232075" y="2381900"/>
            <a:ext cx="1335650" cy="678950"/>
          </a:xfrm>
          <a:prstGeom prst="rect">
            <a:avLst/>
          </a:prstGeom>
          <a:noFill/>
          <a:ln>
            <a:noFill/>
          </a:ln>
        </p:spPr>
      </p:pic>
      <p:sp>
        <p:nvSpPr>
          <p:cNvPr id="315" name="Google Shape;315;p3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Border</a:t>
            </a:r>
            <a:endParaRPr/>
          </a:p>
        </p:txBody>
      </p:sp>
      <p:sp>
        <p:nvSpPr>
          <p:cNvPr id="316" name="Google Shape;316;p35"/>
          <p:cNvSpPr txBox="1"/>
          <p:nvPr>
            <p:ph idx="12" type="sldNum"/>
          </p:nvPr>
        </p:nvSpPr>
        <p:spPr>
          <a:xfrm>
            <a:off x="8644791" y="4785259"/>
            <a:ext cx="499200" cy="358200"/>
          </a:xfrm>
          <a:prstGeom prst="rect">
            <a:avLst/>
          </a:prstGeom>
        </p:spPr>
        <p:txBody>
          <a:bodyPr anchorCtr="0" anchor="ctr" bIns="83175" lIns="83175" spcFirstLastPara="1" rIns="83175" wrap="square" tIns="83175">
            <a:normAutofit/>
          </a:bodyPr>
          <a:lstStyle/>
          <a:p>
            <a:pPr indent="0" lvl="0" marL="0" rtl="0" algn="r">
              <a:spcBef>
                <a:spcPts val="0"/>
              </a:spcBef>
              <a:spcAft>
                <a:spcPts val="0"/>
              </a:spcAft>
              <a:buNone/>
            </a:pPr>
            <a:fld id="{00000000-1234-1234-1234-123412341234}" type="slidenum">
              <a:rPr lang="pl" sz="909">
                <a:solidFill>
                  <a:schemeClr val="dk2"/>
                </a:solidFill>
              </a:rPr>
              <a:t>‹#›</a:t>
            </a:fld>
            <a:endParaRPr sz="909">
              <a:solidFill>
                <a:schemeClr val="dk2"/>
              </a:solidFill>
            </a:endParaRPr>
          </a:p>
        </p:txBody>
      </p:sp>
      <p:sp>
        <p:nvSpPr>
          <p:cNvPr id="317" name="Google Shape;317;p35"/>
          <p:cNvSpPr txBox="1"/>
          <p:nvPr/>
        </p:nvSpPr>
        <p:spPr>
          <a:xfrm>
            <a:off x="0" y="1294200"/>
            <a:ext cx="6768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l">
                <a:latin typeface="Merriweather"/>
                <a:ea typeface="Merriweather"/>
                <a:cs typeface="Merriweather"/>
                <a:sym typeface="Merriweather"/>
              </a:rPr>
              <a:t>Idea:</a:t>
            </a:r>
            <a:endParaRPr b="1">
              <a:latin typeface="Merriweather"/>
              <a:ea typeface="Merriweather"/>
              <a:cs typeface="Merriweather"/>
              <a:sym typeface="Merriweather"/>
            </a:endParaRPr>
          </a:p>
          <a:p>
            <a:pPr indent="0" lvl="0" marL="0" rtl="0" algn="l">
              <a:spcBef>
                <a:spcPts val="0"/>
              </a:spcBef>
              <a:spcAft>
                <a:spcPts val="0"/>
              </a:spcAft>
              <a:buNone/>
            </a:pPr>
            <a:r>
              <a:t/>
            </a:r>
            <a:endParaRPr>
              <a:latin typeface="Merriweather"/>
              <a:ea typeface="Merriweather"/>
              <a:cs typeface="Merriweather"/>
              <a:sym typeface="Merriweather"/>
            </a:endParaRPr>
          </a:p>
          <a:p>
            <a:pPr indent="-317500" lvl="0" marL="457200" rtl="0" algn="l">
              <a:spcBef>
                <a:spcPts val="0"/>
              </a:spcBef>
              <a:spcAft>
                <a:spcPts val="0"/>
              </a:spcAft>
              <a:buSzPts val="1400"/>
              <a:buAutoNum type="arabicPeriod"/>
            </a:pPr>
            <a:r>
              <a:rPr lang="pl">
                <a:latin typeface="Merriweather"/>
                <a:ea typeface="Merriweather"/>
                <a:cs typeface="Merriweather"/>
                <a:sym typeface="Merriweather"/>
              </a:rPr>
              <a:t>Find all contours (</a:t>
            </a:r>
            <a:r>
              <a:rPr b="1" lang="pl" sz="1100">
                <a:latin typeface="Merriweather"/>
                <a:ea typeface="Merriweather"/>
                <a:cs typeface="Merriweather"/>
                <a:sym typeface="Merriweather"/>
              </a:rPr>
              <a:t>border-following algorithm)</a:t>
            </a:r>
            <a:endParaRPr>
              <a:latin typeface="Merriweather"/>
              <a:ea typeface="Merriweather"/>
              <a:cs typeface="Merriweather"/>
              <a:sym typeface="Merriweather"/>
            </a:endParaRPr>
          </a:p>
          <a:p>
            <a:pPr indent="-317500" lvl="0" marL="457200" rtl="0" algn="l">
              <a:spcBef>
                <a:spcPts val="0"/>
              </a:spcBef>
              <a:spcAft>
                <a:spcPts val="0"/>
              </a:spcAft>
              <a:buSzPts val="1400"/>
              <a:buFont typeface="Merriweather"/>
              <a:buAutoNum type="arabicPeriod"/>
            </a:pPr>
            <a:r>
              <a:rPr lang="pl">
                <a:latin typeface="Merriweather"/>
                <a:ea typeface="Merriweather"/>
                <a:cs typeface="Merriweather"/>
                <a:sym typeface="Merriweather"/>
              </a:rPr>
              <a:t>Select largest</a:t>
            </a:r>
            <a:endParaRPr>
              <a:latin typeface="Merriweather"/>
              <a:ea typeface="Merriweather"/>
              <a:cs typeface="Merriweather"/>
              <a:sym typeface="Merriweather"/>
            </a:endParaRPr>
          </a:p>
          <a:p>
            <a:pPr indent="-317500" lvl="0" marL="457200" rtl="0" algn="l">
              <a:spcBef>
                <a:spcPts val="0"/>
              </a:spcBef>
              <a:spcAft>
                <a:spcPts val="0"/>
              </a:spcAft>
              <a:buSzPts val="1400"/>
              <a:buAutoNum type="arabicPeriod"/>
            </a:pPr>
            <a:r>
              <a:rPr lang="pl">
                <a:latin typeface="Merriweather"/>
                <a:ea typeface="Merriweather"/>
                <a:cs typeface="Merriweather"/>
                <a:sym typeface="Merriweather"/>
              </a:rPr>
              <a:t>Perimeter </a:t>
            </a:r>
            <a:r>
              <a:rPr b="1" lang="pl" sz="1100">
                <a:latin typeface="Merriweather"/>
                <a:ea typeface="Merriweather"/>
                <a:cs typeface="Merriweather"/>
                <a:sym typeface="Merriweather"/>
              </a:rPr>
              <a:t>(coordinate-based math)</a:t>
            </a:r>
            <a:endParaRPr b="1" sz="1100">
              <a:latin typeface="Merriweather"/>
              <a:ea typeface="Merriweather"/>
              <a:cs typeface="Merriweather"/>
              <a:sym typeface="Merriweather"/>
            </a:endParaRPr>
          </a:p>
          <a:p>
            <a:pPr indent="-317500" lvl="0" marL="457200" rtl="0" algn="l">
              <a:spcBef>
                <a:spcPts val="0"/>
              </a:spcBef>
              <a:spcAft>
                <a:spcPts val="0"/>
              </a:spcAft>
              <a:buSzPts val="1400"/>
              <a:buFont typeface="Merriweather"/>
              <a:buAutoNum type="arabicPeriod"/>
            </a:pPr>
            <a:r>
              <a:rPr lang="pl">
                <a:latin typeface="Merriweather"/>
                <a:ea typeface="Merriweather"/>
                <a:cs typeface="Merriweather"/>
                <a:sym typeface="Merriweather"/>
              </a:rPr>
              <a:t>Area</a:t>
            </a:r>
            <a:endParaRPr>
              <a:latin typeface="Merriweather"/>
              <a:ea typeface="Merriweather"/>
              <a:cs typeface="Merriweather"/>
              <a:sym typeface="Merriweather"/>
            </a:endParaRPr>
          </a:p>
          <a:p>
            <a:pPr indent="-317500" lvl="0" marL="457200" rtl="0" algn="l">
              <a:spcBef>
                <a:spcPts val="0"/>
              </a:spcBef>
              <a:spcAft>
                <a:spcPts val="0"/>
              </a:spcAft>
              <a:buSzPts val="1400"/>
              <a:buFont typeface="Merriweather"/>
              <a:buAutoNum type="arabicPeriod"/>
            </a:pPr>
            <a:r>
              <a:rPr lang="pl">
                <a:latin typeface="Merriweather"/>
                <a:ea typeface="Merriweather"/>
                <a:cs typeface="Merriweather"/>
                <a:sym typeface="Merriweather"/>
              </a:rPr>
              <a:t>Compactness score</a:t>
            </a:r>
            <a:endParaRPr>
              <a:latin typeface="Merriweather"/>
              <a:ea typeface="Merriweather"/>
              <a:cs typeface="Merriweather"/>
              <a:sym typeface="Merriweather"/>
            </a:endParaRPr>
          </a:p>
          <a:p>
            <a:pPr indent="0" lvl="0" marL="0" rtl="0" algn="l">
              <a:spcBef>
                <a:spcPts val="0"/>
              </a:spcBef>
              <a:spcAft>
                <a:spcPts val="0"/>
              </a:spcAft>
              <a:buNone/>
            </a:pPr>
            <a:r>
              <a:t/>
            </a:r>
            <a:endParaRPr/>
          </a:p>
          <a:p>
            <a:pPr indent="0" lvl="0" marL="0" rtl="0" algn="l">
              <a:spcBef>
                <a:spcPts val="0"/>
              </a:spcBef>
              <a:spcAft>
                <a:spcPts val="0"/>
              </a:spcAft>
              <a:buNone/>
            </a:pPr>
            <a:r>
              <a:rPr b="1" lang="pl"/>
              <a:t>Validation:</a:t>
            </a:r>
            <a:endParaRPr b="1"/>
          </a:p>
        </p:txBody>
      </p:sp>
      <p:pic>
        <p:nvPicPr>
          <p:cNvPr id="318" name="Google Shape;318;p35"/>
          <p:cNvPicPr preferRelativeResize="0"/>
          <p:nvPr/>
        </p:nvPicPr>
        <p:blipFill>
          <a:blip r:embed="rId4">
            <a:alphaModFix/>
          </a:blip>
          <a:stretch>
            <a:fillRect/>
          </a:stretch>
        </p:blipFill>
        <p:spPr>
          <a:xfrm>
            <a:off x="368061" y="3467200"/>
            <a:ext cx="1217016" cy="1216991"/>
          </a:xfrm>
          <a:prstGeom prst="rect">
            <a:avLst/>
          </a:prstGeom>
          <a:noFill/>
          <a:ln>
            <a:noFill/>
          </a:ln>
          <a:effectLst>
            <a:outerShdw blurRad="57150" rotWithShape="0" algn="bl" dir="5400000" dist="19050">
              <a:srgbClr val="000000">
                <a:alpha val="50000"/>
              </a:srgbClr>
            </a:outerShdw>
          </a:effectLst>
        </p:spPr>
      </p:pic>
      <p:pic>
        <p:nvPicPr>
          <p:cNvPr id="319" name="Google Shape;319;p35"/>
          <p:cNvPicPr preferRelativeResize="0"/>
          <p:nvPr/>
        </p:nvPicPr>
        <p:blipFill rotWithShape="1">
          <a:blip r:embed="rId5">
            <a:alphaModFix/>
          </a:blip>
          <a:srcRect b="25750" l="0" r="0" t="23866"/>
          <a:stretch/>
        </p:blipFill>
        <p:spPr>
          <a:xfrm>
            <a:off x="1924810" y="3467200"/>
            <a:ext cx="1335632" cy="1196179"/>
          </a:xfrm>
          <a:prstGeom prst="rect">
            <a:avLst/>
          </a:prstGeom>
          <a:noFill/>
          <a:ln>
            <a:noFill/>
          </a:ln>
          <a:effectLst>
            <a:outerShdw blurRad="57150" rotWithShape="0" algn="bl" dir="5400000" dist="19050">
              <a:srgbClr val="000000">
                <a:alpha val="50000"/>
              </a:srgbClr>
            </a:outerShdw>
          </a:effectLst>
        </p:spPr>
      </p:pic>
      <p:sp>
        <p:nvSpPr>
          <p:cNvPr id="320" name="Google Shape;320;p35"/>
          <p:cNvSpPr txBox="1"/>
          <p:nvPr/>
        </p:nvSpPr>
        <p:spPr>
          <a:xfrm>
            <a:off x="1860828" y="4663391"/>
            <a:ext cx="1872600" cy="359400"/>
          </a:xfrm>
          <a:prstGeom prst="rect">
            <a:avLst/>
          </a:prstGeom>
          <a:noFill/>
          <a:ln>
            <a:noFill/>
          </a:ln>
        </p:spPr>
        <p:txBody>
          <a:bodyPr anchorCtr="0" anchor="t" bIns="97050" lIns="97050" spcFirstLastPara="1" rIns="97050" wrap="square" tIns="97050">
            <a:spAutoFit/>
          </a:bodyPr>
          <a:lstStyle/>
          <a:p>
            <a:pPr indent="0" lvl="0" marL="0" rtl="0" algn="l">
              <a:spcBef>
                <a:spcPts val="0"/>
              </a:spcBef>
              <a:spcAft>
                <a:spcPts val="0"/>
              </a:spcAft>
              <a:buNone/>
            </a:pPr>
            <a:r>
              <a:rPr lang="pl" sz="1061">
                <a:highlight>
                  <a:srgbClr val="FFFFFF"/>
                </a:highlight>
                <a:latin typeface="Courier New"/>
                <a:ea typeface="Courier New"/>
                <a:cs typeface="Courier New"/>
                <a:sym typeface="Courier New"/>
              </a:rPr>
              <a:t>Compactness</a:t>
            </a:r>
            <a:r>
              <a:rPr lang="pl" sz="1061">
                <a:highlight>
                  <a:srgbClr val="FFFFFF"/>
                </a:highlight>
                <a:latin typeface="Courier New"/>
                <a:ea typeface="Courier New"/>
                <a:cs typeface="Courier New"/>
                <a:sym typeface="Courier New"/>
              </a:rPr>
              <a:t>: 0.06</a:t>
            </a:r>
            <a:endParaRPr sz="1486"/>
          </a:p>
        </p:txBody>
      </p:sp>
      <p:sp>
        <p:nvSpPr>
          <p:cNvPr id="321" name="Google Shape;321;p35"/>
          <p:cNvSpPr txBox="1"/>
          <p:nvPr/>
        </p:nvSpPr>
        <p:spPr>
          <a:xfrm>
            <a:off x="311725" y="4667158"/>
            <a:ext cx="3116700" cy="351900"/>
          </a:xfrm>
          <a:prstGeom prst="rect">
            <a:avLst/>
          </a:prstGeom>
          <a:noFill/>
          <a:ln>
            <a:noFill/>
          </a:ln>
        </p:spPr>
        <p:txBody>
          <a:bodyPr anchorCtr="0" anchor="t" bIns="95000" lIns="95000" spcFirstLastPara="1" rIns="95000" wrap="square" tIns="95000">
            <a:spAutoFit/>
          </a:bodyPr>
          <a:lstStyle/>
          <a:p>
            <a:pPr indent="0" lvl="0" marL="0" rtl="0" algn="l">
              <a:spcBef>
                <a:spcPts val="0"/>
              </a:spcBef>
              <a:spcAft>
                <a:spcPts val="0"/>
              </a:spcAft>
              <a:buNone/>
            </a:pPr>
            <a:r>
              <a:rPr lang="pl" sz="1038">
                <a:highlight>
                  <a:srgbClr val="FFFFFF"/>
                </a:highlight>
                <a:latin typeface="Courier New"/>
                <a:ea typeface="Courier New"/>
                <a:cs typeface="Courier New"/>
                <a:sym typeface="Courier New"/>
              </a:rPr>
              <a:t>Compactness</a:t>
            </a:r>
            <a:r>
              <a:rPr lang="pl" sz="1038">
                <a:highlight>
                  <a:srgbClr val="FFFFFF"/>
                </a:highlight>
                <a:latin typeface="Courier New"/>
                <a:ea typeface="Courier New"/>
                <a:cs typeface="Courier New"/>
                <a:sym typeface="Courier New"/>
              </a:rPr>
              <a:t>: 0.8</a:t>
            </a:r>
            <a:endParaRPr sz="1454"/>
          </a:p>
        </p:txBody>
      </p:sp>
      <p:pic>
        <p:nvPicPr>
          <p:cNvPr id="322" name="Google Shape;322;p35"/>
          <p:cNvPicPr preferRelativeResize="0"/>
          <p:nvPr/>
        </p:nvPicPr>
        <p:blipFill>
          <a:blip r:embed="rId6">
            <a:alphaModFix/>
          </a:blip>
          <a:stretch>
            <a:fillRect/>
          </a:stretch>
        </p:blipFill>
        <p:spPr>
          <a:xfrm>
            <a:off x="4079250" y="1298876"/>
            <a:ext cx="3723524" cy="1974044"/>
          </a:xfrm>
          <a:prstGeom prst="rect">
            <a:avLst/>
          </a:prstGeom>
          <a:noFill/>
          <a:ln>
            <a:noFill/>
          </a:ln>
          <a:effectLst>
            <a:outerShdw blurRad="57150" rotWithShape="0" algn="bl" dir="5400000" dist="19050">
              <a:srgbClr val="000000">
                <a:alpha val="50000"/>
              </a:srgbClr>
            </a:outerShdw>
          </a:effectLst>
        </p:spPr>
      </p:pic>
      <p:pic>
        <p:nvPicPr>
          <p:cNvPr id="323" name="Google Shape;323;p35"/>
          <p:cNvPicPr preferRelativeResize="0"/>
          <p:nvPr/>
        </p:nvPicPr>
        <p:blipFill>
          <a:blip r:embed="rId7">
            <a:alphaModFix/>
          </a:blip>
          <a:stretch>
            <a:fillRect/>
          </a:stretch>
        </p:blipFill>
        <p:spPr>
          <a:xfrm>
            <a:off x="4079250" y="3315408"/>
            <a:ext cx="4646124" cy="1499753"/>
          </a:xfrm>
          <a:prstGeom prst="rect">
            <a:avLst/>
          </a:prstGeom>
          <a:noFill/>
          <a:ln>
            <a:noFill/>
          </a:ln>
          <a:effectLst>
            <a:outerShdw blurRad="57150" rotWithShape="0" algn="bl" dir="5400000" dist="19050">
              <a:srgbClr val="000000">
                <a:alpha val="50000"/>
              </a:srgbClr>
            </a:outerShdw>
          </a:effectLst>
        </p:spPr>
      </p:pic>
      <p:pic>
        <p:nvPicPr>
          <p:cNvPr id="324" name="Google Shape;324;p35"/>
          <p:cNvPicPr preferRelativeResize="0"/>
          <p:nvPr/>
        </p:nvPicPr>
        <p:blipFill>
          <a:blip r:embed="rId8">
            <a:alphaModFix/>
          </a:blip>
          <a:stretch>
            <a:fillRect/>
          </a:stretch>
        </p:blipFill>
        <p:spPr>
          <a:xfrm>
            <a:off x="7855698" y="1785192"/>
            <a:ext cx="1217025" cy="114200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6"/>
          <p:cNvSpPr txBox="1"/>
          <p:nvPr>
            <p:ph type="title"/>
          </p:nvPr>
        </p:nvSpPr>
        <p:spPr>
          <a:xfrm>
            <a:off x="311700" y="3244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Border and Asymmetry Limitations</a:t>
            </a:r>
            <a:endParaRPr/>
          </a:p>
        </p:txBody>
      </p:sp>
      <p:sp>
        <p:nvSpPr>
          <p:cNvPr id="330" name="Google Shape;33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331" name="Google Shape;331;p36"/>
          <p:cNvPicPr preferRelativeResize="0"/>
          <p:nvPr/>
        </p:nvPicPr>
        <p:blipFill>
          <a:blip r:embed="rId3">
            <a:alphaModFix/>
          </a:blip>
          <a:stretch>
            <a:fillRect/>
          </a:stretch>
        </p:blipFill>
        <p:spPr>
          <a:xfrm>
            <a:off x="875813" y="1443575"/>
            <a:ext cx="7392374" cy="36999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More ideas for border</a:t>
            </a:r>
            <a:endParaRPr/>
          </a:p>
        </p:txBody>
      </p:sp>
      <p:sp>
        <p:nvSpPr>
          <p:cNvPr id="337" name="Google Shape;33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338" name="Google Shape;338;p37"/>
          <p:cNvPicPr preferRelativeResize="0"/>
          <p:nvPr/>
        </p:nvPicPr>
        <p:blipFill>
          <a:blip r:embed="rId3">
            <a:alphaModFix/>
          </a:blip>
          <a:stretch>
            <a:fillRect/>
          </a:stretch>
        </p:blipFill>
        <p:spPr>
          <a:xfrm>
            <a:off x="477288" y="1605275"/>
            <a:ext cx="8189476" cy="2831126"/>
          </a:xfrm>
          <a:prstGeom prst="rect">
            <a:avLst/>
          </a:prstGeom>
          <a:noFill/>
          <a:ln>
            <a:noFill/>
          </a:ln>
          <a:effectLst>
            <a:outerShdw blurRad="57150" rotWithShape="0" algn="bl" dir="5400000" dist="19050">
              <a:srgbClr val="000000">
                <a:alpha val="50000"/>
              </a:srgbClr>
            </a:outerShdw>
          </a:effectLst>
        </p:spPr>
      </p:pic>
      <p:cxnSp>
        <p:nvCxnSpPr>
          <p:cNvPr id="339" name="Google Shape;339;p37"/>
          <p:cNvCxnSpPr/>
          <p:nvPr/>
        </p:nvCxnSpPr>
        <p:spPr>
          <a:xfrm flipH="1">
            <a:off x="1789500" y="2808475"/>
            <a:ext cx="204900" cy="2412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Color</a:t>
            </a:r>
            <a:endParaRPr/>
          </a:p>
        </p:txBody>
      </p:sp>
      <p:sp>
        <p:nvSpPr>
          <p:cNvPr id="345" name="Google Shape;34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grpSp>
        <p:nvGrpSpPr>
          <p:cNvPr id="346" name="Google Shape;346;p38"/>
          <p:cNvGrpSpPr/>
          <p:nvPr/>
        </p:nvGrpSpPr>
        <p:grpSpPr>
          <a:xfrm>
            <a:off x="2256604" y="1125628"/>
            <a:ext cx="4036590" cy="3941676"/>
            <a:chOff x="2256567" y="677103"/>
            <a:chExt cx="4036590" cy="3941676"/>
          </a:xfrm>
        </p:grpSpPr>
        <p:sp>
          <p:nvSpPr>
            <p:cNvPr id="347" name="Google Shape;347;p38"/>
            <p:cNvSpPr/>
            <p:nvPr/>
          </p:nvSpPr>
          <p:spPr>
            <a:xfrm rot="-6597333">
              <a:off x="4296826" y="3950027"/>
              <a:ext cx="586303" cy="586303"/>
            </a:xfrm>
            <a:prstGeom prst="ellipse">
              <a:avLst/>
            </a:prstGeom>
            <a:solidFill>
              <a:srgbClr val="83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8"/>
            <p:cNvSpPr/>
            <p:nvPr/>
          </p:nvSpPr>
          <p:spPr>
            <a:xfrm rot="-6599386">
              <a:off x="2318596" y="1407533"/>
              <a:ext cx="440541" cy="440541"/>
            </a:xfrm>
            <a:prstGeom prst="ellipse">
              <a:avLst/>
            </a:prstGeom>
            <a:solidFill>
              <a:srgbClr val="83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8"/>
            <p:cNvSpPr/>
            <p:nvPr/>
          </p:nvSpPr>
          <p:spPr>
            <a:xfrm rot="-6598839">
              <a:off x="2887641" y="2346984"/>
              <a:ext cx="1199287" cy="1199287"/>
            </a:xfrm>
            <a:prstGeom prst="ellipse">
              <a:avLst/>
            </a:prstGeom>
            <a:solidFill>
              <a:srgbClr val="83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8"/>
            <p:cNvSpPr/>
            <p:nvPr/>
          </p:nvSpPr>
          <p:spPr>
            <a:xfrm rot="-6598620">
              <a:off x="4374916" y="913763"/>
              <a:ext cx="1681581" cy="1681581"/>
            </a:xfrm>
            <a:prstGeom prst="ellipse">
              <a:avLst/>
            </a:prstGeom>
            <a:solidFill>
              <a:srgbClr val="83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8"/>
            <p:cNvSpPr/>
            <p:nvPr/>
          </p:nvSpPr>
          <p:spPr>
            <a:xfrm rot="-6597866">
              <a:off x="2661829" y="2208216"/>
              <a:ext cx="629106" cy="629106"/>
            </a:xfrm>
            <a:prstGeom prst="ellipse">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8"/>
            <p:cNvSpPr/>
            <p:nvPr/>
          </p:nvSpPr>
          <p:spPr>
            <a:xfrm rot="-6597701">
              <a:off x="3267625" y="1113818"/>
              <a:ext cx="274172" cy="274172"/>
            </a:xfrm>
            <a:prstGeom prst="ellipse">
              <a:avLst/>
            </a:prstGeom>
            <a:solidFill>
              <a:srgbClr val="83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 name="Google Shape;353;p38"/>
          <p:cNvGrpSpPr/>
          <p:nvPr/>
        </p:nvGrpSpPr>
        <p:grpSpPr>
          <a:xfrm>
            <a:off x="4447231" y="2264291"/>
            <a:ext cx="2440200" cy="2440200"/>
            <a:chOff x="4447194" y="1815766"/>
            <a:chExt cx="2440200" cy="2440200"/>
          </a:xfrm>
        </p:grpSpPr>
        <p:sp>
          <p:nvSpPr>
            <p:cNvPr id="354" name="Google Shape;354;p38"/>
            <p:cNvSpPr/>
            <p:nvPr/>
          </p:nvSpPr>
          <p:spPr>
            <a:xfrm>
              <a:off x="4447194" y="1815766"/>
              <a:ext cx="2440200" cy="2440200"/>
            </a:xfrm>
            <a:prstGeom prst="ellipse">
              <a:avLst/>
            </a:prstGeom>
            <a:solidFill>
              <a:srgbClr val="155B55"/>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8"/>
            <p:cNvSpPr txBox="1"/>
            <p:nvPr/>
          </p:nvSpPr>
          <p:spPr>
            <a:xfrm>
              <a:off x="4735950" y="2504275"/>
              <a:ext cx="1862700" cy="11634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pl" sz="1900">
                  <a:solidFill>
                    <a:srgbClr val="FFFFFF"/>
                  </a:solidFill>
                  <a:latin typeface="Roboto"/>
                  <a:ea typeface="Roboto"/>
                  <a:cs typeface="Roboto"/>
                  <a:sym typeface="Roboto"/>
                </a:rPr>
                <a:t>HSV statistics</a:t>
              </a:r>
              <a:endParaRPr sz="2000">
                <a:solidFill>
                  <a:srgbClr val="FFFFFF"/>
                </a:solidFill>
                <a:latin typeface="Roboto"/>
                <a:ea typeface="Roboto"/>
                <a:cs typeface="Roboto"/>
                <a:sym typeface="Roboto"/>
              </a:endParaRPr>
            </a:p>
          </p:txBody>
        </p:sp>
      </p:grpSp>
      <p:grpSp>
        <p:nvGrpSpPr>
          <p:cNvPr id="356" name="Google Shape;356;p38"/>
          <p:cNvGrpSpPr/>
          <p:nvPr/>
        </p:nvGrpSpPr>
        <p:grpSpPr>
          <a:xfrm>
            <a:off x="3566974" y="1822578"/>
            <a:ext cx="1423800" cy="1423800"/>
            <a:chOff x="3490737" y="1374053"/>
            <a:chExt cx="1423800" cy="1423800"/>
          </a:xfrm>
        </p:grpSpPr>
        <p:sp>
          <p:nvSpPr>
            <p:cNvPr id="357" name="Google Shape;357;p38"/>
            <p:cNvSpPr/>
            <p:nvPr/>
          </p:nvSpPr>
          <p:spPr>
            <a:xfrm>
              <a:off x="3490737" y="1374053"/>
              <a:ext cx="1423800" cy="1423800"/>
            </a:xfrm>
            <a:prstGeom prst="ellipse">
              <a:avLst/>
            </a:prstGeom>
            <a:solidFill>
              <a:srgbClr val="1D7E75"/>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8"/>
            <p:cNvSpPr txBox="1"/>
            <p:nvPr/>
          </p:nvSpPr>
          <p:spPr>
            <a:xfrm>
              <a:off x="3718754" y="1613603"/>
              <a:ext cx="967800" cy="9447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pl" sz="1300">
                  <a:solidFill>
                    <a:srgbClr val="FFFFFF"/>
                  </a:solidFill>
                  <a:latin typeface="Roboto"/>
                  <a:ea typeface="Roboto"/>
                  <a:cs typeface="Roboto"/>
                  <a:sym typeface="Roboto"/>
                </a:rPr>
                <a:t>No. </a:t>
              </a:r>
              <a:endParaRPr sz="1300">
                <a:solidFill>
                  <a:srgbClr val="FFFFFF"/>
                </a:solidFill>
                <a:latin typeface="Roboto"/>
                <a:ea typeface="Roboto"/>
                <a:cs typeface="Roboto"/>
                <a:sym typeface="Roboto"/>
              </a:endParaRPr>
            </a:p>
            <a:p>
              <a:pPr indent="0" lvl="0" marL="0" rtl="0" algn="ctr">
                <a:spcBef>
                  <a:spcPts val="0"/>
                </a:spcBef>
                <a:spcAft>
                  <a:spcPts val="0"/>
                </a:spcAft>
                <a:buNone/>
              </a:pPr>
              <a:r>
                <a:rPr lang="pl" sz="1300">
                  <a:solidFill>
                    <a:srgbClr val="FFFFFF"/>
                  </a:solidFill>
                  <a:latin typeface="Roboto"/>
                  <a:ea typeface="Roboto"/>
                  <a:cs typeface="Roboto"/>
                  <a:sym typeface="Roboto"/>
                </a:rPr>
                <a:t>melanoma</a:t>
              </a:r>
              <a:endParaRPr sz="1300">
                <a:solidFill>
                  <a:srgbClr val="FFFFFF"/>
                </a:solidFill>
                <a:latin typeface="Roboto"/>
                <a:ea typeface="Roboto"/>
                <a:cs typeface="Roboto"/>
                <a:sym typeface="Roboto"/>
              </a:endParaRPr>
            </a:p>
            <a:p>
              <a:pPr indent="0" lvl="0" marL="0" rtl="0" algn="ctr">
                <a:spcBef>
                  <a:spcPts val="0"/>
                </a:spcBef>
                <a:spcAft>
                  <a:spcPts val="0"/>
                </a:spcAft>
                <a:buNone/>
              </a:pPr>
              <a:r>
                <a:rPr lang="pl" sz="1300">
                  <a:solidFill>
                    <a:srgbClr val="FFFFFF"/>
                  </a:solidFill>
                  <a:latin typeface="Roboto"/>
                  <a:ea typeface="Roboto"/>
                  <a:cs typeface="Roboto"/>
                  <a:sym typeface="Roboto"/>
                </a:rPr>
                <a:t>colors</a:t>
              </a:r>
              <a:endParaRPr sz="1300">
                <a:solidFill>
                  <a:srgbClr val="FFFFFF"/>
                </a:solidFill>
                <a:latin typeface="Roboto"/>
                <a:ea typeface="Roboto"/>
                <a:cs typeface="Roboto"/>
                <a:sym typeface="Roboto"/>
              </a:endParaRPr>
            </a:p>
          </p:txBody>
        </p:sp>
      </p:grpSp>
      <p:grpSp>
        <p:nvGrpSpPr>
          <p:cNvPr id="359" name="Google Shape;359;p38"/>
          <p:cNvGrpSpPr/>
          <p:nvPr/>
        </p:nvGrpSpPr>
        <p:grpSpPr>
          <a:xfrm>
            <a:off x="3225791" y="3386814"/>
            <a:ext cx="1498800" cy="1498800"/>
            <a:chOff x="644203" y="3718814"/>
            <a:chExt cx="1498800" cy="1498800"/>
          </a:xfrm>
        </p:grpSpPr>
        <p:sp>
          <p:nvSpPr>
            <p:cNvPr id="360" name="Google Shape;360;p38"/>
            <p:cNvSpPr/>
            <p:nvPr/>
          </p:nvSpPr>
          <p:spPr>
            <a:xfrm>
              <a:off x="644203" y="3718814"/>
              <a:ext cx="1498800" cy="1498800"/>
            </a:xfrm>
            <a:prstGeom prst="ellipse">
              <a:avLst/>
            </a:prstGeom>
            <a:solidFill>
              <a:srgbClr val="1B786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8"/>
            <p:cNvSpPr txBox="1"/>
            <p:nvPr/>
          </p:nvSpPr>
          <p:spPr>
            <a:xfrm>
              <a:off x="856976" y="3995875"/>
              <a:ext cx="1073400" cy="9447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pl" sz="1600">
                  <a:solidFill>
                    <a:srgbClr val="FFFFFF"/>
                  </a:solidFill>
                  <a:latin typeface="Roboto"/>
                  <a:ea typeface="Roboto"/>
                  <a:cs typeface="Roboto"/>
                  <a:sym typeface="Roboto"/>
                </a:rPr>
                <a:t>Hue</a:t>
              </a:r>
              <a:endParaRPr sz="1600">
                <a:solidFill>
                  <a:srgbClr val="FFFFFF"/>
                </a:solidFill>
                <a:latin typeface="Roboto"/>
                <a:ea typeface="Roboto"/>
                <a:cs typeface="Roboto"/>
                <a:sym typeface="Roboto"/>
              </a:endParaRPr>
            </a:p>
            <a:p>
              <a:pPr indent="0" lvl="0" marL="0" rtl="0" algn="ctr">
                <a:spcBef>
                  <a:spcPts val="0"/>
                </a:spcBef>
                <a:spcAft>
                  <a:spcPts val="0"/>
                </a:spcAft>
                <a:buNone/>
              </a:pPr>
              <a:r>
                <a:rPr lang="pl" sz="1600">
                  <a:solidFill>
                    <a:srgbClr val="FFFFFF"/>
                  </a:solidFill>
                  <a:latin typeface="Roboto"/>
                  <a:ea typeface="Roboto"/>
                  <a:cs typeface="Roboto"/>
                  <a:sym typeface="Roboto"/>
                </a:rPr>
                <a:t>Entropy</a:t>
              </a:r>
              <a:endParaRPr sz="1600">
                <a:solidFill>
                  <a:srgbClr val="FFFFFF"/>
                </a:solidFill>
                <a:latin typeface="Roboto"/>
                <a:ea typeface="Roboto"/>
                <a:cs typeface="Roboto"/>
                <a:sym typeface="Roboto"/>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9"/>
          <p:cNvSpPr txBox="1"/>
          <p:nvPr>
            <p:ph type="title"/>
          </p:nvPr>
        </p:nvSpPr>
        <p:spPr>
          <a:xfrm>
            <a:off x="311700" y="3731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HSV statistics pipeline</a:t>
            </a:r>
            <a:endParaRPr/>
          </a:p>
        </p:txBody>
      </p:sp>
      <p:sp>
        <p:nvSpPr>
          <p:cNvPr id="367" name="Google Shape;36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368" name="Google Shape;368;p39"/>
          <p:cNvSpPr/>
          <p:nvPr/>
        </p:nvSpPr>
        <p:spPr>
          <a:xfrm rot="-711236">
            <a:off x="6462350" y="3018701"/>
            <a:ext cx="1350909" cy="57662"/>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9"/>
          <p:cNvSpPr/>
          <p:nvPr/>
        </p:nvSpPr>
        <p:spPr>
          <a:xfrm flipH="1" rot="711236">
            <a:off x="5177612" y="3018701"/>
            <a:ext cx="1350909" cy="57662"/>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0" name="Google Shape;370;p39"/>
          <p:cNvGrpSpPr/>
          <p:nvPr/>
        </p:nvGrpSpPr>
        <p:grpSpPr>
          <a:xfrm>
            <a:off x="5586175" y="3064244"/>
            <a:ext cx="1712700" cy="1230715"/>
            <a:chOff x="5796625" y="2541798"/>
            <a:chExt cx="1712700" cy="1230715"/>
          </a:xfrm>
        </p:grpSpPr>
        <p:sp>
          <p:nvSpPr>
            <p:cNvPr id="371" name="Google Shape;371;p39"/>
            <p:cNvSpPr/>
            <p:nvPr/>
          </p:nvSpPr>
          <p:spPr>
            <a:xfrm rot="-1789476">
              <a:off x="6572742" y="2571072"/>
              <a:ext cx="160451" cy="160451"/>
            </a:xfrm>
            <a:prstGeom prst="ellipse">
              <a:avLst/>
            </a:prstGeom>
            <a:solidFill>
              <a:srgbClr val="FFFFFF"/>
            </a:solid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9"/>
            <p:cNvSpPr txBox="1"/>
            <p:nvPr/>
          </p:nvSpPr>
          <p:spPr>
            <a:xfrm>
              <a:off x="6296613" y="2735584"/>
              <a:ext cx="696900" cy="2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pl" sz="800">
                  <a:solidFill>
                    <a:srgbClr val="5E5E5E"/>
                  </a:solidFill>
                  <a:latin typeface="Roboto"/>
                  <a:ea typeface="Roboto"/>
                  <a:cs typeface="Roboto"/>
                  <a:sym typeface="Roboto"/>
                </a:rPr>
                <a:t>4</a:t>
              </a:r>
              <a:endParaRPr b="1" sz="800">
                <a:solidFill>
                  <a:srgbClr val="5E5E5E"/>
                </a:solidFill>
                <a:latin typeface="Roboto"/>
                <a:ea typeface="Roboto"/>
                <a:cs typeface="Roboto"/>
                <a:sym typeface="Roboto"/>
              </a:endParaRPr>
            </a:p>
          </p:txBody>
        </p:sp>
        <p:sp>
          <p:nvSpPr>
            <p:cNvPr id="373" name="Google Shape;373;p39"/>
            <p:cNvSpPr/>
            <p:nvPr/>
          </p:nvSpPr>
          <p:spPr>
            <a:xfrm>
              <a:off x="5796625" y="3069013"/>
              <a:ext cx="1712700" cy="703500"/>
            </a:xfrm>
            <a:prstGeom prst="roundRect">
              <a:avLst>
                <a:gd fmla="val 4485"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74" name="Google Shape;374;p39"/>
            <p:cNvSpPr/>
            <p:nvPr/>
          </p:nvSpPr>
          <p:spPr>
            <a:xfrm>
              <a:off x="6607975" y="3004364"/>
              <a:ext cx="90000" cy="675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5" name="Google Shape;375;p39"/>
          <p:cNvSpPr/>
          <p:nvPr/>
        </p:nvSpPr>
        <p:spPr>
          <a:xfrm rot="-711236">
            <a:off x="3896538" y="3018701"/>
            <a:ext cx="1350909" cy="57662"/>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6" name="Google Shape;376;p39"/>
          <p:cNvGrpSpPr/>
          <p:nvPr/>
        </p:nvGrpSpPr>
        <p:grpSpPr>
          <a:xfrm>
            <a:off x="4329700" y="1696628"/>
            <a:ext cx="1712700" cy="1323697"/>
            <a:chOff x="4409300" y="1142999"/>
            <a:chExt cx="1712700" cy="1323697"/>
          </a:xfrm>
        </p:grpSpPr>
        <p:sp>
          <p:nvSpPr>
            <p:cNvPr id="377" name="Google Shape;377;p39"/>
            <p:cNvSpPr/>
            <p:nvPr/>
          </p:nvSpPr>
          <p:spPr>
            <a:xfrm rot="-1789476">
              <a:off x="5185416" y="2276970"/>
              <a:ext cx="160451" cy="160451"/>
            </a:xfrm>
            <a:prstGeom prst="ellipse">
              <a:avLst/>
            </a:prstGeom>
            <a:solidFill>
              <a:srgbClr val="FFFFFF"/>
            </a:solid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9"/>
            <p:cNvSpPr txBox="1"/>
            <p:nvPr/>
          </p:nvSpPr>
          <p:spPr>
            <a:xfrm>
              <a:off x="4921731" y="1985297"/>
              <a:ext cx="696900" cy="2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pl" sz="800">
                  <a:solidFill>
                    <a:srgbClr val="5E5E5E"/>
                  </a:solidFill>
                  <a:latin typeface="Roboto"/>
                  <a:ea typeface="Roboto"/>
                  <a:cs typeface="Roboto"/>
                  <a:sym typeface="Roboto"/>
                </a:rPr>
                <a:t>3</a:t>
              </a:r>
              <a:endParaRPr b="1" sz="800">
                <a:solidFill>
                  <a:srgbClr val="5E5E5E"/>
                </a:solidFill>
                <a:latin typeface="Roboto"/>
                <a:ea typeface="Roboto"/>
                <a:cs typeface="Roboto"/>
                <a:sym typeface="Roboto"/>
              </a:endParaRPr>
            </a:p>
          </p:txBody>
        </p:sp>
        <p:sp>
          <p:nvSpPr>
            <p:cNvPr id="379" name="Google Shape;379;p39"/>
            <p:cNvSpPr/>
            <p:nvPr/>
          </p:nvSpPr>
          <p:spPr>
            <a:xfrm>
              <a:off x="4409300" y="1219942"/>
              <a:ext cx="1712700" cy="703500"/>
            </a:xfrm>
            <a:prstGeom prst="roundRect">
              <a:avLst>
                <a:gd fmla="val 4485"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80" name="Google Shape;380;p39"/>
            <p:cNvSpPr/>
            <p:nvPr/>
          </p:nvSpPr>
          <p:spPr>
            <a:xfrm rot="10800000">
              <a:off x="5220625" y="1919036"/>
              <a:ext cx="90000" cy="675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9"/>
            <p:cNvSpPr txBox="1"/>
            <p:nvPr/>
          </p:nvSpPr>
          <p:spPr>
            <a:xfrm>
              <a:off x="4458075" y="1142999"/>
              <a:ext cx="1624200" cy="70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pl" sz="1800">
                  <a:solidFill>
                    <a:srgbClr val="5E5E5E"/>
                  </a:solidFill>
                  <a:latin typeface="Roboto"/>
                  <a:ea typeface="Roboto"/>
                  <a:cs typeface="Roboto"/>
                  <a:sym typeface="Roboto"/>
                </a:rPr>
                <a:t>Superpixel</a:t>
              </a:r>
              <a:endParaRPr sz="1800">
                <a:solidFill>
                  <a:srgbClr val="5E5E5E"/>
                </a:solidFill>
                <a:latin typeface="Roboto"/>
                <a:ea typeface="Roboto"/>
                <a:cs typeface="Roboto"/>
                <a:sym typeface="Roboto"/>
              </a:endParaRPr>
            </a:p>
            <a:p>
              <a:pPr indent="0" lvl="0" marL="0" rtl="0" algn="ctr">
                <a:lnSpc>
                  <a:spcPct val="100000"/>
                </a:lnSpc>
                <a:spcBef>
                  <a:spcPts val="500"/>
                </a:spcBef>
                <a:spcAft>
                  <a:spcPts val="500"/>
                </a:spcAft>
                <a:buNone/>
              </a:pPr>
              <a:r>
                <a:rPr lang="pl" sz="1800">
                  <a:solidFill>
                    <a:srgbClr val="5E5E5E"/>
                  </a:solidFill>
                  <a:latin typeface="Roboto"/>
                  <a:ea typeface="Roboto"/>
                  <a:cs typeface="Roboto"/>
                  <a:sym typeface="Roboto"/>
                </a:rPr>
                <a:t>mean HSV</a:t>
              </a:r>
              <a:endParaRPr sz="1800">
                <a:solidFill>
                  <a:srgbClr val="5E5E5E"/>
                </a:solidFill>
              </a:endParaRPr>
            </a:p>
          </p:txBody>
        </p:sp>
      </p:grpSp>
      <p:sp>
        <p:nvSpPr>
          <p:cNvPr id="382" name="Google Shape;382;p39"/>
          <p:cNvSpPr/>
          <p:nvPr/>
        </p:nvSpPr>
        <p:spPr>
          <a:xfrm flipH="1" rot="711236">
            <a:off x="2604858" y="3018701"/>
            <a:ext cx="1350909" cy="57662"/>
          </a:xfrm>
          <a:prstGeom prst="roundRect">
            <a:avLst>
              <a:gd fmla="val 50000" name="adj"/>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39"/>
          <p:cNvGrpSpPr/>
          <p:nvPr/>
        </p:nvGrpSpPr>
        <p:grpSpPr>
          <a:xfrm>
            <a:off x="3073288" y="3074744"/>
            <a:ext cx="1712700" cy="1272540"/>
            <a:chOff x="3021975" y="2541798"/>
            <a:chExt cx="1712700" cy="1272540"/>
          </a:xfrm>
        </p:grpSpPr>
        <p:sp>
          <p:nvSpPr>
            <p:cNvPr id="384" name="Google Shape;384;p39"/>
            <p:cNvSpPr txBox="1"/>
            <p:nvPr/>
          </p:nvSpPr>
          <p:spPr>
            <a:xfrm>
              <a:off x="3529877" y="2735584"/>
              <a:ext cx="696900" cy="2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pl" sz="800">
                  <a:solidFill>
                    <a:srgbClr val="1B786F"/>
                  </a:solidFill>
                  <a:latin typeface="Roboto"/>
                  <a:ea typeface="Roboto"/>
                  <a:cs typeface="Roboto"/>
                  <a:sym typeface="Roboto"/>
                </a:rPr>
                <a:t>2</a:t>
              </a:r>
              <a:endParaRPr b="1" sz="800">
                <a:solidFill>
                  <a:srgbClr val="1B786F"/>
                </a:solidFill>
                <a:latin typeface="Roboto"/>
                <a:ea typeface="Roboto"/>
                <a:cs typeface="Roboto"/>
                <a:sym typeface="Roboto"/>
              </a:endParaRPr>
            </a:p>
          </p:txBody>
        </p:sp>
        <p:sp>
          <p:nvSpPr>
            <p:cNvPr id="385" name="Google Shape;385;p39"/>
            <p:cNvSpPr/>
            <p:nvPr/>
          </p:nvSpPr>
          <p:spPr>
            <a:xfrm rot="-1789476">
              <a:off x="3798091" y="2571072"/>
              <a:ext cx="160451" cy="160451"/>
            </a:xfrm>
            <a:prstGeom prst="ellipse">
              <a:avLst/>
            </a:prstGeom>
            <a:solidFill>
              <a:srgbClr val="FFFFFF"/>
            </a:solidFill>
            <a:ln cap="flat" cmpd="sng" w="38100">
              <a:solidFill>
                <a:srgbClr val="1B78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9"/>
            <p:cNvSpPr/>
            <p:nvPr/>
          </p:nvSpPr>
          <p:spPr>
            <a:xfrm>
              <a:off x="3021975" y="3069013"/>
              <a:ext cx="1712700" cy="703500"/>
            </a:xfrm>
            <a:prstGeom prst="roundRect">
              <a:avLst>
                <a:gd fmla="val 4485" name="adj"/>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87" name="Google Shape;387;p39"/>
            <p:cNvSpPr txBox="1"/>
            <p:nvPr/>
          </p:nvSpPr>
          <p:spPr>
            <a:xfrm>
              <a:off x="3066200" y="3189738"/>
              <a:ext cx="1624200" cy="624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pl" sz="1800">
                  <a:solidFill>
                    <a:srgbClr val="FFFFFF"/>
                  </a:solidFill>
                  <a:latin typeface="Roboto"/>
                  <a:ea typeface="Roboto"/>
                  <a:cs typeface="Roboto"/>
                  <a:sym typeface="Roboto"/>
                </a:rPr>
                <a:t>SLIC</a:t>
              </a:r>
              <a:endParaRPr sz="1800">
                <a:solidFill>
                  <a:srgbClr val="FFFFFF"/>
                </a:solidFill>
              </a:endParaRPr>
            </a:p>
          </p:txBody>
        </p:sp>
        <p:sp>
          <p:nvSpPr>
            <p:cNvPr id="388" name="Google Shape;388;p39"/>
            <p:cNvSpPr/>
            <p:nvPr/>
          </p:nvSpPr>
          <p:spPr>
            <a:xfrm>
              <a:off x="3833325" y="3004364"/>
              <a:ext cx="90000" cy="67500"/>
            </a:xfrm>
            <a:prstGeom prst="triangle">
              <a:avLst>
                <a:gd fmla="val 50000" name="adj"/>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9" name="Google Shape;389;p39"/>
          <p:cNvSpPr/>
          <p:nvPr/>
        </p:nvSpPr>
        <p:spPr>
          <a:xfrm rot="-711236">
            <a:off x="1330733" y="3018701"/>
            <a:ext cx="1350909" cy="57662"/>
          </a:xfrm>
          <a:prstGeom prst="roundRect">
            <a:avLst>
              <a:gd fmla="val 0" name="adj"/>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 name="Google Shape;390;p39"/>
          <p:cNvGrpSpPr/>
          <p:nvPr/>
        </p:nvGrpSpPr>
        <p:grpSpPr>
          <a:xfrm>
            <a:off x="1786475" y="1773572"/>
            <a:ext cx="1712700" cy="1246754"/>
            <a:chOff x="1637475" y="1219942"/>
            <a:chExt cx="1712700" cy="1246754"/>
          </a:xfrm>
        </p:grpSpPr>
        <p:sp>
          <p:nvSpPr>
            <p:cNvPr id="391" name="Google Shape;391;p39"/>
            <p:cNvSpPr/>
            <p:nvPr/>
          </p:nvSpPr>
          <p:spPr>
            <a:xfrm>
              <a:off x="1637475" y="1219942"/>
              <a:ext cx="1712700" cy="703500"/>
            </a:xfrm>
            <a:prstGeom prst="roundRect">
              <a:avLst>
                <a:gd fmla="val 4485" name="adj"/>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92" name="Google Shape;392;p39"/>
            <p:cNvSpPr/>
            <p:nvPr/>
          </p:nvSpPr>
          <p:spPr>
            <a:xfrm rot="10800000">
              <a:off x="2448800" y="1919036"/>
              <a:ext cx="90000" cy="67500"/>
            </a:xfrm>
            <a:prstGeom prst="triangle">
              <a:avLst>
                <a:gd fmla="val 50000" name="adj"/>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9"/>
            <p:cNvSpPr txBox="1"/>
            <p:nvPr/>
          </p:nvSpPr>
          <p:spPr>
            <a:xfrm>
              <a:off x="1681725" y="1365605"/>
              <a:ext cx="1624200" cy="624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pl" sz="1800">
                  <a:solidFill>
                    <a:srgbClr val="FFFFFF"/>
                  </a:solidFill>
                  <a:latin typeface="Roboto"/>
                  <a:ea typeface="Roboto"/>
                  <a:cs typeface="Roboto"/>
                  <a:sym typeface="Roboto"/>
                </a:rPr>
                <a:t>Downsizing</a:t>
              </a:r>
              <a:endParaRPr sz="1800">
                <a:solidFill>
                  <a:srgbClr val="FFFFFF"/>
                </a:solidFill>
              </a:endParaRPr>
            </a:p>
          </p:txBody>
        </p:sp>
        <p:sp>
          <p:nvSpPr>
            <p:cNvPr id="394" name="Google Shape;394;p39"/>
            <p:cNvSpPr/>
            <p:nvPr/>
          </p:nvSpPr>
          <p:spPr>
            <a:xfrm rot="-1789476">
              <a:off x="2410765" y="2276970"/>
              <a:ext cx="160451" cy="160451"/>
            </a:xfrm>
            <a:prstGeom prst="ellipse">
              <a:avLst/>
            </a:prstGeom>
            <a:solidFill>
              <a:srgbClr val="FFFFFF"/>
            </a:solidFill>
            <a:ln cap="flat" cmpd="sng" w="38100">
              <a:solidFill>
                <a:srgbClr val="1B78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9"/>
            <p:cNvSpPr txBox="1"/>
            <p:nvPr/>
          </p:nvSpPr>
          <p:spPr>
            <a:xfrm>
              <a:off x="2144544" y="1985297"/>
              <a:ext cx="696900" cy="2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pl" sz="800">
                  <a:solidFill>
                    <a:srgbClr val="1B786F"/>
                  </a:solidFill>
                  <a:latin typeface="Roboto"/>
                  <a:ea typeface="Roboto"/>
                  <a:cs typeface="Roboto"/>
                  <a:sym typeface="Roboto"/>
                </a:rPr>
                <a:t>1</a:t>
              </a:r>
              <a:endParaRPr b="1" sz="800">
                <a:solidFill>
                  <a:srgbClr val="1B786F"/>
                </a:solidFill>
                <a:latin typeface="Roboto"/>
                <a:ea typeface="Roboto"/>
                <a:cs typeface="Roboto"/>
                <a:sym typeface="Roboto"/>
              </a:endParaRPr>
            </a:p>
          </p:txBody>
        </p:sp>
      </p:grpSp>
      <p:sp>
        <p:nvSpPr>
          <p:cNvPr id="396" name="Google Shape;396;p39"/>
          <p:cNvSpPr txBox="1"/>
          <p:nvPr/>
        </p:nvSpPr>
        <p:spPr>
          <a:xfrm>
            <a:off x="5627025" y="3593421"/>
            <a:ext cx="1624200" cy="1069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500"/>
              </a:spcAft>
              <a:buNone/>
            </a:pPr>
            <a:r>
              <a:rPr lang="pl" sz="1800">
                <a:solidFill>
                  <a:srgbClr val="5E5E5E"/>
                </a:solidFill>
                <a:latin typeface="Roboto"/>
                <a:ea typeface="Roboto"/>
                <a:cs typeface="Roboto"/>
                <a:sym typeface="Roboto"/>
              </a:rPr>
              <a:t>Lesion mean HSV &amp; std dev</a:t>
            </a:r>
            <a:endParaRPr sz="1800">
              <a:solidFill>
                <a:srgbClr val="5E5E5E"/>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0"/>
          <p:cNvSpPr txBox="1"/>
          <p:nvPr>
            <p:ph type="title"/>
          </p:nvPr>
        </p:nvSpPr>
        <p:spPr>
          <a:xfrm>
            <a:off x="311700" y="368025"/>
            <a:ext cx="8520600" cy="62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Downsizing: Reducing computational complexity</a:t>
            </a:r>
            <a:endParaRPr/>
          </a:p>
        </p:txBody>
      </p:sp>
      <p:sp>
        <p:nvSpPr>
          <p:cNvPr id="402" name="Google Shape;40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403" name="Google Shape;403;p40" title="downsizing example 2.png"/>
          <p:cNvPicPr preferRelativeResize="0"/>
          <p:nvPr/>
        </p:nvPicPr>
        <p:blipFill>
          <a:blip r:embed="rId3">
            <a:alphaModFix/>
          </a:blip>
          <a:stretch>
            <a:fillRect/>
          </a:stretch>
        </p:blipFill>
        <p:spPr>
          <a:xfrm>
            <a:off x="1233613" y="1296525"/>
            <a:ext cx="6676785" cy="384697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409" name="Google Shape;409;p41"/>
          <p:cNvSpPr txBox="1"/>
          <p:nvPr>
            <p:ph type="title"/>
          </p:nvPr>
        </p:nvSpPr>
        <p:spPr>
          <a:xfrm>
            <a:off x="311700" y="3680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SLIC segmentation: Improving robustness</a:t>
            </a:r>
            <a:endParaRPr/>
          </a:p>
        </p:txBody>
      </p:sp>
      <p:pic>
        <p:nvPicPr>
          <p:cNvPr id="410" name="Google Shape;410;p41" title="slic 3.png"/>
          <p:cNvPicPr preferRelativeResize="0"/>
          <p:nvPr/>
        </p:nvPicPr>
        <p:blipFill>
          <a:blip r:embed="rId3">
            <a:alphaModFix/>
          </a:blip>
          <a:stretch>
            <a:fillRect/>
          </a:stretch>
        </p:blipFill>
        <p:spPr>
          <a:xfrm>
            <a:off x="1014650" y="1375800"/>
            <a:ext cx="7114701" cy="36810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416" name="Google Shape;416;p42"/>
          <p:cNvSpPr txBox="1"/>
          <p:nvPr>
            <p:ph type="title"/>
          </p:nvPr>
        </p:nvSpPr>
        <p:spPr>
          <a:xfrm>
            <a:off x="311700" y="3680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Superpixel Mean HSV</a:t>
            </a:r>
            <a:endParaRPr/>
          </a:p>
        </p:txBody>
      </p:sp>
      <p:pic>
        <p:nvPicPr>
          <p:cNvPr id="417" name="Google Shape;417;p42" title="superpixel HSV means.png"/>
          <p:cNvPicPr preferRelativeResize="0"/>
          <p:nvPr/>
        </p:nvPicPr>
        <p:blipFill rotWithShape="1">
          <a:blip r:embed="rId3">
            <a:alphaModFix/>
          </a:blip>
          <a:srcRect b="8529" l="8385" r="7502" t="13722"/>
          <a:stretch/>
        </p:blipFill>
        <p:spPr>
          <a:xfrm>
            <a:off x="4757300" y="1410025"/>
            <a:ext cx="3710850" cy="3593749"/>
          </a:xfrm>
          <a:prstGeom prst="rect">
            <a:avLst/>
          </a:prstGeom>
          <a:noFill/>
          <a:ln>
            <a:noFill/>
          </a:ln>
          <a:effectLst>
            <a:outerShdw blurRad="57150" rotWithShape="0" algn="bl" dir="5400000" dist="19050">
              <a:srgbClr val="000000">
                <a:alpha val="50000"/>
              </a:srgbClr>
            </a:outerShdw>
          </a:effectLst>
        </p:spPr>
      </p:pic>
      <p:pic>
        <p:nvPicPr>
          <p:cNvPr id="418" name="Google Shape;418;p42" title="slic 3.png"/>
          <p:cNvPicPr preferRelativeResize="0"/>
          <p:nvPr/>
        </p:nvPicPr>
        <p:blipFill rotWithShape="1">
          <a:blip r:embed="rId4">
            <a:alphaModFix/>
          </a:blip>
          <a:srcRect b="1374" l="51003" r="614" t="5150"/>
          <a:stretch/>
        </p:blipFill>
        <p:spPr>
          <a:xfrm>
            <a:off x="675875" y="1410025"/>
            <a:ext cx="3791618" cy="35937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424" name="Google Shape;424;p43"/>
          <p:cNvSpPr txBox="1"/>
          <p:nvPr>
            <p:ph type="title"/>
          </p:nvPr>
        </p:nvSpPr>
        <p:spPr>
          <a:xfrm>
            <a:off x="311725" y="424725"/>
            <a:ext cx="3706500" cy="250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Lesion Mean HSV</a:t>
            </a:r>
            <a:endParaRPr/>
          </a:p>
          <a:p>
            <a:pPr indent="0" lvl="0" marL="0" rtl="0" algn="ctr">
              <a:spcBef>
                <a:spcPts val="0"/>
              </a:spcBef>
              <a:spcAft>
                <a:spcPts val="0"/>
              </a:spcAft>
              <a:buNone/>
            </a:pPr>
            <a:r>
              <a:rPr lang="pl"/>
              <a:t>&amp; Std Dev</a:t>
            </a:r>
            <a:endParaRPr/>
          </a:p>
        </p:txBody>
      </p:sp>
      <p:pic>
        <p:nvPicPr>
          <p:cNvPr id="425" name="Google Shape;425;p43" title="superpixel HSV means.png"/>
          <p:cNvPicPr preferRelativeResize="0"/>
          <p:nvPr/>
        </p:nvPicPr>
        <p:blipFill rotWithShape="1">
          <a:blip r:embed="rId3">
            <a:alphaModFix/>
          </a:blip>
          <a:srcRect b="8529" l="8385" r="7502" t="13722"/>
          <a:stretch/>
        </p:blipFill>
        <p:spPr>
          <a:xfrm>
            <a:off x="536625" y="1618484"/>
            <a:ext cx="3256701" cy="3153916"/>
          </a:xfrm>
          <a:prstGeom prst="rect">
            <a:avLst/>
          </a:prstGeom>
          <a:noFill/>
          <a:ln>
            <a:noFill/>
          </a:ln>
          <a:effectLst>
            <a:outerShdw blurRad="57150" rotWithShape="0" algn="bl" dir="5400000" dist="19050">
              <a:srgbClr val="000000">
                <a:alpha val="50000"/>
              </a:srgbClr>
            </a:outerShdw>
          </a:effectLst>
        </p:spPr>
      </p:pic>
      <p:pic>
        <p:nvPicPr>
          <p:cNvPr id="426" name="Google Shape;426;p43" title="HSV statistics.png"/>
          <p:cNvPicPr preferRelativeResize="0"/>
          <p:nvPr/>
        </p:nvPicPr>
        <p:blipFill>
          <a:blip r:embed="rId4">
            <a:alphaModFix/>
          </a:blip>
          <a:stretch>
            <a:fillRect/>
          </a:stretch>
        </p:blipFill>
        <p:spPr>
          <a:xfrm>
            <a:off x="4947693" y="0"/>
            <a:ext cx="3440614" cy="51435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432" name="Google Shape;432;p44"/>
          <p:cNvSpPr txBox="1"/>
          <p:nvPr>
            <p:ph type="title"/>
          </p:nvPr>
        </p:nvSpPr>
        <p:spPr>
          <a:xfrm>
            <a:off x="4572000" y="375900"/>
            <a:ext cx="4312200" cy="43917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Clr>
                <a:schemeClr val="accent1"/>
              </a:buClr>
              <a:buSzPts val="2300"/>
              <a:buChar char="●"/>
            </a:pPr>
            <a:r>
              <a:rPr lang="pl" sz="2300">
                <a:solidFill>
                  <a:schemeClr val="accent1"/>
                </a:solidFill>
              </a:rPr>
              <a:t>The higher the number of superpixels, the higher std dev values will be</a:t>
            </a:r>
            <a:endParaRPr sz="2300">
              <a:solidFill>
                <a:schemeClr val="accent1"/>
              </a:solidFill>
            </a:endParaRPr>
          </a:p>
          <a:p>
            <a:pPr indent="0" lvl="0" marL="0" rtl="0" algn="l">
              <a:spcBef>
                <a:spcPts val="0"/>
              </a:spcBef>
              <a:spcAft>
                <a:spcPts val="0"/>
              </a:spcAft>
              <a:buNone/>
            </a:pPr>
            <a:r>
              <a:t/>
            </a:r>
            <a:endParaRPr sz="2300">
              <a:solidFill>
                <a:schemeClr val="accent1"/>
              </a:solidFill>
            </a:endParaRPr>
          </a:p>
          <a:p>
            <a:pPr indent="-374650" lvl="0" marL="457200" rtl="0" algn="l">
              <a:spcBef>
                <a:spcPts val="0"/>
              </a:spcBef>
              <a:spcAft>
                <a:spcPts val="0"/>
              </a:spcAft>
              <a:buClr>
                <a:schemeClr val="accent1"/>
              </a:buClr>
              <a:buSzPts val="2300"/>
              <a:buChar char="●"/>
            </a:pPr>
            <a:r>
              <a:rPr lang="pl" sz="2300">
                <a:solidFill>
                  <a:schemeClr val="accent1"/>
                </a:solidFill>
              </a:rPr>
              <a:t>High std dev values are indicators of color irregularity</a:t>
            </a:r>
            <a:endParaRPr sz="2300">
              <a:solidFill>
                <a:schemeClr val="accent1"/>
              </a:solidFill>
            </a:endParaRPr>
          </a:p>
          <a:p>
            <a:pPr indent="0" lvl="0" marL="0" rtl="0" algn="l">
              <a:spcBef>
                <a:spcPts val="0"/>
              </a:spcBef>
              <a:spcAft>
                <a:spcPts val="0"/>
              </a:spcAft>
              <a:buNone/>
            </a:pPr>
            <a:r>
              <a:t/>
            </a:r>
            <a:endParaRPr sz="2300">
              <a:solidFill>
                <a:schemeClr val="accent1"/>
              </a:solidFill>
            </a:endParaRPr>
          </a:p>
          <a:p>
            <a:pPr indent="-374650" lvl="0" marL="457200" rtl="0" algn="l">
              <a:spcBef>
                <a:spcPts val="0"/>
              </a:spcBef>
              <a:spcAft>
                <a:spcPts val="0"/>
              </a:spcAft>
              <a:buClr>
                <a:schemeClr val="accent1"/>
              </a:buClr>
              <a:buSzPts val="2300"/>
              <a:buChar char="●"/>
            </a:pPr>
            <a:r>
              <a:rPr lang="pl" sz="2300">
                <a:solidFill>
                  <a:schemeClr val="accent1"/>
                </a:solidFill>
              </a:rPr>
              <a:t>Area-weighted statistics</a:t>
            </a:r>
            <a:endParaRPr sz="2300">
              <a:solidFill>
                <a:schemeClr val="accent1"/>
              </a:solidFill>
            </a:endParaRPr>
          </a:p>
          <a:p>
            <a:pPr indent="0" lvl="0" marL="457200" rtl="0" algn="l">
              <a:spcBef>
                <a:spcPts val="0"/>
              </a:spcBef>
              <a:spcAft>
                <a:spcPts val="0"/>
              </a:spcAft>
              <a:buNone/>
            </a:pPr>
            <a:r>
              <a:rPr lang="pl" sz="2300">
                <a:solidFill>
                  <a:schemeClr val="accent1"/>
                </a:solidFill>
              </a:rPr>
              <a:t>would have reflected more representative  numbers</a:t>
            </a:r>
            <a:endParaRPr sz="2300">
              <a:solidFill>
                <a:schemeClr val="accent1"/>
              </a:solidFill>
            </a:endParaRPr>
          </a:p>
        </p:txBody>
      </p:sp>
      <p:sp>
        <p:nvSpPr>
          <p:cNvPr id="433" name="Google Shape;433;p44"/>
          <p:cNvSpPr/>
          <p:nvPr/>
        </p:nvSpPr>
        <p:spPr>
          <a:xfrm>
            <a:off x="8875" y="0"/>
            <a:ext cx="4312200" cy="5143500"/>
          </a:xfrm>
          <a:prstGeom prst="rect">
            <a:avLst/>
          </a:prstGeom>
          <a:solidFill>
            <a:srgbClr val="3139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34" name="Google Shape;434;p44"/>
          <p:cNvSpPr txBox="1"/>
          <p:nvPr>
            <p:ph type="title"/>
          </p:nvPr>
        </p:nvSpPr>
        <p:spPr>
          <a:xfrm>
            <a:off x="311725" y="424725"/>
            <a:ext cx="3706500" cy="250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sz="3600"/>
              <a:t>Considerations</a:t>
            </a:r>
            <a:endParaRPr sz="3600"/>
          </a:p>
        </p:txBody>
      </p:sp>
      <p:pic>
        <p:nvPicPr>
          <p:cNvPr id="435" name="Google Shape;435;p44"/>
          <p:cNvPicPr preferRelativeResize="0"/>
          <p:nvPr/>
        </p:nvPicPr>
        <p:blipFill>
          <a:blip r:embed="rId3">
            <a:alphaModFix/>
          </a:blip>
          <a:stretch>
            <a:fillRect/>
          </a:stretch>
        </p:blipFill>
        <p:spPr>
          <a:xfrm>
            <a:off x="473238" y="1359350"/>
            <a:ext cx="3383475" cy="33834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5"/>
          <p:cNvSpPr txBox="1"/>
          <p:nvPr>
            <p:ph type="title"/>
          </p:nvPr>
        </p:nvSpPr>
        <p:spPr>
          <a:xfrm>
            <a:off x="311700" y="38617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Number of Melanoma Colors: Motivation</a:t>
            </a:r>
            <a:endParaRPr/>
          </a:p>
        </p:txBody>
      </p:sp>
      <p:sp>
        <p:nvSpPr>
          <p:cNvPr id="441" name="Google Shape;441;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442" name="Google Shape;442;p45"/>
          <p:cNvSpPr txBox="1"/>
          <p:nvPr/>
        </p:nvSpPr>
        <p:spPr>
          <a:xfrm>
            <a:off x="4714200" y="4355100"/>
            <a:ext cx="4429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443" name="Google Shape;443;p45"/>
          <p:cNvSpPr txBox="1"/>
          <p:nvPr/>
        </p:nvSpPr>
        <p:spPr>
          <a:xfrm>
            <a:off x="-26875" y="4819400"/>
            <a:ext cx="59949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300" u="sng">
                <a:solidFill>
                  <a:schemeClr val="hlink"/>
                </a:solidFill>
                <a:latin typeface="Roboto"/>
                <a:ea typeface="Roboto"/>
                <a:cs typeface="Roboto"/>
                <a:sym typeface="Roboto"/>
                <a:hlinkClick r:id="rId3"/>
              </a:rPr>
              <a:t>https://ietresearch.onlinelibrary.wiley.com/doi/epdf/10.1049/iet-ipr.2015.0385</a:t>
            </a:r>
            <a:endParaRPr sz="1300">
              <a:solidFill>
                <a:schemeClr val="dk2"/>
              </a:solidFill>
              <a:latin typeface="Roboto"/>
              <a:ea typeface="Roboto"/>
              <a:cs typeface="Roboto"/>
              <a:sym typeface="Roboto"/>
            </a:endParaRPr>
          </a:p>
        </p:txBody>
      </p:sp>
      <p:pic>
        <p:nvPicPr>
          <p:cNvPr id="444" name="Google Shape;444;p45"/>
          <p:cNvPicPr preferRelativeResize="0"/>
          <p:nvPr/>
        </p:nvPicPr>
        <p:blipFill>
          <a:blip r:embed="rId4">
            <a:alphaModFix/>
          </a:blip>
          <a:stretch>
            <a:fillRect/>
          </a:stretch>
        </p:blipFill>
        <p:spPr>
          <a:xfrm>
            <a:off x="317750" y="1406701"/>
            <a:ext cx="5488101" cy="3412700"/>
          </a:xfrm>
          <a:prstGeom prst="rect">
            <a:avLst/>
          </a:prstGeom>
          <a:noFill/>
          <a:ln>
            <a:noFill/>
          </a:ln>
          <a:effectLst>
            <a:outerShdw blurRad="57150" rotWithShape="0" algn="bl" dir="5400000" dist="19050">
              <a:srgbClr val="000000">
                <a:alpha val="50000"/>
              </a:srgbClr>
            </a:outerShdw>
          </a:effectLst>
        </p:spPr>
      </p:pic>
      <p:pic>
        <p:nvPicPr>
          <p:cNvPr id="445" name="Google Shape;445;p45"/>
          <p:cNvPicPr preferRelativeResize="0"/>
          <p:nvPr/>
        </p:nvPicPr>
        <p:blipFill>
          <a:blip r:embed="rId5">
            <a:alphaModFix/>
          </a:blip>
          <a:stretch>
            <a:fillRect/>
          </a:stretch>
        </p:blipFill>
        <p:spPr>
          <a:xfrm>
            <a:off x="5977025" y="1394425"/>
            <a:ext cx="2650476" cy="34127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451" name="Google Shape;451;p46"/>
          <p:cNvSpPr txBox="1"/>
          <p:nvPr>
            <p:ph type="title"/>
          </p:nvPr>
        </p:nvSpPr>
        <p:spPr>
          <a:xfrm>
            <a:off x="311700" y="261250"/>
            <a:ext cx="8520600" cy="7401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pl" sz="2720"/>
              <a:t>Number of Melanoma Colors: Current Approach</a:t>
            </a:r>
            <a:endParaRPr sz="1460"/>
          </a:p>
          <a:p>
            <a:pPr indent="0" lvl="0" marL="0" rtl="0" algn="ctr">
              <a:lnSpc>
                <a:spcPct val="115000"/>
              </a:lnSpc>
              <a:spcBef>
                <a:spcPts val="0"/>
              </a:spcBef>
              <a:spcAft>
                <a:spcPts val="0"/>
              </a:spcAft>
              <a:buSzPts val="990"/>
              <a:buNone/>
            </a:pPr>
            <a:r>
              <a:rPr lang="pl" sz="1460"/>
              <a:t>Recycling SLIC superpixels &amp; working in HSV</a:t>
            </a:r>
            <a:endParaRPr sz="1460"/>
          </a:p>
        </p:txBody>
      </p:sp>
      <p:grpSp>
        <p:nvGrpSpPr>
          <p:cNvPr id="452" name="Google Shape;452;p46"/>
          <p:cNvGrpSpPr/>
          <p:nvPr/>
        </p:nvGrpSpPr>
        <p:grpSpPr>
          <a:xfrm>
            <a:off x="2688745" y="1138094"/>
            <a:ext cx="3768522" cy="3774409"/>
            <a:chOff x="2675582" y="676586"/>
            <a:chExt cx="3793942" cy="3790328"/>
          </a:xfrm>
        </p:grpSpPr>
        <p:sp>
          <p:nvSpPr>
            <p:cNvPr id="453" name="Google Shape;453;p46"/>
            <p:cNvSpPr/>
            <p:nvPr/>
          </p:nvSpPr>
          <p:spPr>
            <a:xfrm rot="-7199815">
              <a:off x="3183352" y="1184485"/>
              <a:ext cx="2774659" cy="2774659"/>
            </a:xfrm>
            <a:prstGeom prst="blockArc">
              <a:avLst>
                <a:gd fmla="val 12622480" name="adj1"/>
                <a:gd fmla="val 18176457" name="adj2"/>
                <a:gd fmla="val 20786" name="adj3"/>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46"/>
            <p:cNvSpPr/>
            <p:nvPr/>
          </p:nvSpPr>
          <p:spPr>
            <a:xfrm rot="-1799815">
              <a:off x="3183352" y="1184357"/>
              <a:ext cx="2774659" cy="2774659"/>
            </a:xfrm>
            <a:prstGeom prst="blockArc">
              <a:avLst>
                <a:gd fmla="val 12622480" name="adj1"/>
                <a:gd fmla="val 18176457" name="adj2"/>
                <a:gd fmla="val 20786" name="adj3"/>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6"/>
            <p:cNvSpPr/>
            <p:nvPr/>
          </p:nvSpPr>
          <p:spPr>
            <a:xfrm rot="3600185">
              <a:off x="3187094" y="1184439"/>
              <a:ext cx="2774659" cy="2774659"/>
            </a:xfrm>
            <a:prstGeom prst="blockArc">
              <a:avLst>
                <a:gd fmla="val 12564381" name="adj1"/>
                <a:gd fmla="val 18346131" name="adj2"/>
                <a:gd fmla="val 20844" name="adj3"/>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6"/>
            <p:cNvSpPr/>
            <p:nvPr/>
          </p:nvSpPr>
          <p:spPr>
            <a:xfrm rot="9000185">
              <a:off x="3185977" y="1184485"/>
              <a:ext cx="2774659" cy="2774659"/>
            </a:xfrm>
            <a:prstGeom prst="blockArc">
              <a:avLst>
                <a:gd fmla="val 12622480" name="adj1"/>
                <a:gd fmla="val 18081133" name="adj2"/>
                <a:gd fmla="val 20809" name="adj3"/>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7" name="Google Shape;457;p46"/>
            <p:cNvGrpSpPr/>
            <p:nvPr/>
          </p:nvGrpSpPr>
          <p:grpSpPr>
            <a:xfrm rot="5400000">
              <a:off x="5379663" y="2278951"/>
              <a:ext cx="585001" cy="585472"/>
              <a:chOff x="1967628" y="812211"/>
              <a:chExt cx="588000" cy="588000"/>
            </a:xfrm>
          </p:grpSpPr>
          <p:sp>
            <p:nvSpPr>
              <p:cNvPr id="458" name="Google Shape;458;p46"/>
              <p:cNvSpPr/>
              <p:nvPr/>
            </p:nvSpPr>
            <p:spPr>
              <a:xfrm rot="39023">
                <a:off x="1970909" y="815492"/>
                <a:ext cx="581437" cy="581437"/>
              </a:xfrm>
              <a:prstGeom prst="pie">
                <a:avLst>
                  <a:gd fmla="val 6190354" name="adj1"/>
                  <a:gd fmla="val 14996165" name="adj2"/>
                </a:avLst>
              </a:prstGeom>
              <a:solidFill>
                <a:srgbClr val="1B786F"/>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6"/>
              <p:cNvSpPr/>
              <p:nvPr/>
            </p:nvSpPr>
            <p:spPr>
              <a:xfrm rot="10800000">
                <a:off x="1970875" y="815525"/>
                <a:ext cx="581400" cy="581400"/>
              </a:xfrm>
              <a:prstGeom prst="pie">
                <a:avLst>
                  <a:gd fmla="val 4028252" name="adj1"/>
                  <a:gd fmla="val 17183677" name="adj2"/>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 name="Google Shape;460;p46"/>
            <p:cNvGrpSpPr/>
            <p:nvPr/>
          </p:nvGrpSpPr>
          <p:grpSpPr>
            <a:xfrm rot="10800000">
              <a:off x="4280709" y="3378529"/>
              <a:ext cx="585001" cy="585472"/>
              <a:chOff x="1967628" y="812211"/>
              <a:chExt cx="588000" cy="588000"/>
            </a:xfrm>
          </p:grpSpPr>
          <p:sp>
            <p:nvSpPr>
              <p:cNvPr id="461" name="Google Shape;461;p46"/>
              <p:cNvSpPr/>
              <p:nvPr/>
            </p:nvSpPr>
            <p:spPr>
              <a:xfrm rot="39023">
                <a:off x="1970909" y="815492"/>
                <a:ext cx="581437" cy="581437"/>
              </a:xfrm>
              <a:prstGeom prst="pie">
                <a:avLst>
                  <a:gd fmla="val 6190354" name="adj1"/>
                  <a:gd fmla="val 14996165" name="adj2"/>
                </a:avLst>
              </a:prstGeom>
              <a:solidFill>
                <a:srgbClr val="1D7E7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6"/>
              <p:cNvSpPr/>
              <p:nvPr/>
            </p:nvSpPr>
            <p:spPr>
              <a:xfrm rot="10800000">
                <a:off x="1970875" y="815525"/>
                <a:ext cx="581400" cy="581400"/>
              </a:xfrm>
              <a:prstGeom prst="pie">
                <a:avLst>
                  <a:gd fmla="val 4028252" name="adj1"/>
                  <a:gd fmla="val 17183677" name="adj2"/>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46"/>
            <p:cNvGrpSpPr/>
            <p:nvPr/>
          </p:nvGrpSpPr>
          <p:grpSpPr>
            <a:xfrm rot="-5400000">
              <a:off x="3179922" y="2281478"/>
              <a:ext cx="585001" cy="585472"/>
              <a:chOff x="1967628" y="812211"/>
              <a:chExt cx="588000" cy="588000"/>
            </a:xfrm>
          </p:grpSpPr>
          <p:sp>
            <p:nvSpPr>
              <p:cNvPr id="464" name="Google Shape;464;p46"/>
              <p:cNvSpPr/>
              <p:nvPr/>
            </p:nvSpPr>
            <p:spPr>
              <a:xfrm rot="39023">
                <a:off x="1970909" y="815492"/>
                <a:ext cx="581437" cy="581437"/>
              </a:xfrm>
              <a:prstGeom prst="pie">
                <a:avLst>
                  <a:gd fmla="val 6190354" name="adj1"/>
                  <a:gd fmla="val 14996165" name="adj2"/>
                </a:avLst>
              </a:prstGeom>
              <a:solidFill>
                <a:srgbClr val="1F887E"/>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6"/>
              <p:cNvSpPr/>
              <p:nvPr/>
            </p:nvSpPr>
            <p:spPr>
              <a:xfrm rot="10800000">
                <a:off x="1970875" y="815525"/>
                <a:ext cx="581400" cy="581400"/>
              </a:xfrm>
              <a:prstGeom prst="pie">
                <a:avLst>
                  <a:gd fmla="val 4028252" name="adj1"/>
                  <a:gd fmla="val 17183677" name="adj2"/>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6" name="Google Shape;466;p46"/>
            <p:cNvSpPr txBox="1"/>
            <p:nvPr/>
          </p:nvSpPr>
          <p:spPr>
            <a:xfrm>
              <a:off x="3214513" y="236061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sp>
          <p:nvSpPr>
            <p:cNvPr id="467" name="Google Shape;467;p46"/>
            <p:cNvSpPr txBox="1"/>
            <p:nvPr/>
          </p:nvSpPr>
          <p:spPr>
            <a:xfrm>
              <a:off x="4335750" y="3460301"/>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sp>
          <p:nvSpPr>
            <p:cNvPr id="468" name="Google Shape;468;p46"/>
            <p:cNvSpPr txBox="1"/>
            <p:nvPr/>
          </p:nvSpPr>
          <p:spPr>
            <a:xfrm>
              <a:off x="5419402" y="236061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nvGrpSpPr>
            <p:cNvPr id="469" name="Google Shape;469;p46"/>
            <p:cNvGrpSpPr/>
            <p:nvPr/>
          </p:nvGrpSpPr>
          <p:grpSpPr>
            <a:xfrm>
              <a:off x="4261689" y="1180926"/>
              <a:ext cx="585001" cy="585530"/>
              <a:chOff x="1967628" y="812211"/>
              <a:chExt cx="588000" cy="588000"/>
            </a:xfrm>
          </p:grpSpPr>
          <p:sp>
            <p:nvSpPr>
              <p:cNvPr id="470" name="Google Shape;470;p46"/>
              <p:cNvSpPr/>
              <p:nvPr/>
            </p:nvSpPr>
            <p:spPr>
              <a:xfrm rot="39023">
                <a:off x="1970909" y="815492"/>
                <a:ext cx="581437" cy="581437"/>
              </a:xfrm>
              <a:prstGeom prst="pie">
                <a:avLst>
                  <a:gd fmla="val 6190354" name="adj1"/>
                  <a:gd fmla="val 14996165" name="adj2"/>
                </a:avLst>
              </a:prstGeom>
              <a:solidFill>
                <a:srgbClr val="155B5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6"/>
              <p:cNvSpPr/>
              <p:nvPr/>
            </p:nvSpPr>
            <p:spPr>
              <a:xfrm rot="10800000">
                <a:off x="1970875" y="815525"/>
                <a:ext cx="581400" cy="581400"/>
              </a:xfrm>
              <a:prstGeom prst="pie">
                <a:avLst>
                  <a:gd fmla="val 4028252" name="adj1"/>
                  <a:gd fmla="val 17183677" name="adj2"/>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2" name="Google Shape;472;p46"/>
            <p:cNvSpPr txBox="1"/>
            <p:nvPr/>
          </p:nvSpPr>
          <p:spPr>
            <a:xfrm>
              <a:off x="4335750" y="1254446"/>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p:txBody>
        </p:sp>
      </p:grpSp>
      <p:cxnSp>
        <p:nvCxnSpPr>
          <p:cNvPr id="473" name="Google Shape;473;p46"/>
          <p:cNvCxnSpPr/>
          <p:nvPr/>
        </p:nvCxnSpPr>
        <p:spPr>
          <a:xfrm rot="10800000">
            <a:off x="2641913" y="2237700"/>
            <a:ext cx="1044300" cy="0"/>
          </a:xfrm>
          <a:prstGeom prst="straightConnector1">
            <a:avLst/>
          </a:prstGeom>
          <a:noFill/>
          <a:ln cap="flat" cmpd="sng" w="9525">
            <a:solidFill>
              <a:srgbClr val="1F887E"/>
            </a:solidFill>
            <a:prstDash val="solid"/>
            <a:round/>
            <a:headEnd len="sm" w="sm" type="none"/>
            <a:tailEnd len="med" w="med" type="oval"/>
          </a:ln>
        </p:spPr>
      </p:cxnSp>
      <p:grpSp>
        <p:nvGrpSpPr>
          <p:cNvPr id="474" name="Google Shape;474;p46"/>
          <p:cNvGrpSpPr/>
          <p:nvPr/>
        </p:nvGrpSpPr>
        <p:grpSpPr>
          <a:xfrm>
            <a:off x="449800" y="3441450"/>
            <a:ext cx="3503113" cy="1289700"/>
            <a:chOff x="449800" y="3035375"/>
            <a:chExt cx="3503113" cy="1289700"/>
          </a:xfrm>
        </p:grpSpPr>
        <p:sp>
          <p:nvSpPr>
            <p:cNvPr id="475" name="Google Shape;475;p46"/>
            <p:cNvSpPr txBox="1"/>
            <p:nvPr/>
          </p:nvSpPr>
          <p:spPr>
            <a:xfrm>
              <a:off x="449800" y="3035375"/>
              <a:ext cx="1998000" cy="1289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pl" sz="1600">
                  <a:solidFill>
                    <a:schemeClr val="accent1"/>
                  </a:solidFill>
                  <a:latin typeface="Roboto"/>
                  <a:ea typeface="Roboto"/>
                  <a:cs typeface="Roboto"/>
                  <a:sym typeface="Roboto"/>
                </a:rPr>
                <a:t>Euclidean Distances</a:t>
              </a:r>
              <a:endParaRPr b="1" sz="1600">
                <a:solidFill>
                  <a:schemeClr val="accent1"/>
                </a:solidFill>
                <a:latin typeface="Roboto"/>
                <a:ea typeface="Roboto"/>
                <a:cs typeface="Roboto"/>
                <a:sym typeface="Roboto"/>
              </a:endParaRPr>
            </a:p>
            <a:p>
              <a:pPr indent="0" lvl="0" marL="0" rtl="0" algn="r">
                <a:spcBef>
                  <a:spcPts val="0"/>
                </a:spcBef>
                <a:spcAft>
                  <a:spcPts val="0"/>
                </a:spcAft>
                <a:buNone/>
              </a:pPr>
              <a:r>
                <a:t/>
              </a:r>
              <a:endParaRPr b="1" sz="1200">
                <a:latin typeface="Roboto"/>
                <a:ea typeface="Roboto"/>
                <a:cs typeface="Roboto"/>
                <a:sym typeface="Roboto"/>
              </a:endParaRPr>
            </a:p>
            <a:p>
              <a:pPr indent="0" lvl="0" marL="0" rtl="0" algn="r">
                <a:spcBef>
                  <a:spcPts val="0"/>
                </a:spcBef>
                <a:spcAft>
                  <a:spcPts val="1600"/>
                </a:spcAft>
                <a:buNone/>
              </a:pPr>
              <a:r>
                <a:rPr lang="pl" sz="1200">
                  <a:latin typeface="Roboto"/>
                  <a:ea typeface="Roboto"/>
                  <a:cs typeface="Roboto"/>
                  <a:sym typeface="Roboto"/>
                </a:rPr>
                <a:t>Between each superpixel HSV mean value and the 6 melanoma colors. Careful manipulation of the distance in H.</a:t>
              </a:r>
              <a:endParaRPr b="1" sz="1200">
                <a:latin typeface="Roboto"/>
                <a:ea typeface="Roboto"/>
                <a:cs typeface="Roboto"/>
                <a:sym typeface="Roboto"/>
              </a:endParaRPr>
            </a:p>
          </p:txBody>
        </p:sp>
        <p:cxnSp>
          <p:nvCxnSpPr>
            <p:cNvPr id="476" name="Google Shape;476;p46"/>
            <p:cNvCxnSpPr/>
            <p:nvPr/>
          </p:nvCxnSpPr>
          <p:spPr>
            <a:xfrm rot="10800000">
              <a:off x="2641913" y="3489425"/>
              <a:ext cx="1311000" cy="0"/>
            </a:xfrm>
            <a:prstGeom prst="straightConnector1">
              <a:avLst/>
            </a:prstGeom>
            <a:noFill/>
            <a:ln cap="flat" cmpd="sng" w="9525">
              <a:solidFill>
                <a:srgbClr val="1D7E75"/>
              </a:solidFill>
              <a:prstDash val="solid"/>
              <a:round/>
              <a:headEnd len="sm" w="sm" type="none"/>
              <a:tailEnd len="med" w="med" type="oval"/>
            </a:ln>
          </p:spPr>
        </p:cxnSp>
      </p:grpSp>
      <p:grpSp>
        <p:nvGrpSpPr>
          <p:cNvPr id="477" name="Google Shape;477;p46"/>
          <p:cNvGrpSpPr/>
          <p:nvPr/>
        </p:nvGrpSpPr>
        <p:grpSpPr>
          <a:xfrm>
            <a:off x="5209825" y="1705900"/>
            <a:ext cx="3715350" cy="1289700"/>
            <a:chOff x="5209825" y="1299825"/>
            <a:chExt cx="3715350" cy="1289700"/>
          </a:xfrm>
        </p:grpSpPr>
        <p:sp>
          <p:nvSpPr>
            <p:cNvPr id="478" name="Google Shape;478;p46"/>
            <p:cNvSpPr txBox="1"/>
            <p:nvPr/>
          </p:nvSpPr>
          <p:spPr>
            <a:xfrm>
              <a:off x="6696475" y="1299825"/>
              <a:ext cx="2228700" cy="128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l" sz="1600">
                  <a:solidFill>
                    <a:schemeClr val="accent1"/>
                  </a:solidFill>
                  <a:latin typeface="Roboto"/>
                  <a:ea typeface="Roboto"/>
                  <a:cs typeface="Roboto"/>
                  <a:sym typeface="Roboto"/>
                </a:rPr>
                <a:t>Return no. of </a:t>
              </a:r>
              <a:endParaRPr b="1" sz="1600">
                <a:solidFill>
                  <a:schemeClr val="accent1"/>
                </a:solidFill>
                <a:latin typeface="Roboto"/>
                <a:ea typeface="Roboto"/>
                <a:cs typeface="Roboto"/>
                <a:sym typeface="Roboto"/>
              </a:endParaRPr>
            </a:p>
            <a:p>
              <a:pPr indent="0" lvl="0" marL="0" rtl="0" algn="l">
                <a:spcBef>
                  <a:spcPts val="0"/>
                </a:spcBef>
                <a:spcAft>
                  <a:spcPts val="0"/>
                </a:spcAft>
                <a:buNone/>
              </a:pPr>
              <a:r>
                <a:rPr b="1" lang="pl" sz="1600">
                  <a:solidFill>
                    <a:schemeClr val="accent1"/>
                  </a:solidFill>
                  <a:latin typeface="Roboto"/>
                  <a:ea typeface="Roboto"/>
                  <a:cs typeface="Roboto"/>
                  <a:sym typeface="Roboto"/>
                </a:rPr>
                <a:t>MEL colors</a:t>
              </a:r>
              <a:endParaRPr b="1" sz="1600">
                <a:solidFill>
                  <a:schemeClr val="accent1"/>
                </a:solidFill>
                <a:latin typeface="Roboto"/>
                <a:ea typeface="Roboto"/>
                <a:cs typeface="Roboto"/>
                <a:sym typeface="Roboto"/>
              </a:endParaRPr>
            </a:p>
            <a:p>
              <a:pPr indent="0" lvl="0" marL="0" rtl="0" algn="l">
                <a:spcBef>
                  <a:spcPts val="0"/>
                </a:spcBef>
                <a:spcAft>
                  <a:spcPts val="0"/>
                </a:spcAft>
                <a:buNone/>
              </a:pPr>
              <a:r>
                <a:t/>
              </a:r>
              <a:endParaRPr b="1" sz="1200">
                <a:latin typeface="Roboto"/>
                <a:ea typeface="Roboto"/>
                <a:cs typeface="Roboto"/>
                <a:sym typeface="Roboto"/>
              </a:endParaRPr>
            </a:p>
            <a:p>
              <a:pPr indent="0" lvl="0" marL="0" rtl="0" algn="l">
                <a:spcBef>
                  <a:spcPts val="0"/>
                </a:spcBef>
                <a:spcAft>
                  <a:spcPts val="1600"/>
                </a:spcAft>
                <a:buNone/>
              </a:pPr>
              <a:r>
                <a:rPr lang="pl" sz="1200">
                  <a:latin typeface="Roboto"/>
                  <a:ea typeface="Roboto"/>
                  <a:cs typeface="Roboto"/>
                  <a:sym typeface="Roboto"/>
                </a:rPr>
                <a:t>Ranging from 0 to 6.</a:t>
              </a:r>
              <a:endParaRPr b="1" sz="1200">
                <a:latin typeface="Roboto"/>
                <a:ea typeface="Roboto"/>
                <a:cs typeface="Roboto"/>
                <a:sym typeface="Roboto"/>
              </a:endParaRPr>
            </a:p>
          </p:txBody>
        </p:sp>
        <p:cxnSp>
          <p:nvCxnSpPr>
            <p:cNvPr id="479" name="Google Shape;479;p46"/>
            <p:cNvCxnSpPr/>
            <p:nvPr/>
          </p:nvCxnSpPr>
          <p:spPr>
            <a:xfrm>
              <a:off x="5209825" y="1705200"/>
              <a:ext cx="1286700" cy="0"/>
            </a:xfrm>
            <a:prstGeom prst="straightConnector1">
              <a:avLst/>
            </a:prstGeom>
            <a:noFill/>
            <a:ln cap="flat" cmpd="sng" w="9525">
              <a:solidFill>
                <a:srgbClr val="155B55"/>
              </a:solidFill>
              <a:prstDash val="solid"/>
              <a:round/>
              <a:headEnd len="sm" w="sm" type="none"/>
              <a:tailEnd len="med" w="med" type="oval"/>
            </a:ln>
          </p:spPr>
        </p:cxnSp>
      </p:grpSp>
      <p:grpSp>
        <p:nvGrpSpPr>
          <p:cNvPr id="480" name="Google Shape;480;p46"/>
          <p:cNvGrpSpPr/>
          <p:nvPr/>
        </p:nvGrpSpPr>
        <p:grpSpPr>
          <a:xfrm>
            <a:off x="5209825" y="3551475"/>
            <a:ext cx="3610650" cy="1289700"/>
            <a:chOff x="5209825" y="3145400"/>
            <a:chExt cx="3610650" cy="1289700"/>
          </a:xfrm>
        </p:grpSpPr>
        <p:sp>
          <p:nvSpPr>
            <p:cNvPr id="481" name="Google Shape;481;p46"/>
            <p:cNvSpPr txBox="1"/>
            <p:nvPr/>
          </p:nvSpPr>
          <p:spPr>
            <a:xfrm>
              <a:off x="6696475" y="3145400"/>
              <a:ext cx="2124000" cy="128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l" sz="1600">
                  <a:solidFill>
                    <a:schemeClr val="accent1"/>
                  </a:solidFill>
                  <a:latin typeface="Roboto"/>
                  <a:ea typeface="Roboto"/>
                  <a:cs typeface="Roboto"/>
                  <a:sym typeface="Roboto"/>
                </a:rPr>
                <a:t>Smallest Distance </a:t>
              </a:r>
              <a:endParaRPr b="1" sz="1600">
                <a:solidFill>
                  <a:schemeClr val="accent1"/>
                </a:solidFill>
                <a:latin typeface="Roboto"/>
                <a:ea typeface="Roboto"/>
                <a:cs typeface="Roboto"/>
                <a:sym typeface="Roboto"/>
              </a:endParaRPr>
            </a:p>
            <a:p>
              <a:pPr indent="0" lvl="0" marL="0" rtl="0" algn="l">
                <a:spcBef>
                  <a:spcPts val="0"/>
                </a:spcBef>
                <a:spcAft>
                  <a:spcPts val="0"/>
                </a:spcAft>
                <a:buNone/>
              </a:pPr>
              <a:r>
                <a:rPr b="1" lang="pl" sz="1600">
                  <a:solidFill>
                    <a:schemeClr val="accent1"/>
                  </a:solidFill>
                  <a:latin typeface="Roboto"/>
                  <a:ea typeface="Roboto"/>
                  <a:cs typeface="Roboto"/>
                  <a:sym typeface="Roboto"/>
                </a:rPr>
                <a:t>&amp; Selection</a:t>
              </a:r>
              <a:endParaRPr b="1" sz="1600">
                <a:solidFill>
                  <a:schemeClr val="accent1"/>
                </a:solidFill>
                <a:latin typeface="Roboto"/>
                <a:ea typeface="Roboto"/>
                <a:cs typeface="Roboto"/>
                <a:sym typeface="Roboto"/>
              </a:endParaRPr>
            </a:p>
            <a:p>
              <a:pPr indent="0" lvl="0" marL="0" rtl="0" algn="l">
                <a:spcBef>
                  <a:spcPts val="0"/>
                </a:spcBef>
                <a:spcAft>
                  <a:spcPts val="0"/>
                </a:spcAft>
                <a:buNone/>
              </a:pPr>
              <a:r>
                <a:t/>
              </a:r>
              <a:endParaRPr b="1" sz="1200">
                <a:latin typeface="Roboto"/>
                <a:ea typeface="Roboto"/>
                <a:cs typeface="Roboto"/>
                <a:sym typeface="Roboto"/>
              </a:endParaRPr>
            </a:p>
            <a:p>
              <a:pPr indent="0" lvl="0" marL="0" rtl="0" algn="l">
                <a:spcBef>
                  <a:spcPts val="0"/>
                </a:spcBef>
                <a:spcAft>
                  <a:spcPts val="1600"/>
                </a:spcAft>
                <a:buNone/>
              </a:pPr>
              <a:r>
                <a:rPr lang="pl" sz="1200">
                  <a:latin typeface="Roboto"/>
                  <a:ea typeface="Roboto"/>
                  <a:cs typeface="Roboto"/>
                  <a:sym typeface="Roboto"/>
                </a:rPr>
                <a:t>Chooses the melanoma color which the superpixel is closest to. If distance is less than T=0.4, then that melanoma color is present.</a:t>
              </a:r>
              <a:endParaRPr b="1" sz="1200">
                <a:latin typeface="Roboto"/>
                <a:ea typeface="Roboto"/>
                <a:cs typeface="Roboto"/>
                <a:sym typeface="Roboto"/>
              </a:endParaRPr>
            </a:p>
          </p:txBody>
        </p:sp>
        <p:cxnSp>
          <p:nvCxnSpPr>
            <p:cNvPr id="482" name="Google Shape;482;p46"/>
            <p:cNvCxnSpPr/>
            <p:nvPr/>
          </p:nvCxnSpPr>
          <p:spPr>
            <a:xfrm>
              <a:off x="5209825" y="3648300"/>
              <a:ext cx="1286700" cy="0"/>
            </a:xfrm>
            <a:prstGeom prst="straightConnector1">
              <a:avLst/>
            </a:prstGeom>
            <a:noFill/>
            <a:ln cap="flat" cmpd="sng" w="9525">
              <a:solidFill>
                <a:srgbClr val="1B786F"/>
              </a:solidFill>
              <a:prstDash val="solid"/>
              <a:round/>
              <a:headEnd len="sm" w="sm" type="none"/>
              <a:tailEnd len="med" w="med" type="oval"/>
            </a:ln>
          </p:spPr>
        </p:cxnSp>
      </p:grpSp>
      <p:sp>
        <p:nvSpPr>
          <p:cNvPr id="483" name="Google Shape;483;p46"/>
          <p:cNvSpPr txBox="1"/>
          <p:nvPr/>
        </p:nvSpPr>
        <p:spPr>
          <a:xfrm>
            <a:off x="323500" y="1576550"/>
            <a:ext cx="2124000" cy="1289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pl" sz="1600">
                <a:solidFill>
                  <a:schemeClr val="accent1"/>
                </a:solidFill>
                <a:latin typeface="Roboto"/>
                <a:ea typeface="Roboto"/>
                <a:cs typeface="Roboto"/>
                <a:sym typeface="Roboto"/>
              </a:rPr>
              <a:t>Inputs HSV </a:t>
            </a:r>
            <a:endParaRPr b="1" sz="1600">
              <a:solidFill>
                <a:schemeClr val="accent1"/>
              </a:solidFill>
              <a:latin typeface="Roboto"/>
              <a:ea typeface="Roboto"/>
              <a:cs typeface="Roboto"/>
              <a:sym typeface="Roboto"/>
            </a:endParaRPr>
          </a:p>
          <a:p>
            <a:pPr indent="0" lvl="0" marL="0" rtl="0" algn="r">
              <a:spcBef>
                <a:spcPts val="0"/>
              </a:spcBef>
              <a:spcAft>
                <a:spcPts val="0"/>
              </a:spcAft>
              <a:buNone/>
            </a:pPr>
            <a:r>
              <a:rPr b="1" lang="pl" sz="1600">
                <a:solidFill>
                  <a:schemeClr val="accent1"/>
                </a:solidFill>
                <a:latin typeface="Roboto"/>
                <a:ea typeface="Roboto"/>
                <a:cs typeface="Roboto"/>
                <a:sym typeface="Roboto"/>
              </a:rPr>
              <a:t>means array</a:t>
            </a:r>
            <a:endParaRPr b="1" sz="1600">
              <a:solidFill>
                <a:schemeClr val="accent1"/>
              </a:solidFill>
              <a:latin typeface="Roboto"/>
              <a:ea typeface="Roboto"/>
              <a:cs typeface="Roboto"/>
              <a:sym typeface="Roboto"/>
            </a:endParaRPr>
          </a:p>
          <a:p>
            <a:pPr indent="0" lvl="0" marL="0" rtl="0" algn="r">
              <a:spcBef>
                <a:spcPts val="0"/>
              </a:spcBef>
              <a:spcAft>
                <a:spcPts val="0"/>
              </a:spcAft>
              <a:buNone/>
            </a:pPr>
            <a:r>
              <a:t/>
            </a:r>
            <a:endParaRPr b="1" sz="1200">
              <a:latin typeface="Roboto"/>
              <a:ea typeface="Roboto"/>
              <a:cs typeface="Roboto"/>
              <a:sym typeface="Roboto"/>
            </a:endParaRPr>
          </a:p>
          <a:p>
            <a:pPr indent="0" lvl="0" marL="0" rtl="0" algn="r">
              <a:spcBef>
                <a:spcPts val="0"/>
              </a:spcBef>
              <a:spcAft>
                <a:spcPts val="1600"/>
              </a:spcAft>
              <a:buNone/>
            </a:pPr>
            <a:r>
              <a:rPr lang="pl" sz="1200">
                <a:latin typeface="Roboto"/>
                <a:ea typeface="Roboto"/>
                <a:cs typeface="Roboto"/>
                <a:sym typeface="Roboto"/>
              </a:rPr>
              <a:t>This array is also used as input to the function mean &amp; std dev HSV of the lesion.</a:t>
            </a:r>
            <a:endParaRPr b="1" sz="1200">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489" name="Google Shape;489;p47"/>
          <p:cNvSpPr txBox="1"/>
          <p:nvPr>
            <p:ph type="title"/>
          </p:nvPr>
        </p:nvSpPr>
        <p:spPr>
          <a:xfrm>
            <a:off x="311700" y="198800"/>
            <a:ext cx="8520600" cy="74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pl" sz="2720"/>
              <a:t>Number of Melanoma Colors: </a:t>
            </a:r>
            <a:endParaRPr sz="2720"/>
          </a:p>
          <a:p>
            <a:pPr indent="0" lvl="0" marL="0" rtl="0" algn="ctr">
              <a:spcBef>
                <a:spcPts val="0"/>
              </a:spcBef>
              <a:spcAft>
                <a:spcPts val="0"/>
              </a:spcAft>
              <a:buSzPts val="990"/>
              <a:buNone/>
            </a:pPr>
            <a:r>
              <a:rPr lang="pl" sz="2720"/>
              <a:t>Current Approach vs Better Approach</a:t>
            </a:r>
            <a:endParaRPr sz="2720"/>
          </a:p>
        </p:txBody>
      </p:sp>
      <p:pic>
        <p:nvPicPr>
          <p:cNvPr id="490" name="Google Shape;490;p47" title="mel_colors_two_versionsç.png"/>
          <p:cNvPicPr preferRelativeResize="0"/>
          <p:nvPr/>
        </p:nvPicPr>
        <p:blipFill>
          <a:blip r:embed="rId3">
            <a:alphaModFix/>
          </a:blip>
          <a:stretch>
            <a:fillRect/>
          </a:stretch>
        </p:blipFill>
        <p:spPr>
          <a:xfrm>
            <a:off x="152400" y="1847888"/>
            <a:ext cx="8839198" cy="2155902"/>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8"/>
          <p:cNvSpPr txBox="1"/>
          <p:nvPr>
            <p:ph type="title"/>
          </p:nvPr>
        </p:nvSpPr>
        <p:spPr>
          <a:xfrm>
            <a:off x="311700" y="38617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Hue Entropy: Motivation</a:t>
            </a:r>
            <a:endParaRPr/>
          </a:p>
        </p:txBody>
      </p:sp>
      <p:sp>
        <p:nvSpPr>
          <p:cNvPr id="496" name="Google Shape;496;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497" name="Google Shape;497;p48"/>
          <p:cNvSpPr txBox="1"/>
          <p:nvPr/>
        </p:nvSpPr>
        <p:spPr>
          <a:xfrm>
            <a:off x="4714200" y="4355100"/>
            <a:ext cx="4429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498" name="Google Shape;498;p48"/>
          <p:cNvSpPr txBox="1"/>
          <p:nvPr/>
        </p:nvSpPr>
        <p:spPr>
          <a:xfrm>
            <a:off x="-26875" y="4819400"/>
            <a:ext cx="43155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300" u="sng">
                <a:solidFill>
                  <a:schemeClr val="hlink"/>
                </a:solidFill>
                <a:latin typeface="Roboto"/>
                <a:ea typeface="Roboto"/>
                <a:cs typeface="Roboto"/>
                <a:sym typeface="Roboto"/>
                <a:hlinkClick r:id="rId3"/>
              </a:rPr>
              <a:t>https://pmc.ncbi.nlm.nih.gov/articles/PMC3184884/</a:t>
            </a:r>
            <a:endParaRPr sz="1300">
              <a:solidFill>
                <a:schemeClr val="dk2"/>
              </a:solidFill>
              <a:latin typeface="Roboto"/>
              <a:ea typeface="Roboto"/>
              <a:cs typeface="Roboto"/>
              <a:sym typeface="Roboto"/>
            </a:endParaRPr>
          </a:p>
        </p:txBody>
      </p:sp>
      <p:pic>
        <p:nvPicPr>
          <p:cNvPr id="499" name="Google Shape;499;p48"/>
          <p:cNvPicPr preferRelativeResize="0"/>
          <p:nvPr/>
        </p:nvPicPr>
        <p:blipFill>
          <a:blip r:embed="rId4">
            <a:alphaModFix/>
          </a:blip>
          <a:stretch>
            <a:fillRect/>
          </a:stretch>
        </p:blipFill>
        <p:spPr>
          <a:xfrm>
            <a:off x="833888" y="1648725"/>
            <a:ext cx="7476225" cy="29205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9"/>
          <p:cNvSpPr txBox="1"/>
          <p:nvPr>
            <p:ph type="title"/>
          </p:nvPr>
        </p:nvSpPr>
        <p:spPr>
          <a:xfrm>
            <a:off x="311700" y="261250"/>
            <a:ext cx="8520600" cy="74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pl" sz="2720"/>
              <a:t>Hue </a:t>
            </a:r>
            <a:r>
              <a:rPr lang="pl" sz="2720"/>
              <a:t>Entropy: Theory</a:t>
            </a:r>
            <a:endParaRPr sz="1460"/>
          </a:p>
          <a:p>
            <a:pPr indent="0" lvl="0" marL="0" rtl="0" algn="ctr">
              <a:spcBef>
                <a:spcPts val="0"/>
              </a:spcBef>
              <a:spcAft>
                <a:spcPts val="0"/>
              </a:spcAft>
              <a:buSzPts val="990"/>
              <a:buNone/>
            </a:pPr>
            <a:r>
              <a:rPr lang="pl" sz="1460"/>
              <a:t>A measure of color diversity/randomness</a:t>
            </a:r>
            <a:endParaRPr sz="1460"/>
          </a:p>
        </p:txBody>
      </p:sp>
      <p:sp>
        <p:nvSpPr>
          <p:cNvPr id="505" name="Google Shape;505;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506" name="Google Shape;506;p49"/>
          <p:cNvSpPr txBox="1"/>
          <p:nvPr/>
        </p:nvSpPr>
        <p:spPr>
          <a:xfrm>
            <a:off x="4714200" y="4355100"/>
            <a:ext cx="4429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pic>
        <p:nvPicPr>
          <p:cNvPr id="507" name="Google Shape;507;p49"/>
          <p:cNvPicPr preferRelativeResize="0"/>
          <p:nvPr/>
        </p:nvPicPr>
        <p:blipFill>
          <a:blip r:embed="rId3">
            <a:alphaModFix/>
          </a:blip>
          <a:stretch>
            <a:fillRect/>
          </a:stretch>
        </p:blipFill>
        <p:spPr>
          <a:xfrm>
            <a:off x="251850" y="1404750"/>
            <a:ext cx="2384689" cy="865050"/>
          </a:xfrm>
          <a:prstGeom prst="rect">
            <a:avLst/>
          </a:prstGeom>
          <a:noFill/>
          <a:ln>
            <a:noFill/>
          </a:ln>
          <a:effectLst>
            <a:outerShdw blurRad="57150" rotWithShape="0" algn="bl" dir="5400000" dist="19050">
              <a:srgbClr val="000000">
                <a:alpha val="50000"/>
              </a:srgbClr>
            </a:outerShdw>
          </a:effectLst>
        </p:spPr>
      </p:pic>
      <p:pic>
        <p:nvPicPr>
          <p:cNvPr id="508" name="Google Shape;508;p49"/>
          <p:cNvPicPr preferRelativeResize="0"/>
          <p:nvPr/>
        </p:nvPicPr>
        <p:blipFill>
          <a:blip r:embed="rId4">
            <a:alphaModFix/>
          </a:blip>
          <a:stretch>
            <a:fillRect/>
          </a:stretch>
        </p:blipFill>
        <p:spPr>
          <a:xfrm>
            <a:off x="251850" y="2589883"/>
            <a:ext cx="2384699" cy="622654"/>
          </a:xfrm>
          <a:prstGeom prst="rect">
            <a:avLst/>
          </a:prstGeom>
          <a:noFill/>
          <a:ln>
            <a:noFill/>
          </a:ln>
          <a:effectLst>
            <a:outerShdw blurRad="57150" rotWithShape="0" algn="bl" dir="5400000" dist="19050">
              <a:srgbClr val="000000">
                <a:alpha val="50000"/>
              </a:srgbClr>
            </a:outerShdw>
          </a:effectLst>
        </p:spPr>
      </p:pic>
      <p:pic>
        <p:nvPicPr>
          <p:cNvPr id="509" name="Google Shape;509;p49" title="entropy.png"/>
          <p:cNvPicPr preferRelativeResize="0"/>
          <p:nvPr/>
        </p:nvPicPr>
        <p:blipFill>
          <a:blip r:embed="rId5">
            <a:alphaModFix/>
          </a:blip>
          <a:stretch>
            <a:fillRect/>
          </a:stretch>
        </p:blipFill>
        <p:spPr>
          <a:xfrm>
            <a:off x="2901075" y="1449975"/>
            <a:ext cx="5931225" cy="2613589"/>
          </a:xfrm>
          <a:prstGeom prst="rect">
            <a:avLst/>
          </a:prstGeom>
          <a:noFill/>
          <a:ln>
            <a:noFill/>
          </a:ln>
          <a:effectLst>
            <a:outerShdw blurRad="57150" rotWithShape="0" algn="bl" dir="5400000" dist="19050">
              <a:srgbClr val="000000">
                <a:alpha val="50000"/>
              </a:srgbClr>
            </a:outerShdw>
          </a:effectLst>
        </p:spPr>
      </p:pic>
      <p:pic>
        <p:nvPicPr>
          <p:cNvPr id="510" name="Google Shape;510;p49"/>
          <p:cNvPicPr preferRelativeResize="0"/>
          <p:nvPr/>
        </p:nvPicPr>
        <p:blipFill>
          <a:blip r:embed="rId6">
            <a:alphaModFix/>
          </a:blip>
          <a:stretch>
            <a:fillRect/>
          </a:stretch>
        </p:blipFill>
        <p:spPr>
          <a:xfrm>
            <a:off x="251850" y="3494575"/>
            <a:ext cx="2384700" cy="1390625"/>
          </a:xfrm>
          <a:prstGeom prst="rect">
            <a:avLst/>
          </a:prstGeom>
          <a:noFill/>
          <a:ln>
            <a:noFill/>
          </a:ln>
          <a:effectLst>
            <a:outerShdw blurRad="57150" rotWithShape="0" algn="bl" dir="5400000" dist="19050">
              <a:srgbClr val="000000">
                <a:alpha val="50000"/>
              </a:srgbClr>
            </a:outerShdw>
          </a:effectLst>
        </p:spPr>
      </p:pic>
      <p:sp>
        <p:nvSpPr>
          <p:cNvPr id="511" name="Google Shape;511;p49"/>
          <p:cNvSpPr txBox="1"/>
          <p:nvPr>
            <p:ph type="title"/>
          </p:nvPr>
        </p:nvSpPr>
        <p:spPr>
          <a:xfrm>
            <a:off x="2901075" y="4204800"/>
            <a:ext cx="5888700" cy="535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pl" sz="1460">
                <a:solidFill>
                  <a:schemeClr val="accent1"/>
                </a:solidFill>
              </a:rPr>
              <a:t>Mostly uniform lesion: low entropy</a:t>
            </a:r>
            <a:endParaRPr sz="1460">
              <a:solidFill>
                <a:schemeClr val="accen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517" name="Google Shape;517;p50"/>
          <p:cNvSpPr txBox="1"/>
          <p:nvPr/>
        </p:nvSpPr>
        <p:spPr>
          <a:xfrm>
            <a:off x="4714200" y="4355100"/>
            <a:ext cx="4429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518" name="Google Shape;518;p50"/>
          <p:cNvSpPr txBox="1"/>
          <p:nvPr>
            <p:ph type="title"/>
          </p:nvPr>
        </p:nvSpPr>
        <p:spPr>
          <a:xfrm>
            <a:off x="1627650" y="4592425"/>
            <a:ext cx="5888700" cy="535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pl" sz="1460">
                <a:solidFill>
                  <a:schemeClr val="accent1"/>
                </a:solidFill>
              </a:rPr>
              <a:t>Irregular</a:t>
            </a:r>
            <a:r>
              <a:rPr lang="pl" sz="1460">
                <a:solidFill>
                  <a:schemeClr val="accent1"/>
                </a:solidFill>
              </a:rPr>
              <a:t> lesion: high entropy</a:t>
            </a:r>
            <a:endParaRPr sz="1460">
              <a:solidFill>
                <a:schemeClr val="accent1"/>
              </a:solidFill>
            </a:endParaRPr>
          </a:p>
        </p:txBody>
      </p:sp>
      <p:pic>
        <p:nvPicPr>
          <p:cNvPr id="519" name="Google Shape;519;p50" title="high entropy.png"/>
          <p:cNvPicPr preferRelativeResize="0"/>
          <p:nvPr/>
        </p:nvPicPr>
        <p:blipFill>
          <a:blip r:embed="rId3">
            <a:alphaModFix/>
          </a:blip>
          <a:stretch>
            <a:fillRect/>
          </a:stretch>
        </p:blipFill>
        <p:spPr>
          <a:xfrm>
            <a:off x="1116150" y="1459400"/>
            <a:ext cx="6911701" cy="3051125"/>
          </a:xfrm>
          <a:prstGeom prst="rect">
            <a:avLst/>
          </a:prstGeom>
          <a:noFill/>
          <a:ln>
            <a:noFill/>
          </a:ln>
          <a:effectLst>
            <a:outerShdw blurRad="57150" rotWithShape="0" algn="bl" dir="5400000" dist="19050">
              <a:srgbClr val="000000">
                <a:alpha val="50000"/>
              </a:srgbClr>
            </a:outerShdw>
          </a:effectLst>
        </p:spPr>
      </p:pic>
      <p:sp>
        <p:nvSpPr>
          <p:cNvPr id="520" name="Google Shape;520;p50"/>
          <p:cNvSpPr txBox="1"/>
          <p:nvPr>
            <p:ph type="title"/>
          </p:nvPr>
        </p:nvSpPr>
        <p:spPr>
          <a:xfrm>
            <a:off x="311700" y="261250"/>
            <a:ext cx="8520600" cy="74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pl" sz="2720"/>
              <a:t>Hue Entropy: Theory</a:t>
            </a:r>
            <a:endParaRPr sz="1460"/>
          </a:p>
          <a:p>
            <a:pPr indent="0" lvl="0" marL="0" rtl="0" algn="ctr">
              <a:spcBef>
                <a:spcPts val="0"/>
              </a:spcBef>
              <a:spcAft>
                <a:spcPts val="0"/>
              </a:spcAft>
              <a:buSzPts val="990"/>
              <a:buNone/>
            </a:pPr>
            <a:r>
              <a:rPr lang="pl" sz="1460"/>
              <a:t>A measure of color diversity/randomness</a:t>
            </a:r>
            <a:endParaRPr sz="146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1"/>
          <p:cNvSpPr txBox="1"/>
          <p:nvPr>
            <p:ph type="title"/>
          </p:nvPr>
        </p:nvSpPr>
        <p:spPr>
          <a:xfrm>
            <a:off x="311750" y="831175"/>
            <a:ext cx="8400300" cy="124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pl" sz="6500"/>
              <a:t>4. Best Baseline</a:t>
            </a:r>
            <a:endParaRPr sz="6500"/>
          </a:p>
        </p:txBody>
      </p:sp>
      <p:sp>
        <p:nvSpPr>
          <p:cNvPr id="526" name="Google Shape;526;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2"/>
          <p:cNvSpPr txBox="1"/>
          <p:nvPr>
            <p:ph type="title"/>
          </p:nvPr>
        </p:nvSpPr>
        <p:spPr>
          <a:xfrm>
            <a:off x="311700" y="33237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Feature analysis</a:t>
            </a:r>
            <a:endParaRPr/>
          </a:p>
        </p:txBody>
      </p:sp>
      <p:sp>
        <p:nvSpPr>
          <p:cNvPr id="532" name="Google Shape;532;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solidFill>
                  <a:schemeClr val="dk2"/>
                </a:solidFill>
              </a:rPr>
              <a:t>‹#›</a:t>
            </a:fld>
            <a:endParaRPr>
              <a:solidFill>
                <a:schemeClr val="dk2"/>
              </a:solidFill>
            </a:endParaRPr>
          </a:p>
        </p:txBody>
      </p:sp>
      <p:pic>
        <p:nvPicPr>
          <p:cNvPr id="533" name="Google Shape;533;p52"/>
          <p:cNvPicPr preferRelativeResize="0"/>
          <p:nvPr/>
        </p:nvPicPr>
        <p:blipFill>
          <a:blip r:embed="rId3">
            <a:alphaModFix/>
          </a:blip>
          <a:stretch>
            <a:fillRect/>
          </a:stretch>
        </p:blipFill>
        <p:spPr>
          <a:xfrm>
            <a:off x="545688" y="1345325"/>
            <a:ext cx="4076499" cy="3606124"/>
          </a:xfrm>
          <a:prstGeom prst="rect">
            <a:avLst/>
          </a:prstGeom>
          <a:noFill/>
          <a:ln>
            <a:noFill/>
          </a:ln>
          <a:effectLst>
            <a:outerShdw blurRad="57150" rotWithShape="0" algn="bl" dir="5400000" dist="19050">
              <a:srgbClr val="000000">
                <a:alpha val="50000"/>
              </a:srgbClr>
            </a:outerShdw>
          </a:effectLst>
        </p:spPr>
      </p:pic>
      <p:pic>
        <p:nvPicPr>
          <p:cNvPr id="534" name="Google Shape;534;p52"/>
          <p:cNvPicPr preferRelativeResize="0"/>
          <p:nvPr/>
        </p:nvPicPr>
        <p:blipFill>
          <a:blip r:embed="rId4">
            <a:alphaModFix/>
          </a:blip>
          <a:stretch>
            <a:fillRect/>
          </a:stretch>
        </p:blipFill>
        <p:spPr>
          <a:xfrm>
            <a:off x="4936937" y="1316150"/>
            <a:ext cx="3661374" cy="366447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Algorithm choice —&gt; Decision tree</a:t>
            </a:r>
            <a:endParaRPr/>
          </a:p>
        </p:txBody>
      </p:sp>
      <p:sp>
        <p:nvSpPr>
          <p:cNvPr id="540" name="Google Shape;540;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solidFill>
                  <a:schemeClr val="dk2"/>
                </a:solidFill>
              </a:rPr>
              <a:t>‹#›</a:t>
            </a:fld>
            <a:endParaRPr>
              <a:solidFill>
                <a:schemeClr val="dk2"/>
              </a:solidFill>
            </a:endParaRPr>
          </a:p>
        </p:txBody>
      </p:sp>
      <p:sp>
        <p:nvSpPr>
          <p:cNvPr id="541" name="Google Shape;541;p53"/>
          <p:cNvSpPr txBox="1"/>
          <p:nvPr/>
        </p:nvSpPr>
        <p:spPr>
          <a:xfrm>
            <a:off x="311725" y="1463850"/>
            <a:ext cx="30000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l" sz="1100"/>
              <a:t>From feature observations:</a:t>
            </a:r>
            <a:endParaRPr b="1" sz="1100"/>
          </a:p>
          <a:p>
            <a:pPr indent="0" lvl="0" marL="0" rtl="0" algn="l">
              <a:spcBef>
                <a:spcPts val="0"/>
              </a:spcBef>
              <a:spcAft>
                <a:spcPts val="0"/>
              </a:spcAft>
              <a:buNone/>
            </a:pPr>
            <a:r>
              <a:t/>
            </a:r>
            <a:endParaRPr sz="1100"/>
          </a:p>
          <a:p>
            <a:pPr indent="-298450" lvl="0" marL="457200" rtl="0" algn="l">
              <a:spcBef>
                <a:spcPts val="0"/>
              </a:spcBef>
              <a:spcAft>
                <a:spcPts val="0"/>
              </a:spcAft>
              <a:buSzPts val="1100"/>
              <a:buAutoNum type="arabicPeriod"/>
            </a:pPr>
            <a:r>
              <a:rPr lang="pl" sz="1100"/>
              <a:t>Complex feature interactions → </a:t>
            </a:r>
            <a:r>
              <a:rPr lang="pl" sz="1100" u="sng"/>
              <a:t>non-linear decision boundary</a:t>
            </a:r>
            <a:endParaRPr sz="1100" u="sng"/>
          </a:p>
          <a:p>
            <a:pPr indent="0" lvl="0" marL="0" rtl="0" algn="l">
              <a:spcBef>
                <a:spcPts val="0"/>
              </a:spcBef>
              <a:spcAft>
                <a:spcPts val="0"/>
              </a:spcAft>
              <a:buNone/>
            </a:pPr>
            <a:r>
              <a:t/>
            </a:r>
            <a:endParaRPr sz="1100"/>
          </a:p>
          <a:p>
            <a:pPr indent="-298450" lvl="0" marL="457200" rtl="0" algn="l">
              <a:spcBef>
                <a:spcPts val="0"/>
              </a:spcBef>
              <a:spcAft>
                <a:spcPts val="0"/>
              </a:spcAft>
              <a:buSzPts val="1100"/>
              <a:buAutoNum type="arabicPeriod"/>
            </a:pPr>
            <a:r>
              <a:rPr lang="pl" sz="1100" u="sng"/>
              <a:t>Outliers</a:t>
            </a:r>
            <a:r>
              <a:rPr lang="pl" sz="1100"/>
              <a:t> and noisy data</a:t>
            </a:r>
            <a:endParaRPr sz="1100"/>
          </a:p>
          <a:p>
            <a:pPr indent="0" lvl="0" marL="457200" rtl="0" algn="l">
              <a:spcBef>
                <a:spcPts val="0"/>
              </a:spcBef>
              <a:spcAft>
                <a:spcPts val="0"/>
              </a:spcAft>
              <a:buNone/>
            </a:pPr>
            <a:r>
              <a:t/>
            </a:r>
            <a:endParaRPr sz="1100"/>
          </a:p>
          <a:p>
            <a:pPr indent="-298450" lvl="0" marL="457200" rtl="0" algn="l">
              <a:spcBef>
                <a:spcPts val="0"/>
              </a:spcBef>
              <a:spcAft>
                <a:spcPts val="0"/>
              </a:spcAft>
              <a:buSzPts val="1100"/>
              <a:buAutoNum type="arabicPeriod"/>
            </a:pPr>
            <a:r>
              <a:rPr lang="pl" sz="1100"/>
              <a:t>Many </a:t>
            </a:r>
            <a:r>
              <a:rPr lang="pl" sz="1100" u="sng"/>
              <a:t>correlated features</a:t>
            </a:r>
            <a:endParaRPr sz="1100" u="sng"/>
          </a:p>
          <a:p>
            <a:pPr indent="0" lvl="0" marL="0" rtl="0" algn="l">
              <a:spcBef>
                <a:spcPts val="0"/>
              </a:spcBef>
              <a:spcAft>
                <a:spcPts val="0"/>
              </a:spcAft>
              <a:buNone/>
            </a:pPr>
            <a:r>
              <a:t/>
            </a:r>
            <a:endParaRPr sz="1100"/>
          </a:p>
        </p:txBody>
      </p:sp>
      <p:sp>
        <p:nvSpPr>
          <p:cNvPr id="542" name="Google Shape;542;p53"/>
          <p:cNvSpPr txBox="1"/>
          <p:nvPr/>
        </p:nvSpPr>
        <p:spPr>
          <a:xfrm>
            <a:off x="373000" y="3172350"/>
            <a:ext cx="3000000" cy="167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pl" sz="1100"/>
              <a:t>Benign and malignant lesions:</a:t>
            </a:r>
            <a:endParaRPr b="1" sz="1100"/>
          </a:p>
          <a:p>
            <a:pPr indent="-298450" lvl="0" marL="457200" rtl="0" algn="l">
              <a:lnSpc>
                <a:spcPct val="115000"/>
              </a:lnSpc>
              <a:spcBef>
                <a:spcPts val="1200"/>
              </a:spcBef>
              <a:spcAft>
                <a:spcPts val="0"/>
              </a:spcAft>
              <a:buSzPts val="1100"/>
              <a:buChar char="●"/>
            </a:pPr>
            <a:r>
              <a:rPr lang="pl" sz="1100"/>
              <a:t>Share similar color ranges</a:t>
            </a:r>
            <a:br>
              <a:rPr lang="pl" sz="1100"/>
            </a:br>
            <a:endParaRPr sz="1100"/>
          </a:p>
          <a:p>
            <a:pPr indent="-298450" lvl="0" marL="457200" rtl="0" algn="l">
              <a:lnSpc>
                <a:spcPct val="115000"/>
              </a:lnSpc>
              <a:spcBef>
                <a:spcPts val="0"/>
              </a:spcBef>
              <a:spcAft>
                <a:spcPts val="0"/>
              </a:spcAft>
              <a:buSzPts val="1100"/>
              <a:buChar char="●"/>
            </a:pPr>
            <a:r>
              <a:rPr lang="pl" sz="1100"/>
              <a:t>Overlap in border irregularity</a:t>
            </a:r>
            <a:br>
              <a:rPr lang="pl" sz="1100"/>
            </a:br>
            <a:endParaRPr sz="1100"/>
          </a:p>
          <a:p>
            <a:pPr indent="-298450" lvl="0" marL="457200" rtl="0" algn="l">
              <a:lnSpc>
                <a:spcPct val="115000"/>
              </a:lnSpc>
              <a:spcBef>
                <a:spcPts val="0"/>
              </a:spcBef>
              <a:spcAft>
                <a:spcPts val="0"/>
              </a:spcAft>
              <a:buSzPts val="1100"/>
              <a:buChar char="●"/>
            </a:pPr>
            <a:r>
              <a:rPr lang="pl" sz="1100"/>
              <a:t>Differ only subtly in combinations of features</a:t>
            </a:r>
            <a:endParaRPr/>
          </a:p>
        </p:txBody>
      </p:sp>
      <p:pic>
        <p:nvPicPr>
          <p:cNvPr id="543" name="Google Shape;543;p53"/>
          <p:cNvPicPr preferRelativeResize="0"/>
          <p:nvPr/>
        </p:nvPicPr>
        <p:blipFill>
          <a:blip r:embed="rId3">
            <a:alphaModFix/>
          </a:blip>
          <a:stretch>
            <a:fillRect/>
          </a:stretch>
        </p:blipFill>
        <p:spPr>
          <a:xfrm>
            <a:off x="4013875" y="1357725"/>
            <a:ext cx="1687325" cy="3578500"/>
          </a:xfrm>
          <a:prstGeom prst="rect">
            <a:avLst/>
          </a:prstGeom>
          <a:noFill/>
          <a:ln>
            <a:noFill/>
          </a:ln>
        </p:spPr>
      </p:pic>
      <p:pic>
        <p:nvPicPr>
          <p:cNvPr id="544" name="Google Shape;544;p53"/>
          <p:cNvPicPr preferRelativeResize="0"/>
          <p:nvPr/>
        </p:nvPicPr>
        <p:blipFill>
          <a:blip r:embed="rId4">
            <a:alphaModFix/>
          </a:blip>
          <a:stretch>
            <a:fillRect/>
          </a:stretch>
        </p:blipFill>
        <p:spPr>
          <a:xfrm>
            <a:off x="5701200" y="1507287"/>
            <a:ext cx="1611600" cy="33529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4"/>
          <p:cNvSpPr txBox="1"/>
          <p:nvPr>
            <p:ph type="title"/>
          </p:nvPr>
        </p:nvSpPr>
        <p:spPr>
          <a:xfrm>
            <a:off x="311700" y="4091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Testing features with cross validation - Decision tree</a:t>
            </a:r>
            <a:endParaRPr/>
          </a:p>
        </p:txBody>
      </p:sp>
      <p:sp>
        <p:nvSpPr>
          <p:cNvPr id="550" name="Google Shape;550;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graphicFrame>
        <p:nvGraphicFramePr>
          <p:cNvPr id="551" name="Google Shape;551;p54"/>
          <p:cNvGraphicFramePr/>
          <p:nvPr/>
        </p:nvGraphicFramePr>
        <p:xfrm>
          <a:off x="788600" y="1610600"/>
          <a:ext cx="3000000" cy="3000000"/>
        </p:xfrm>
        <a:graphic>
          <a:graphicData uri="http://schemas.openxmlformats.org/drawingml/2006/table">
            <a:tbl>
              <a:tblPr>
                <a:noFill/>
                <a:tableStyleId>{6563B346-D381-426A-BBC4-69B844C0A225}</a:tableStyleId>
              </a:tblPr>
              <a:tblGrid>
                <a:gridCol w="3504500"/>
                <a:gridCol w="841025"/>
                <a:gridCol w="1735575"/>
                <a:gridCol w="1485700"/>
              </a:tblGrid>
              <a:tr h="283550">
                <a:tc>
                  <a:txBody>
                    <a:bodyPr/>
                    <a:lstStyle/>
                    <a:p>
                      <a:pPr indent="0" lvl="0" marL="0" rtl="0" algn="l">
                        <a:spcBef>
                          <a:spcPts val="0"/>
                        </a:spcBef>
                        <a:spcAft>
                          <a:spcPts val="0"/>
                        </a:spcAft>
                        <a:buNone/>
                      </a:pPr>
                      <a:r>
                        <a:rPr lang="pl" sz="1200">
                          <a:latin typeface="Merriweather Black"/>
                          <a:ea typeface="Merriweather Black"/>
                          <a:cs typeface="Merriweather Black"/>
                          <a:sym typeface="Merriweather Black"/>
                        </a:rPr>
                        <a:t>Features</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no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Depth</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FF0000"/>
                      </a:solidFill>
                      <a:prstDash val="solid"/>
                      <a:round/>
                      <a:headEnd len="sm" w="sm" type="none"/>
                      <a:tailEnd len="sm" w="sm" type="none"/>
                    </a:lnB>
                    <a:no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AUC</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no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STD</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noFill/>
                  </a:tcPr>
                </a:tc>
              </a:tr>
              <a:tr h="283550">
                <a:tc>
                  <a:txBody>
                    <a:bodyPr/>
                    <a:lstStyle/>
                    <a:p>
                      <a:pPr indent="0" lvl="0" marL="0" rtl="0" algn="l">
                        <a:spcBef>
                          <a:spcPts val="0"/>
                        </a:spcBef>
                        <a:spcAft>
                          <a:spcPts val="0"/>
                        </a:spcAft>
                        <a:buNone/>
                      </a:pPr>
                      <a:r>
                        <a:rPr lang="pl" sz="1200">
                          <a:latin typeface="Merriweather Black"/>
                          <a:ea typeface="Merriweather Black"/>
                          <a:cs typeface="Merriweather Black"/>
                          <a:sym typeface="Merriweather Black"/>
                        </a:rPr>
                        <a:t>All</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3</a:t>
                      </a:r>
                      <a:endParaRPr sz="1200">
                        <a:latin typeface="Merriweather Black"/>
                        <a:ea typeface="Merriweather Black"/>
                        <a:cs typeface="Merriweather Black"/>
                        <a:sym typeface="Merriweather Black"/>
                      </a:endParaRPr>
                    </a:p>
                  </a:txBody>
                  <a:tcPr marT="91425" marB="91425" marR="91425" marL="91425">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0.7056</a:t>
                      </a:r>
                      <a:endParaRPr sz="1200">
                        <a:latin typeface="Merriweather Black"/>
                        <a:ea typeface="Merriweather Black"/>
                        <a:cs typeface="Merriweather Black"/>
                        <a:sym typeface="Merriweather Black"/>
                      </a:endParaRPr>
                    </a:p>
                  </a:txBody>
                  <a:tcPr marT="91425" marB="91425" marR="91425" marL="91425">
                    <a:lnL cap="flat" cmpd="sng" w="38100">
                      <a:solidFill>
                        <a:srgbClr val="FF0000"/>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0.0340</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FFD966"/>
                    </a:solidFill>
                  </a:tcPr>
                </a:tc>
              </a:tr>
              <a:tr h="283550">
                <a:tc>
                  <a:txBody>
                    <a:bodyPr/>
                    <a:lstStyle/>
                    <a:p>
                      <a:pPr indent="0" lvl="0" marL="0" rtl="0" algn="l">
                        <a:spcBef>
                          <a:spcPts val="0"/>
                        </a:spcBef>
                        <a:spcAft>
                          <a:spcPts val="0"/>
                        </a:spcAft>
                        <a:buNone/>
                      </a:pPr>
                      <a:r>
                        <a:rPr lang="pl" sz="1200">
                          <a:latin typeface="Merriweather Black"/>
                          <a:ea typeface="Merriweather Black"/>
                          <a:cs typeface="Merriweather Black"/>
                          <a:sym typeface="Merriweather Black"/>
                        </a:rPr>
                        <a:t>No color entropy</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3</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9E9E9E"/>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0.6972</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0.0373</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E06666"/>
                    </a:solidFill>
                  </a:tcPr>
                </a:tc>
              </a:tr>
              <a:tr h="283550">
                <a:tc>
                  <a:txBody>
                    <a:bodyPr/>
                    <a:lstStyle/>
                    <a:p>
                      <a:pPr indent="0" lvl="0" marL="0" rtl="0" algn="l">
                        <a:spcBef>
                          <a:spcPts val="0"/>
                        </a:spcBef>
                        <a:spcAft>
                          <a:spcPts val="0"/>
                        </a:spcAft>
                        <a:buNone/>
                      </a:pPr>
                      <a:r>
                        <a:rPr lang="pl" sz="1200">
                          <a:latin typeface="Merriweather Black"/>
                          <a:ea typeface="Merriweather Black"/>
                          <a:cs typeface="Merriweather Black"/>
                          <a:sym typeface="Merriweather Black"/>
                        </a:rPr>
                        <a:t>No H, S, V stds</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4</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0.7059</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0.0433</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r>
              <a:tr h="283550">
                <a:tc>
                  <a:txBody>
                    <a:bodyPr/>
                    <a:lstStyle/>
                    <a:p>
                      <a:pPr indent="0" lvl="0" marL="0" rtl="0" algn="l">
                        <a:spcBef>
                          <a:spcPts val="0"/>
                        </a:spcBef>
                        <a:spcAft>
                          <a:spcPts val="0"/>
                        </a:spcAft>
                        <a:buNone/>
                      </a:pPr>
                      <a:r>
                        <a:rPr lang="pl" sz="1200">
                          <a:latin typeface="Merriweather Black"/>
                          <a:ea typeface="Merriweather Black"/>
                          <a:cs typeface="Merriweather Black"/>
                          <a:sym typeface="Merriweather Black"/>
                        </a:rPr>
                        <a:t>No border + stds</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3</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0.7057</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0.03262</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r>
              <a:tr h="283550">
                <a:tc>
                  <a:txBody>
                    <a:bodyPr/>
                    <a:lstStyle/>
                    <a:p>
                      <a:pPr indent="0" lvl="0" marL="0" rtl="0" algn="l">
                        <a:spcBef>
                          <a:spcPts val="0"/>
                        </a:spcBef>
                        <a:spcAft>
                          <a:spcPts val="0"/>
                        </a:spcAft>
                        <a:buNone/>
                      </a:pPr>
                      <a:r>
                        <a:rPr lang="pl" sz="1200">
                          <a:latin typeface="Merriweather Black"/>
                          <a:ea typeface="Merriweather Black"/>
                          <a:cs typeface="Merriweather Black"/>
                          <a:sym typeface="Merriweather Black"/>
                        </a:rPr>
                        <a:t>No asymmetry + stds</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3</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0.7043</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0.0307</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r>
              <a:tr h="283550">
                <a:tc>
                  <a:txBody>
                    <a:bodyPr/>
                    <a:lstStyle/>
                    <a:p>
                      <a:pPr indent="0" lvl="0" marL="0" rtl="0" algn="l">
                        <a:spcBef>
                          <a:spcPts val="0"/>
                        </a:spcBef>
                        <a:spcAft>
                          <a:spcPts val="0"/>
                        </a:spcAft>
                        <a:buNone/>
                      </a:pPr>
                      <a:r>
                        <a:rPr lang="pl" sz="1200">
                          <a:latin typeface="Merriweather Black"/>
                          <a:ea typeface="Merriweather Black"/>
                          <a:cs typeface="Merriweather Black"/>
                          <a:sym typeface="Merriweather Black"/>
                        </a:rPr>
                        <a:t>No asymmetry + border + stds</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6</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0.7218</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pl" sz="1200">
                          <a:latin typeface="Merriweather Black"/>
                          <a:ea typeface="Merriweather Black"/>
                          <a:cs typeface="Merriweather Black"/>
                          <a:sym typeface="Merriweather Black"/>
                        </a:rPr>
                        <a:t>0.0353</a:t>
                      </a:r>
                      <a:endParaRPr sz="1200">
                        <a:latin typeface="Merriweather Black"/>
                        <a:ea typeface="Merriweather Black"/>
                        <a:cs typeface="Merriweather Black"/>
                        <a:sym typeface="Merriweather Black"/>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B6D7A8"/>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5"/>
          <p:cNvSpPr txBox="1"/>
          <p:nvPr>
            <p:ph type="title"/>
          </p:nvPr>
        </p:nvSpPr>
        <p:spPr>
          <a:xfrm>
            <a:off x="311700" y="4091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Cross validation and </a:t>
            </a:r>
            <a:r>
              <a:rPr lang="pl"/>
              <a:t>tuning</a:t>
            </a:r>
            <a:r>
              <a:rPr lang="pl"/>
              <a:t> </a:t>
            </a:r>
            <a:endParaRPr/>
          </a:p>
        </p:txBody>
      </p:sp>
      <p:sp>
        <p:nvSpPr>
          <p:cNvPr id="557" name="Google Shape;557;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558" name="Google Shape;558;p55"/>
          <p:cNvPicPr preferRelativeResize="0"/>
          <p:nvPr/>
        </p:nvPicPr>
        <p:blipFill>
          <a:blip r:embed="rId3">
            <a:alphaModFix/>
          </a:blip>
          <a:stretch>
            <a:fillRect/>
          </a:stretch>
        </p:blipFill>
        <p:spPr>
          <a:xfrm>
            <a:off x="2202300" y="1342750"/>
            <a:ext cx="4739400" cy="37140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6"/>
          <p:cNvSpPr txBox="1"/>
          <p:nvPr>
            <p:ph type="title"/>
          </p:nvPr>
        </p:nvSpPr>
        <p:spPr>
          <a:xfrm>
            <a:off x="311700" y="359350"/>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Checking overfitting</a:t>
            </a:r>
            <a:endParaRPr/>
          </a:p>
        </p:txBody>
      </p:sp>
      <p:sp>
        <p:nvSpPr>
          <p:cNvPr id="564" name="Google Shape;564;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565" name="Google Shape;565;p56"/>
          <p:cNvPicPr preferRelativeResize="0"/>
          <p:nvPr/>
        </p:nvPicPr>
        <p:blipFill>
          <a:blip r:embed="rId3">
            <a:alphaModFix/>
          </a:blip>
          <a:stretch>
            <a:fillRect/>
          </a:stretch>
        </p:blipFill>
        <p:spPr>
          <a:xfrm>
            <a:off x="1664711" y="1543275"/>
            <a:ext cx="5555526" cy="342707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7"/>
          <p:cNvSpPr txBox="1"/>
          <p:nvPr>
            <p:ph type="title"/>
          </p:nvPr>
        </p:nvSpPr>
        <p:spPr>
          <a:xfrm>
            <a:off x="311700" y="4091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Evaluation on all features model, depth = 3</a:t>
            </a:r>
            <a:endParaRPr/>
          </a:p>
        </p:txBody>
      </p:sp>
      <p:sp>
        <p:nvSpPr>
          <p:cNvPr id="571" name="Google Shape;571;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572" name="Google Shape;572;p57"/>
          <p:cNvSpPr txBox="1"/>
          <p:nvPr/>
        </p:nvSpPr>
        <p:spPr>
          <a:xfrm>
            <a:off x="5281675" y="1880525"/>
            <a:ext cx="2319600" cy="192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latin typeface="Merriweather"/>
              <a:ea typeface="Merriweather"/>
              <a:cs typeface="Merriweather"/>
              <a:sym typeface="Merriweather"/>
            </a:endParaRPr>
          </a:p>
          <a:p>
            <a:pPr indent="0" lvl="0" marL="0" rtl="0" algn="l">
              <a:spcBef>
                <a:spcPts val="0"/>
              </a:spcBef>
              <a:spcAft>
                <a:spcPts val="0"/>
              </a:spcAft>
              <a:buNone/>
            </a:pPr>
            <a:r>
              <a:rPr b="1" lang="pl" sz="1700">
                <a:latin typeface="Merriweather"/>
                <a:ea typeface="Merriweather"/>
                <a:cs typeface="Merriweather"/>
                <a:sym typeface="Merriweather"/>
              </a:rPr>
              <a:t>Accuracy:  0.6692 </a:t>
            </a:r>
            <a:endParaRPr b="1" sz="1700">
              <a:latin typeface="Merriweather"/>
              <a:ea typeface="Merriweather"/>
              <a:cs typeface="Merriweather"/>
              <a:sym typeface="Merriweather"/>
            </a:endParaRPr>
          </a:p>
          <a:p>
            <a:pPr indent="0" lvl="0" marL="0" rtl="0" algn="l">
              <a:spcBef>
                <a:spcPts val="0"/>
              </a:spcBef>
              <a:spcAft>
                <a:spcPts val="0"/>
              </a:spcAft>
              <a:buNone/>
            </a:pPr>
            <a:r>
              <a:rPr b="1" lang="pl" sz="1700">
                <a:latin typeface="Merriweather"/>
                <a:ea typeface="Merriweather"/>
                <a:cs typeface="Merriweather"/>
                <a:sym typeface="Merriweather"/>
              </a:rPr>
              <a:t>Recall: 0.6865</a:t>
            </a:r>
            <a:endParaRPr b="1" sz="1700">
              <a:latin typeface="Merriweather"/>
              <a:ea typeface="Merriweather"/>
              <a:cs typeface="Merriweather"/>
              <a:sym typeface="Merriweather"/>
            </a:endParaRPr>
          </a:p>
          <a:p>
            <a:pPr indent="0" lvl="0" marL="0" rtl="0" algn="l">
              <a:spcBef>
                <a:spcPts val="0"/>
              </a:spcBef>
              <a:spcAft>
                <a:spcPts val="0"/>
              </a:spcAft>
              <a:buNone/>
            </a:pPr>
            <a:r>
              <a:rPr b="1" lang="pl" sz="1700">
                <a:latin typeface="Merriweather"/>
                <a:ea typeface="Merriweather"/>
                <a:cs typeface="Merriweather"/>
                <a:sym typeface="Merriweather"/>
              </a:rPr>
              <a:t>AUC: 0.7100 </a:t>
            </a:r>
            <a:endParaRPr b="1" sz="1700">
              <a:latin typeface="Merriweather"/>
              <a:ea typeface="Merriweather"/>
              <a:cs typeface="Merriweather"/>
              <a:sym typeface="Merriweather"/>
            </a:endParaRPr>
          </a:p>
          <a:p>
            <a:pPr indent="0" lvl="0" marL="0" rtl="0" algn="l">
              <a:spcBef>
                <a:spcPts val="0"/>
              </a:spcBef>
              <a:spcAft>
                <a:spcPts val="0"/>
              </a:spcAft>
              <a:buNone/>
            </a:pPr>
            <a:r>
              <a:rPr b="1" lang="pl" sz="1700">
                <a:latin typeface="Merriweather"/>
                <a:ea typeface="Merriweather"/>
                <a:cs typeface="Merriweather"/>
                <a:sym typeface="Merriweather"/>
              </a:rPr>
              <a:t>Precision: 0.6414</a:t>
            </a:r>
            <a:endParaRPr b="1" sz="1700">
              <a:latin typeface="Merriweather"/>
              <a:ea typeface="Merriweather"/>
              <a:cs typeface="Merriweather"/>
              <a:sym typeface="Merriweather"/>
            </a:endParaRPr>
          </a:p>
          <a:p>
            <a:pPr indent="0" lvl="0" marL="0" rtl="0" algn="l">
              <a:spcBef>
                <a:spcPts val="0"/>
              </a:spcBef>
              <a:spcAft>
                <a:spcPts val="0"/>
              </a:spcAft>
              <a:buNone/>
            </a:pPr>
            <a:r>
              <a:rPr b="1" lang="pl" sz="1700">
                <a:latin typeface="Merriweather"/>
                <a:ea typeface="Merriweather"/>
                <a:cs typeface="Merriweather"/>
                <a:sym typeface="Merriweather"/>
              </a:rPr>
              <a:t>F1 Score: 0.6632</a:t>
            </a:r>
            <a:endParaRPr b="1" sz="1700">
              <a:latin typeface="Merriweather"/>
              <a:ea typeface="Merriweather"/>
              <a:cs typeface="Merriweather"/>
              <a:sym typeface="Merriweather"/>
            </a:endParaRPr>
          </a:p>
          <a:p>
            <a:pPr indent="0" lvl="0" marL="0" rtl="0" algn="l">
              <a:spcBef>
                <a:spcPts val="0"/>
              </a:spcBef>
              <a:spcAft>
                <a:spcPts val="0"/>
              </a:spcAft>
              <a:buNone/>
            </a:pPr>
            <a:r>
              <a:t/>
            </a:r>
            <a:endParaRPr b="1">
              <a:latin typeface="Merriweather"/>
              <a:ea typeface="Merriweather"/>
              <a:cs typeface="Merriweather"/>
              <a:sym typeface="Merriweather"/>
            </a:endParaRPr>
          </a:p>
        </p:txBody>
      </p:sp>
      <p:pic>
        <p:nvPicPr>
          <p:cNvPr id="573" name="Google Shape;573;p57"/>
          <p:cNvPicPr preferRelativeResize="0"/>
          <p:nvPr/>
        </p:nvPicPr>
        <p:blipFill>
          <a:blip r:embed="rId3">
            <a:alphaModFix/>
          </a:blip>
          <a:stretch>
            <a:fillRect/>
          </a:stretch>
        </p:blipFill>
        <p:spPr>
          <a:xfrm>
            <a:off x="643675" y="1468250"/>
            <a:ext cx="4017826" cy="336125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8"/>
          <p:cNvSpPr txBox="1"/>
          <p:nvPr>
            <p:ph type="title"/>
          </p:nvPr>
        </p:nvSpPr>
        <p:spPr>
          <a:xfrm>
            <a:off x="311750" y="831175"/>
            <a:ext cx="8400300" cy="124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pl" sz="6500"/>
              <a:t>5</a:t>
            </a:r>
            <a:r>
              <a:rPr lang="pl" sz="6500"/>
              <a:t>. Hair Removal</a:t>
            </a:r>
            <a:endParaRPr sz="6500"/>
          </a:p>
        </p:txBody>
      </p:sp>
      <p:sp>
        <p:nvSpPr>
          <p:cNvPr id="579" name="Google Shape;579;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9"/>
          <p:cNvSpPr txBox="1"/>
          <p:nvPr>
            <p:ph type="title"/>
          </p:nvPr>
        </p:nvSpPr>
        <p:spPr>
          <a:xfrm>
            <a:off x="311700" y="3492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Hair Removal</a:t>
            </a:r>
            <a:endParaRPr/>
          </a:p>
        </p:txBody>
      </p:sp>
      <p:sp>
        <p:nvSpPr>
          <p:cNvPr id="585" name="Google Shape;585;p59"/>
          <p:cNvSpPr txBox="1"/>
          <p:nvPr>
            <p:ph idx="12" type="sldNum"/>
          </p:nvPr>
        </p:nvSpPr>
        <p:spPr>
          <a:xfrm>
            <a:off x="8543033" y="47056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586" name="Google Shape;586;p59"/>
          <p:cNvSpPr txBox="1"/>
          <p:nvPr/>
        </p:nvSpPr>
        <p:spPr>
          <a:xfrm>
            <a:off x="311725" y="1613925"/>
            <a:ext cx="3000000" cy="112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pl" sz="1300"/>
              <a:t>Initial Idea</a:t>
            </a:r>
            <a:endParaRPr b="1" sz="1300"/>
          </a:p>
          <a:p>
            <a:pPr indent="0" lvl="0" marL="0" rtl="0" algn="l">
              <a:lnSpc>
                <a:spcPct val="115000"/>
              </a:lnSpc>
              <a:spcBef>
                <a:spcPts val="1200"/>
              </a:spcBef>
              <a:spcAft>
                <a:spcPts val="1200"/>
              </a:spcAft>
              <a:buNone/>
            </a:pPr>
            <a:r>
              <a:rPr b="1" lang="pl" sz="1100"/>
              <a:t>A</a:t>
            </a:r>
            <a:r>
              <a:rPr b="1" lang="pl" sz="1100"/>
              <a:t>djusting the inpainting kernel size based on hair coverage</a:t>
            </a:r>
            <a:r>
              <a:rPr b="1" lang="pl" sz="1100"/>
              <a:t>, while keeping the rest unchanged.</a:t>
            </a:r>
            <a:endParaRPr b="1" sz="1100"/>
          </a:p>
        </p:txBody>
      </p:sp>
      <p:cxnSp>
        <p:nvCxnSpPr>
          <p:cNvPr id="587" name="Google Shape;587;p59"/>
          <p:cNvCxnSpPr/>
          <p:nvPr/>
        </p:nvCxnSpPr>
        <p:spPr>
          <a:xfrm flipH="1" rot="10800000">
            <a:off x="3427313" y="2406875"/>
            <a:ext cx="1619400" cy="6300"/>
          </a:xfrm>
          <a:prstGeom prst="straightConnector1">
            <a:avLst/>
          </a:prstGeom>
          <a:noFill/>
          <a:ln cap="flat" cmpd="sng" w="9525">
            <a:solidFill>
              <a:schemeClr val="dk2"/>
            </a:solidFill>
            <a:prstDash val="solid"/>
            <a:round/>
            <a:headEnd len="med" w="med" type="none"/>
            <a:tailEnd len="med" w="med" type="triangle"/>
          </a:ln>
        </p:spPr>
      </p:cxnSp>
      <p:sp>
        <p:nvSpPr>
          <p:cNvPr id="588" name="Google Shape;588;p59"/>
          <p:cNvSpPr txBox="1"/>
          <p:nvPr/>
        </p:nvSpPr>
        <p:spPr>
          <a:xfrm>
            <a:off x="5162300" y="1493450"/>
            <a:ext cx="3367200" cy="132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pl" sz="1300"/>
              <a:t>Challenges Encountered</a:t>
            </a:r>
            <a:endParaRPr b="1" sz="1300"/>
          </a:p>
          <a:p>
            <a:pPr indent="-298450" lvl="0" marL="457200" rtl="0" algn="l">
              <a:lnSpc>
                <a:spcPct val="115000"/>
              </a:lnSpc>
              <a:spcBef>
                <a:spcPts val="1200"/>
              </a:spcBef>
              <a:spcAft>
                <a:spcPts val="0"/>
              </a:spcAft>
              <a:buSzPts val="1100"/>
              <a:buChar char="●"/>
            </a:pPr>
            <a:r>
              <a:rPr b="1" lang="pl" sz="1100"/>
              <a:t>Light-colored hair</a:t>
            </a:r>
            <a:r>
              <a:rPr b="1" lang="pl" sz="1100"/>
              <a:t> </a:t>
            </a:r>
            <a:endParaRPr b="1" sz="1100"/>
          </a:p>
          <a:p>
            <a:pPr indent="-298450" lvl="0" marL="457200" rtl="0" algn="l">
              <a:lnSpc>
                <a:spcPct val="115000"/>
              </a:lnSpc>
              <a:spcBef>
                <a:spcPts val="0"/>
              </a:spcBef>
              <a:spcAft>
                <a:spcPts val="0"/>
              </a:spcAft>
              <a:buSzPts val="1100"/>
              <a:buChar char="●"/>
            </a:pPr>
            <a:r>
              <a:rPr b="1" lang="pl" sz="1100"/>
              <a:t>Uneven lighting</a:t>
            </a:r>
            <a:r>
              <a:rPr b="1" lang="pl" sz="1100"/>
              <a:t> </a:t>
            </a:r>
            <a:endParaRPr b="1" sz="1100"/>
          </a:p>
          <a:p>
            <a:pPr indent="-298450" lvl="0" marL="457200" rtl="0" algn="l">
              <a:lnSpc>
                <a:spcPct val="115000"/>
              </a:lnSpc>
              <a:spcBef>
                <a:spcPts val="0"/>
              </a:spcBef>
              <a:spcAft>
                <a:spcPts val="0"/>
              </a:spcAft>
              <a:buSzPts val="1100"/>
              <a:buChar char="●"/>
            </a:pPr>
            <a:r>
              <a:rPr b="1" lang="pl" sz="1100"/>
              <a:t>R</a:t>
            </a:r>
            <a:r>
              <a:rPr b="1" lang="pl" sz="1100"/>
              <a:t>etained artifacts</a:t>
            </a:r>
            <a:r>
              <a:rPr b="1" lang="pl" sz="1100"/>
              <a:t> </a:t>
            </a:r>
            <a:endParaRPr b="1" sz="1100"/>
          </a:p>
          <a:p>
            <a:pPr indent="-298450" lvl="0" marL="457200" rtl="0" algn="l">
              <a:lnSpc>
                <a:spcPct val="115000"/>
              </a:lnSpc>
              <a:spcBef>
                <a:spcPts val="0"/>
              </a:spcBef>
              <a:spcAft>
                <a:spcPts val="0"/>
              </a:spcAft>
              <a:buSzPts val="1100"/>
              <a:buChar char="●"/>
            </a:pPr>
            <a:r>
              <a:rPr b="1" lang="pl" sz="1100"/>
              <a:t>Blurred lesion</a:t>
            </a:r>
            <a:r>
              <a:rPr b="1" lang="pl" sz="1100"/>
              <a:t> </a:t>
            </a:r>
            <a:endParaRPr b="1" sz="1100"/>
          </a:p>
        </p:txBody>
      </p:sp>
      <p:pic>
        <p:nvPicPr>
          <p:cNvPr id="589" name="Google Shape;589;p59"/>
          <p:cNvPicPr preferRelativeResize="0"/>
          <p:nvPr/>
        </p:nvPicPr>
        <p:blipFill>
          <a:blip r:embed="rId3">
            <a:alphaModFix/>
          </a:blip>
          <a:stretch>
            <a:fillRect/>
          </a:stretch>
        </p:blipFill>
        <p:spPr>
          <a:xfrm>
            <a:off x="3827975" y="3549025"/>
            <a:ext cx="1218633" cy="1198375"/>
          </a:xfrm>
          <a:prstGeom prst="rect">
            <a:avLst/>
          </a:prstGeom>
          <a:noFill/>
          <a:ln>
            <a:noFill/>
          </a:ln>
        </p:spPr>
      </p:pic>
      <p:pic>
        <p:nvPicPr>
          <p:cNvPr id="590" name="Google Shape;590;p59"/>
          <p:cNvPicPr preferRelativeResize="0"/>
          <p:nvPr/>
        </p:nvPicPr>
        <p:blipFill>
          <a:blip r:embed="rId4">
            <a:alphaModFix/>
          </a:blip>
          <a:stretch>
            <a:fillRect/>
          </a:stretch>
        </p:blipFill>
        <p:spPr>
          <a:xfrm>
            <a:off x="5336600" y="3425313"/>
            <a:ext cx="3084130" cy="1322100"/>
          </a:xfrm>
          <a:prstGeom prst="rect">
            <a:avLst/>
          </a:prstGeom>
          <a:noFill/>
          <a:ln>
            <a:noFill/>
          </a:ln>
        </p:spPr>
      </p:pic>
      <p:pic>
        <p:nvPicPr>
          <p:cNvPr id="591" name="Google Shape;591;p59"/>
          <p:cNvPicPr preferRelativeResize="0"/>
          <p:nvPr/>
        </p:nvPicPr>
        <p:blipFill>
          <a:blip r:embed="rId5">
            <a:alphaModFix/>
          </a:blip>
          <a:stretch>
            <a:fillRect/>
          </a:stretch>
        </p:blipFill>
        <p:spPr>
          <a:xfrm>
            <a:off x="226613" y="3549026"/>
            <a:ext cx="3311374" cy="119838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0"/>
          <p:cNvSpPr txBox="1"/>
          <p:nvPr>
            <p:ph type="title"/>
          </p:nvPr>
        </p:nvSpPr>
        <p:spPr>
          <a:xfrm>
            <a:off x="311700" y="335450"/>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Hair Feature: Hair Coverage</a:t>
            </a:r>
            <a:endParaRPr/>
          </a:p>
        </p:txBody>
      </p:sp>
      <p:sp>
        <p:nvSpPr>
          <p:cNvPr id="597" name="Google Shape;597;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598" name="Google Shape;598;p60"/>
          <p:cNvSpPr txBox="1"/>
          <p:nvPr/>
        </p:nvSpPr>
        <p:spPr>
          <a:xfrm>
            <a:off x="311725" y="1325400"/>
            <a:ext cx="3666900" cy="336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pl" sz="1100"/>
              <a:t>Method:</a:t>
            </a:r>
            <a:endParaRPr b="1" sz="1100"/>
          </a:p>
          <a:p>
            <a:pPr indent="-298450" lvl="0" marL="457200" rtl="0" algn="l">
              <a:lnSpc>
                <a:spcPct val="115000"/>
              </a:lnSpc>
              <a:spcBef>
                <a:spcPts val="1200"/>
              </a:spcBef>
              <a:spcAft>
                <a:spcPts val="0"/>
              </a:spcAft>
              <a:buSzPts val="1100"/>
              <a:buAutoNum type="arabicPeriod"/>
            </a:pPr>
            <a:r>
              <a:rPr b="1" lang="pl" sz="1100"/>
              <a:t>Enhancing hair detection </a:t>
            </a:r>
            <a:r>
              <a:rPr lang="pl" sz="1100"/>
              <a:t>by improving</a:t>
            </a:r>
            <a:r>
              <a:rPr b="1" lang="pl" sz="1100"/>
              <a:t>:  </a:t>
            </a:r>
            <a:endParaRPr sz="1100"/>
          </a:p>
          <a:p>
            <a:pPr indent="-298450" lvl="0" marL="457200" rtl="0" algn="l">
              <a:lnSpc>
                <a:spcPct val="115000"/>
              </a:lnSpc>
              <a:spcBef>
                <a:spcPts val="0"/>
              </a:spcBef>
              <a:spcAft>
                <a:spcPts val="0"/>
              </a:spcAft>
              <a:buSzPts val="1100"/>
              <a:buChar char="-"/>
            </a:pPr>
            <a:r>
              <a:rPr lang="pl" sz="1100"/>
              <a:t>Contrast (CLAHE)</a:t>
            </a:r>
            <a:endParaRPr sz="1100"/>
          </a:p>
          <a:p>
            <a:pPr indent="-298450" lvl="0" marL="457200" rtl="0" algn="l">
              <a:lnSpc>
                <a:spcPct val="115000"/>
              </a:lnSpc>
              <a:spcBef>
                <a:spcPts val="0"/>
              </a:spcBef>
              <a:spcAft>
                <a:spcPts val="0"/>
              </a:spcAft>
              <a:buSzPts val="1100"/>
              <a:buChar char="-"/>
            </a:pPr>
            <a:r>
              <a:rPr lang="pl" sz="1100"/>
              <a:t>Hair edges for hair mask (Sobel + Laplacian) </a:t>
            </a:r>
            <a:br>
              <a:rPr lang="pl" sz="1100"/>
            </a:br>
            <a:endParaRPr sz="1100"/>
          </a:p>
          <a:p>
            <a:pPr indent="-298450" lvl="0" marL="457200" rtl="0" algn="l">
              <a:lnSpc>
                <a:spcPct val="115000"/>
              </a:lnSpc>
              <a:spcBef>
                <a:spcPts val="0"/>
              </a:spcBef>
              <a:spcAft>
                <a:spcPts val="0"/>
              </a:spcAft>
              <a:buSzPts val="1100"/>
              <a:buAutoNum type="arabicPeriod"/>
            </a:pPr>
            <a:r>
              <a:rPr b="1" lang="pl" sz="1100"/>
              <a:t>Binary hair mask: </a:t>
            </a:r>
            <a:r>
              <a:rPr lang="pl" sz="1100"/>
              <a:t>manual thresholding</a:t>
            </a:r>
            <a:br>
              <a:rPr lang="pl" sz="1100"/>
            </a:br>
            <a:endParaRPr sz="1100"/>
          </a:p>
          <a:p>
            <a:pPr indent="-298450" lvl="0" marL="457200" rtl="0" algn="l">
              <a:lnSpc>
                <a:spcPct val="115000"/>
              </a:lnSpc>
              <a:spcBef>
                <a:spcPts val="0"/>
              </a:spcBef>
              <a:spcAft>
                <a:spcPts val="0"/>
              </a:spcAft>
              <a:buSzPts val="1100"/>
              <a:buAutoNum type="arabicPeriod"/>
            </a:pPr>
            <a:r>
              <a:rPr b="1" lang="pl" sz="1100"/>
              <a:t>Count:</a:t>
            </a:r>
            <a:endParaRPr b="1" sz="1100"/>
          </a:p>
          <a:p>
            <a:pPr indent="-298450" lvl="0" marL="457200" rtl="0" algn="l">
              <a:lnSpc>
                <a:spcPct val="115000"/>
              </a:lnSpc>
              <a:spcBef>
                <a:spcPts val="0"/>
              </a:spcBef>
              <a:spcAft>
                <a:spcPts val="0"/>
              </a:spcAft>
              <a:buSzPts val="1100"/>
              <a:buChar char="-"/>
            </a:pPr>
            <a:r>
              <a:rPr lang="pl" sz="1100"/>
              <a:t>All pixels in the </a:t>
            </a:r>
            <a:r>
              <a:rPr b="1" lang="pl" sz="1100"/>
              <a:t>lesion area</a:t>
            </a:r>
            <a:endParaRPr b="1" sz="1100"/>
          </a:p>
          <a:p>
            <a:pPr indent="-298450" lvl="0" marL="457200" rtl="0" algn="l">
              <a:lnSpc>
                <a:spcPct val="115000"/>
              </a:lnSpc>
              <a:spcBef>
                <a:spcPts val="0"/>
              </a:spcBef>
              <a:spcAft>
                <a:spcPts val="0"/>
              </a:spcAft>
              <a:buSzPts val="1100"/>
              <a:buChar char="-"/>
            </a:pPr>
            <a:r>
              <a:rPr b="1" lang="pl" sz="1100"/>
              <a:t>Hair pixels</a:t>
            </a:r>
            <a:r>
              <a:rPr lang="pl" sz="1100"/>
              <a:t> inside the lesion</a:t>
            </a:r>
            <a:br>
              <a:rPr lang="pl" sz="1100"/>
            </a:br>
            <a:endParaRPr sz="1100"/>
          </a:p>
          <a:p>
            <a:pPr indent="-298450" lvl="0" marL="457200" rtl="0" algn="l">
              <a:lnSpc>
                <a:spcPct val="115000"/>
              </a:lnSpc>
              <a:spcBef>
                <a:spcPts val="0"/>
              </a:spcBef>
              <a:spcAft>
                <a:spcPts val="0"/>
              </a:spcAft>
              <a:buSzPts val="1100"/>
              <a:buAutoNum type="arabicPeriod"/>
            </a:pPr>
            <a:r>
              <a:rPr b="1" lang="pl" sz="1100"/>
              <a:t>Compute hair coverage ratio</a:t>
            </a:r>
            <a:r>
              <a:rPr lang="pl" sz="1100"/>
              <a:t>:</a:t>
            </a:r>
            <a:br>
              <a:rPr lang="pl" sz="1100"/>
            </a:br>
            <a:r>
              <a:rPr lang="pl" sz="1100"/>
              <a:t> Hair pixels ÷ Lesion pixels = </a:t>
            </a:r>
            <a:r>
              <a:rPr b="1" lang="pl" sz="1100"/>
              <a:t>Hair coverage</a:t>
            </a:r>
            <a:endParaRPr b="1" sz="1100"/>
          </a:p>
          <a:p>
            <a:pPr indent="0" lvl="0" marL="0" rtl="0" algn="l">
              <a:lnSpc>
                <a:spcPct val="100000"/>
              </a:lnSpc>
              <a:spcBef>
                <a:spcPts val="1200"/>
              </a:spcBef>
              <a:spcAft>
                <a:spcPts val="0"/>
              </a:spcAft>
              <a:buNone/>
            </a:pPr>
            <a:r>
              <a:rPr i="1" lang="pl" sz="1100" u="sng"/>
              <a:t>For validation of the feature extraction: </a:t>
            </a:r>
            <a:endParaRPr i="1" sz="1100" u="sng"/>
          </a:p>
          <a:p>
            <a:pPr indent="0" lvl="0" marL="0" rtl="0" algn="l">
              <a:lnSpc>
                <a:spcPct val="100000"/>
              </a:lnSpc>
              <a:spcBef>
                <a:spcPts val="0"/>
              </a:spcBef>
              <a:spcAft>
                <a:spcPts val="0"/>
              </a:spcAft>
              <a:buNone/>
            </a:pPr>
            <a:r>
              <a:rPr i="1" lang="pl" sz="1100" u="sng"/>
              <a:t>Hair pixels ÷ Image pixels</a:t>
            </a:r>
            <a:endParaRPr i="1" sz="1100" u="sng"/>
          </a:p>
        </p:txBody>
      </p:sp>
      <p:pic>
        <p:nvPicPr>
          <p:cNvPr id="599" name="Google Shape;599;p60"/>
          <p:cNvPicPr preferRelativeResize="0"/>
          <p:nvPr/>
        </p:nvPicPr>
        <p:blipFill>
          <a:blip r:embed="rId3">
            <a:alphaModFix/>
          </a:blip>
          <a:stretch>
            <a:fillRect/>
          </a:stretch>
        </p:blipFill>
        <p:spPr>
          <a:xfrm>
            <a:off x="4111225" y="1277025"/>
            <a:ext cx="2849649" cy="1237250"/>
          </a:xfrm>
          <a:prstGeom prst="rect">
            <a:avLst/>
          </a:prstGeom>
          <a:noFill/>
          <a:ln>
            <a:noFill/>
          </a:ln>
        </p:spPr>
      </p:pic>
      <p:pic>
        <p:nvPicPr>
          <p:cNvPr id="600" name="Google Shape;600;p60"/>
          <p:cNvPicPr preferRelativeResize="0"/>
          <p:nvPr/>
        </p:nvPicPr>
        <p:blipFill>
          <a:blip r:embed="rId4">
            <a:alphaModFix/>
          </a:blip>
          <a:stretch>
            <a:fillRect/>
          </a:stretch>
        </p:blipFill>
        <p:spPr>
          <a:xfrm>
            <a:off x="4111225" y="2514275"/>
            <a:ext cx="2849649" cy="1197580"/>
          </a:xfrm>
          <a:prstGeom prst="rect">
            <a:avLst/>
          </a:prstGeom>
          <a:noFill/>
          <a:ln>
            <a:noFill/>
          </a:ln>
        </p:spPr>
      </p:pic>
      <p:pic>
        <p:nvPicPr>
          <p:cNvPr id="601" name="Google Shape;601;p60"/>
          <p:cNvPicPr preferRelativeResize="0"/>
          <p:nvPr/>
        </p:nvPicPr>
        <p:blipFill>
          <a:blip r:embed="rId5">
            <a:alphaModFix/>
          </a:blip>
          <a:stretch>
            <a:fillRect/>
          </a:stretch>
        </p:blipFill>
        <p:spPr>
          <a:xfrm>
            <a:off x="4163675" y="3711850"/>
            <a:ext cx="2849651" cy="1248644"/>
          </a:xfrm>
          <a:prstGeom prst="rect">
            <a:avLst/>
          </a:prstGeom>
          <a:noFill/>
          <a:ln>
            <a:noFill/>
          </a:ln>
        </p:spPr>
      </p:pic>
      <p:pic>
        <p:nvPicPr>
          <p:cNvPr id="602" name="Google Shape;602;p60"/>
          <p:cNvPicPr preferRelativeResize="0"/>
          <p:nvPr/>
        </p:nvPicPr>
        <p:blipFill>
          <a:blip r:embed="rId6">
            <a:alphaModFix/>
          </a:blip>
          <a:stretch>
            <a:fillRect/>
          </a:stretch>
        </p:blipFill>
        <p:spPr>
          <a:xfrm>
            <a:off x="7013326" y="1446804"/>
            <a:ext cx="1863076" cy="1388900"/>
          </a:xfrm>
          <a:prstGeom prst="rect">
            <a:avLst/>
          </a:prstGeom>
          <a:noFill/>
          <a:ln>
            <a:noFill/>
          </a:ln>
        </p:spPr>
      </p:pic>
      <p:pic>
        <p:nvPicPr>
          <p:cNvPr id="603" name="Google Shape;603;p60"/>
          <p:cNvPicPr preferRelativeResize="0"/>
          <p:nvPr/>
        </p:nvPicPr>
        <p:blipFill>
          <a:blip r:embed="rId7">
            <a:alphaModFix/>
          </a:blip>
          <a:stretch>
            <a:fillRect/>
          </a:stretch>
        </p:blipFill>
        <p:spPr>
          <a:xfrm>
            <a:off x="7443873" y="2896900"/>
            <a:ext cx="1108525" cy="956125"/>
          </a:xfrm>
          <a:prstGeom prst="rect">
            <a:avLst/>
          </a:prstGeom>
          <a:noFill/>
          <a:ln>
            <a:noFill/>
          </a:ln>
        </p:spPr>
      </p:pic>
      <p:pic>
        <p:nvPicPr>
          <p:cNvPr id="604" name="Google Shape;604;p60"/>
          <p:cNvPicPr preferRelativeResize="0"/>
          <p:nvPr/>
        </p:nvPicPr>
        <p:blipFill>
          <a:blip r:embed="rId8">
            <a:alphaModFix/>
          </a:blip>
          <a:stretch>
            <a:fillRect/>
          </a:stretch>
        </p:blipFill>
        <p:spPr>
          <a:xfrm>
            <a:off x="7401750" y="3914225"/>
            <a:ext cx="1108525" cy="103476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1"/>
          <p:cNvSpPr txBox="1"/>
          <p:nvPr>
            <p:ph type="title"/>
          </p:nvPr>
        </p:nvSpPr>
        <p:spPr>
          <a:xfrm>
            <a:off x="311700" y="376800"/>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Validation of the hair feature</a:t>
            </a:r>
            <a:endParaRPr/>
          </a:p>
        </p:txBody>
      </p:sp>
      <p:sp>
        <p:nvSpPr>
          <p:cNvPr id="610" name="Google Shape;610;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611" name="Google Shape;611;p61"/>
          <p:cNvPicPr preferRelativeResize="0"/>
          <p:nvPr/>
        </p:nvPicPr>
        <p:blipFill>
          <a:blip r:embed="rId3">
            <a:alphaModFix/>
          </a:blip>
          <a:stretch>
            <a:fillRect/>
          </a:stretch>
        </p:blipFill>
        <p:spPr>
          <a:xfrm>
            <a:off x="4198525" y="1429425"/>
            <a:ext cx="4633797" cy="3714074"/>
          </a:xfrm>
          <a:prstGeom prst="rect">
            <a:avLst/>
          </a:prstGeom>
          <a:noFill/>
          <a:ln>
            <a:noFill/>
          </a:ln>
        </p:spPr>
      </p:pic>
      <p:cxnSp>
        <p:nvCxnSpPr>
          <p:cNvPr id="612" name="Google Shape;612;p61"/>
          <p:cNvCxnSpPr/>
          <p:nvPr/>
        </p:nvCxnSpPr>
        <p:spPr>
          <a:xfrm>
            <a:off x="5923975" y="3601025"/>
            <a:ext cx="0" cy="313500"/>
          </a:xfrm>
          <a:prstGeom prst="straightConnector1">
            <a:avLst/>
          </a:prstGeom>
          <a:noFill/>
          <a:ln cap="flat" cmpd="sng" w="9525">
            <a:solidFill>
              <a:schemeClr val="dk2"/>
            </a:solidFill>
            <a:prstDash val="solid"/>
            <a:round/>
            <a:headEnd len="med" w="med" type="none"/>
            <a:tailEnd len="med" w="med" type="triangle"/>
          </a:ln>
        </p:spPr>
      </p:cxnSp>
      <p:sp>
        <p:nvSpPr>
          <p:cNvPr id="613" name="Google Shape;613;p61"/>
          <p:cNvSpPr txBox="1"/>
          <p:nvPr/>
        </p:nvSpPr>
        <p:spPr>
          <a:xfrm>
            <a:off x="5514075" y="3058925"/>
            <a:ext cx="1240500" cy="54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sz="1000">
                <a:solidFill>
                  <a:schemeClr val="dk2"/>
                </a:solidFill>
                <a:latin typeface="Roboto"/>
                <a:ea typeface="Roboto"/>
                <a:cs typeface="Roboto"/>
                <a:sym typeface="Roboto"/>
              </a:rPr>
              <a:t>Threshold for kernel size adjustment</a:t>
            </a:r>
            <a:endParaRPr sz="1000">
              <a:solidFill>
                <a:schemeClr val="dk2"/>
              </a:solidFill>
              <a:latin typeface="Roboto"/>
              <a:ea typeface="Roboto"/>
              <a:cs typeface="Roboto"/>
              <a:sym typeface="Roboto"/>
            </a:endParaRPr>
          </a:p>
        </p:txBody>
      </p:sp>
      <p:sp>
        <p:nvSpPr>
          <p:cNvPr id="614" name="Google Shape;614;p61"/>
          <p:cNvSpPr txBox="1"/>
          <p:nvPr/>
        </p:nvSpPr>
        <p:spPr>
          <a:xfrm>
            <a:off x="192925" y="1615650"/>
            <a:ext cx="3717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l" sz="1100">
                <a:solidFill>
                  <a:schemeClr val="dk1"/>
                </a:solidFill>
              </a:rPr>
              <a:t>Annotations analysis:</a:t>
            </a:r>
            <a:endParaRPr b="1" sz="1100">
              <a:solidFill>
                <a:schemeClr val="dk1"/>
              </a:solidFill>
            </a:endParaRPr>
          </a:p>
          <a:p>
            <a:pPr indent="0" lvl="0" marL="0" rtl="0" algn="l">
              <a:spcBef>
                <a:spcPts val="0"/>
              </a:spcBef>
              <a:spcAft>
                <a:spcPts val="0"/>
              </a:spcAft>
              <a:buNone/>
            </a:pPr>
            <a:r>
              <a:rPr lang="pl" sz="1100">
                <a:solidFill>
                  <a:schemeClr val="dk1"/>
                </a:solidFill>
                <a:latin typeface="Courier New"/>
                <a:ea typeface="Courier New"/>
                <a:cs typeface="Courier New"/>
                <a:sym typeface="Courier New"/>
              </a:rPr>
              <a:t>Fleiss' Kappa = 0.706</a:t>
            </a:r>
            <a:endParaRPr sz="1100">
              <a:solidFill>
                <a:schemeClr val="dk1"/>
              </a:solidFill>
            </a:endParaRPr>
          </a:p>
        </p:txBody>
      </p:sp>
      <p:pic>
        <p:nvPicPr>
          <p:cNvPr id="615" name="Google Shape;615;p61"/>
          <p:cNvPicPr preferRelativeResize="0"/>
          <p:nvPr/>
        </p:nvPicPr>
        <p:blipFill>
          <a:blip r:embed="rId4">
            <a:alphaModFix/>
          </a:blip>
          <a:stretch>
            <a:fillRect/>
          </a:stretch>
        </p:blipFill>
        <p:spPr>
          <a:xfrm>
            <a:off x="311724" y="2206699"/>
            <a:ext cx="2844275" cy="730100"/>
          </a:xfrm>
          <a:prstGeom prst="rect">
            <a:avLst/>
          </a:prstGeom>
          <a:noFill/>
          <a:ln>
            <a:noFill/>
          </a:ln>
        </p:spPr>
      </p:pic>
      <p:pic>
        <p:nvPicPr>
          <p:cNvPr id="616" name="Google Shape;616;p61"/>
          <p:cNvPicPr preferRelativeResize="0"/>
          <p:nvPr/>
        </p:nvPicPr>
        <p:blipFill>
          <a:blip r:embed="rId5">
            <a:alphaModFix/>
          </a:blip>
          <a:stretch>
            <a:fillRect/>
          </a:stretch>
        </p:blipFill>
        <p:spPr>
          <a:xfrm>
            <a:off x="583575" y="3133135"/>
            <a:ext cx="2300575" cy="178151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62"/>
          <p:cNvSpPr txBox="1"/>
          <p:nvPr>
            <p:ph type="title"/>
          </p:nvPr>
        </p:nvSpPr>
        <p:spPr>
          <a:xfrm>
            <a:off x="311700" y="3520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Hair Removal</a:t>
            </a:r>
            <a:endParaRPr/>
          </a:p>
        </p:txBody>
      </p:sp>
      <p:sp>
        <p:nvSpPr>
          <p:cNvPr id="622" name="Google Shape;622;p62"/>
          <p:cNvSpPr txBox="1"/>
          <p:nvPr/>
        </p:nvSpPr>
        <p:spPr>
          <a:xfrm>
            <a:off x="374350" y="1426800"/>
            <a:ext cx="3000000" cy="132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pl" sz="1300"/>
              <a:t>Challenges Encountered</a:t>
            </a:r>
            <a:endParaRPr b="1" sz="1300"/>
          </a:p>
          <a:p>
            <a:pPr indent="-298450" lvl="0" marL="457200" rtl="0" algn="l">
              <a:lnSpc>
                <a:spcPct val="115000"/>
              </a:lnSpc>
              <a:spcBef>
                <a:spcPts val="1200"/>
              </a:spcBef>
              <a:spcAft>
                <a:spcPts val="0"/>
              </a:spcAft>
              <a:buSzPts val="1100"/>
              <a:buChar char="●"/>
            </a:pPr>
            <a:r>
              <a:rPr b="1" lang="pl" sz="1100"/>
              <a:t>Light-colored hair </a:t>
            </a:r>
            <a:endParaRPr b="1" sz="1100"/>
          </a:p>
          <a:p>
            <a:pPr indent="-298450" lvl="0" marL="457200" rtl="0" algn="l">
              <a:lnSpc>
                <a:spcPct val="115000"/>
              </a:lnSpc>
              <a:spcBef>
                <a:spcPts val="0"/>
              </a:spcBef>
              <a:spcAft>
                <a:spcPts val="0"/>
              </a:spcAft>
              <a:buSzPts val="1100"/>
              <a:buChar char="●"/>
            </a:pPr>
            <a:r>
              <a:rPr b="1" lang="pl" sz="1100"/>
              <a:t>Uneven lighting </a:t>
            </a:r>
            <a:endParaRPr b="1" sz="1100"/>
          </a:p>
          <a:p>
            <a:pPr indent="-298450" lvl="0" marL="457200" rtl="0" algn="l">
              <a:lnSpc>
                <a:spcPct val="115000"/>
              </a:lnSpc>
              <a:spcBef>
                <a:spcPts val="0"/>
              </a:spcBef>
              <a:spcAft>
                <a:spcPts val="0"/>
              </a:spcAft>
              <a:buSzPts val="1100"/>
              <a:buChar char="●"/>
            </a:pPr>
            <a:r>
              <a:rPr b="1" lang="pl" sz="1100"/>
              <a:t>Retained artifacts </a:t>
            </a:r>
            <a:endParaRPr b="1" sz="1100"/>
          </a:p>
          <a:p>
            <a:pPr indent="-298450" lvl="0" marL="457200" rtl="0" algn="l">
              <a:lnSpc>
                <a:spcPct val="115000"/>
              </a:lnSpc>
              <a:spcBef>
                <a:spcPts val="0"/>
              </a:spcBef>
              <a:spcAft>
                <a:spcPts val="0"/>
              </a:spcAft>
              <a:buSzPts val="1100"/>
              <a:buChar char="●"/>
            </a:pPr>
            <a:r>
              <a:rPr b="1" lang="pl" sz="1100"/>
              <a:t>Blurred lesion </a:t>
            </a:r>
            <a:endParaRPr b="1" sz="1300"/>
          </a:p>
        </p:txBody>
      </p:sp>
      <p:cxnSp>
        <p:nvCxnSpPr>
          <p:cNvPr id="623" name="Google Shape;623;p62"/>
          <p:cNvCxnSpPr/>
          <p:nvPr/>
        </p:nvCxnSpPr>
        <p:spPr>
          <a:xfrm flipH="1" rot="10800000">
            <a:off x="2825350" y="2348950"/>
            <a:ext cx="1178700" cy="10200"/>
          </a:xfrm>
          <a:prstGeom prst="straightConnector1">
            <a:avLst/>
          </a:prstGeom>
          <a:noFill/>
          <a:ln cap="flat" cmpd="sng" w="9525">
            <a:solidFill>
              <a:schemeClr val="dk2"/>
            </a:solidFill>
            <a:prstDash val="solid"/>
            <a:round/>
            <a:headEnd len="med" w="med" type="none"/>
            <a:tailEnd len="med" w="med" type="triangle"/>
          </a:ln>
        </p:spPr>
      </p:cxnSp>
      <p:sp>
        <p:nvSpPr>
          <p:cNvPr id="624" name="Google Shape;624;p62"/>
          <p:cNvSpPr txBox="1"/>
          <p:nvPr/>
        </p:nvSpPr>
        <p:spPr>
          <a:xfrm>
            <a:off x="4492050" y="1667950"/>
            <a:ext cx="4187400" cy="163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pl" sz="1300"/>
              <a:t>Improvements Implemented</a:t>
            </a:r>
            <a:endParaRPr b="1" sz="1300"/>
          </a:p>
          <a:p>
            <a:pPr indent="-298450" lvl="0" marL="457200" rtl="0" algn="l">
              <a:lnSpc>
                <a:spcPct val="100000"/>
              </a:lnSpc>
              <a:spcBef>
                <a:spcPts val="400"/>
              </a:spcBef>
              <a:spcAft>
                <a:spcPts val="0"/>
              </a:spcAft>
              <a:buSzPts val="1100"/>
              <a:buChar char="●"/>
            </a:pPr>
            <a:r>
              <a:rPr b="1" lang="pl" sz="1100"/>
              <a:t>Image e</a:t>
            </a:r>
            <a:r>
              <a:rPr b="1" lang="pl" sz="1100"/>
              <a:t>nhancement</a:t>
            </a:r>
            <a:r>
              <a:rPr b="1" lang="pl" sz="1100"/>
              <a:t> </a:t>
            </a:r>
            <a:r>
              <a:rPr lang="pl" sz="1100"/>
              <a:t>(same as in hair feature)</a:t>
            </a:r>
            <a:endParaRPr sz="1100"/>
          </a:p>
          <a:p>
            <a:pPr indent="-298450" lvl="0" marL="457200" rtl="0" algn="l">
              <a:lnSpc>
                <a:spcPct val="100000"/>
              </a:lnSpc>
              <a:spcBef>
                <a:spcPts val="1200"/>
              </a:spcBef>
              <a:spcAft>
                <a:spcPts val="0"/>
              </a:spcAft>
              <a:buSzPts val="1100"/>
              <a:buChar char="●"/>
            </a:pPr>
            <a:r>
              <a:rPr b="1" lang="pl" sz="1100"/>
              <a:t>Combined</a:t>
            </a:r>
            <a:r>
              <a:rPr lang="pl" sz="1100"/>
              <a:t> </a:t>
            </a:r>
            <a:r>
              <a:rPr b="1" lang="pl" sz="1100"/>
              <a:t>Blackhat</a:t>
            </a:r>
            <a:r>
              <a:rPr lang="pl" sz="1100"/>
              <a:t> and </a:t>
            </a:r>
            <a:r>
              <a:rPr b="1" lang="pl" sz="1100"/>
              <a:t>Tophat</a:t>
            </a:r>
            <a:r>
              <a:rPr lang="pl" sz="1100"/>
              <a:t>: 60/40 ratio</a:t>
            </a:r>
            <a:br>
              <a:rPr lang="pl" sz="1100"/>
            </a:br>
            <a:endParaRPr sz="1100"/>
          </a:p>
          <a:p>
            <a:pPr indent="-298450" lvl="0" marL="457200" rtl="0" algn="l">
              <a:lnSpc>
                <a:spcPct val="100000"/>
              </a:lnSpc>
              <a:spcBef>
                <a:spcPts val="0"/>
              </a:spcBef>
              <a:spcAft>
                <a:spcPts val="0"/>
              </a:spcAft>
              <a:buSzPts val="1100"/>
              <a:buChar char="●"/>
            </a:pPr>
            <a:r>
              <a:rPr b="1" lang="pl" sz="1100"/>
              <a:t>A</a:t>
            </a:r>
            <a:r>
              <a:rPr b="1" lang="pl" sz="1100"/>
              <a:t>daptive threshold</a:t>
            </a:r>
            <a:br>
              <a:rPr b="1" lang="pl" sz="1100"/>
            </a:br>
            <a:endParaRPr b="1" sz="1100"/>
          </a:p>
          <a:p>
            <a:pPr indent="-298450" lvl="0" marL="457200" rtl="0" algn="l">
              <a:lnSpc>
                <a:spcPct val="100000"/>
              </a:lnSpc>
              <a:spcBef>
                <a:spcPts val="0"/>
              </a:spcBef>
              <a:spcAft>
                <a:spcPts val="1200"/>
              </a:spcAft>
              <a:buSzPts val="1100"/>
              <a:buChar char="●"/>
            </a:pPr>
            <a:r>
              <a:rPr b="1" lang="pl" sz="1100"/>
              <a:t>S</a:t>
            </a:r>
            <a:r>
              <a:rPr b="1" lang="pl" sz="1100"/>
              <a:t>maller inpainting kernel</a:t>
            </a:r>
            <a:endParaRPr b="1" sz="1100"/>
          </a:p>
        </p:txBody>
      </p:sp>
      <p:cxnSp>
        <p:nvCxnSpPr>
          <p:cNvPr id="625" name="Google Shape;625;p62"/>
          <p:cNvCxnSpPr/>
          <p:nvPr/>
        </p:nvCxnSpPr>
        <p:spPr>
          <a:xfrm flipH="1">
            <a:off x="4057075" y="3468375"/>
            <a:ext cx="468300" cy="281700"/>
          </a:xfrm>
          <a:prstGeom prst="straightConnector1">
            <a:avLst/>
          </a:prstGeom>
          <a:noFill/>
          <a:ln cap="flat" cmpd="sng" w="9525">
            <a:solidFill>
              <a:schemeClr val="dk2"/>
            </a:solidFill>
            <a:prstDash val="solid"/>
            <a:round/>
            <a:headEnd len="med" w="med" type="none"/>
            <a:tailEnd len="med" w="med" type="triangle"/>
          </a:ln>
        </p:spPr>
      </p:cxnSp>
      <p:sp>
        <p:nvSpPr>
          <p:cNvPr id="626" name="Google Shape;626;p62"/>
          <p:cNvSpPr txBox="1"/>
          <p:nvPr/>
        </p:nvSpPr>
        <p:spPr>
          <a:xfrm>
            <a:off x="904400" y="3827625"/>
            <a:ext cx="32691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200">
                <a:solidFill>
                  <a:schemeClr val="dk2"/>
                </a:solidFill>
                <a:latin typeface="Roboto"/>
                <a:ea typeface="Roboto"/>
                <a:cs typeface="Roboto"/>
                <a:sym typeface="Roboto"/>
              </a:rPr>
              <a:t>Too much tuning caused pixel clustering !!!</a:t>
            </a:r>
            <a:endParaRPr sz="1200">
              <a:solidFill>
                <a:schemeClr val="dk2"/>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63"/>
          <p:cNvSpPr txBox="1"/>
          <p:nvPr>
            <p:ph type="title"/>
          </p:nvPr>
        </p:nvSpPr>
        <p:spPr>
          <a:xfrm>
            <a:off x="311700" y="374700"/>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What did we oversee</a:t>
            </a:r>
            <a:r>
              <a:rPr lang="pl"/>
              <a:t>?</a:t>
            </a:r>
            <a:endParaRPr/>
          </a:p>
        </p:txBody>
      </p:sp>
      <p:sp>
        <p:nvSpPr>
          <p:cNvPr id="632" name="Google Shape;632;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633" name="Google Shape;633;p63"/>
          <p:cNvPicPr preferRelativeResize="0"/>
          <p:nvPr/>
        </p:nvPicPr>
        <p:blipFill>
          <a:blip r:embed="rId3">
            <a:alphaModFix/>
          </a:blip>
          <a:stretch>
            <a:fillRect/>
          </a:stretch>
        </p:blipFill>
        <p:spPr>
          <a:xfrm>
            <a:off x="4750647" y="1401250"/>
            <a:ext cx="4081675" cy="1589700"/>
          </a:xfrm>
          <a:prstGeom prst="rect">
            <a:avLst/>
          </a:prstGeom>
          <a:noFill/>
          <a:ln>
            <a:noFill/>
          </a:ln>
        </p:spPr>
      </p:pic>
      <p:pic>
        <p:nvPicPr>
          <p:cNvPr id="634" name="Google Shape;634;p63"/>
          <p:cNvPicPr preferRelativeResize="0"/>
          <p:nvPr/>
        </p:nvPicPr>
        <p:blipFill>
          <a:blip r:embed="rId4">
            <a:alphaModFix/>
          </a:blip>
          <a:stretch>
            <a:fillRect/>
          </a:stretch>
        </p:blipFill>
        <p:spPr>
          <a:xfrm>
            <a:off x="4750650" y="3133125"/>
            <a:ext cx="1968034" cy="1589700"/>
          </a:xfrm>
          <a:prstGeom prst="rect">
            <a:avLst/>
          </a:prstGeom>
          <a:noFill/>
          <a:ln>
            <a:noFill/>
          </a:ln>
        </p:spPr>
      </p:pic>
      <p:pic>
        <p:nvPicPr>
          <p:cNvPr id="635" name="Google Shape;635;p63"/>
          <p:cNvPicPr preferRelativeResize="0"/>
          <p:nvPr/>
        </p:nvPicPr>
        <p:blipFill>
          <a:blip r:embed="rId5">
            <a:alphaModFix/>
          </a:blip>
          <a:stretch>
            <a:fillRect/>
          </a:stretch>
        </p:blipFill>
        <p:spPr>
          <a:xfrm>
            <a:off x="6836825" y="3133125"/>
            <a:ext cx="1870825" cy="1589700"/>
          </a:xfrm>
          <a:prstGeom prst="rect">
            <a:avLst/>
          </a:prstGeom>
          <a:noFill/>
          <a:ln>
            <a:noFill/>
          </a:ln>
        </p:spPr>
      </p:pic>
      <p:sp>
        <p:nvSpPr>
          <p:cNvPr id="636" name="Google Shape;636;p63"/>
          <p:cNvSpPr txBox="1"/>
          <p:nvPr/>
        </p:nvSpPr>
        <p:spPr>
          <a:xfrm>
            <a:off x="398200" y="1401250"/>
            <a:ext cx="40818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l" sz="1300">
                <a:latin typeface="Roboto"/>
                <a:ea typeface="Roboto"/>
                <a:cs typeface="Roboto"/>
                <a:sym typeface="Roboto"/>
              </a:rPr>
              <a:t>Biggest concern:</a:t>
            </a:r>
            <a:r>
              <a:rPr lang="pl" sz="1300">
                <a:latin typeface="Roboto"/>
                <a:ea typeface="Roboto"/>
                <a:cs typeface="Roboto"/>
                <a:sym typeface="Roboto"/>
              </a:rPr>
              <a:t> how to be independent of the hair color</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rPr b="1" lang="pl" sz="1300">
                <a:latin typeface="Roboto"/>
                <a:ea typeface="Roboto"/>
                <a:cs typeface="Roboto"/>
                <a:sym typeface="Roboto"/>
              </a:rPr>
              <a:t>We oversaw </a:t>
            </a:r>
            <a:r>
              <a:rPr lang="pl" sz="1300">
                <a:latin typeface="Roboto"/>
                <a:ea typeface="Roboto"/>
                <a:cs typeface="Roboto"/>
                <a:sym typeface="Roboto"/>
              </a:rPr>
              <a:t>the hair mask made for </a:t>
            </a:r>
            <a:r>
              <a:rPr b="1" lang="pl" sz="1300">
                <a:latin typeface="Roboto"/>
                <a:ea typeface="Roboto"/>
                <a:cs typeface="Roboto"/>
                <a:sym typeface="Roboto"/>
              </a:rPr>
              <a:t>hair coverage</a:t>
            </a:r>
            <a:r>
              <a:rPr lang="pl" sz="1300">
                <a:latin typeface="Roboto"/>
                <a:ea typeface="Roboto"/>
                <a:cs typeface="Roboto"/>
                <a:sym typeface="Roboto"/>
              </a:rPr>
              <a:t> calculations</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rPr b="1" lang="pl" sz="1300">
                <a:latin typeface="Roboto"/>
                <a:ea typeface="Roboto"/>
                <a:cs typeface="Roboto"/>
                <a:sym typeface="Roboto"/>
              </a:rPr>
              <a:t>Challenge</a:t>
            </a:r>
            <a:r>
              <a:rPr lang="pl" sz="1300">
                <a:latin typeface="Roboto"/>
                <a:ea typeface="Roboto"/>
                <a:cs typeface="Roboto"/>
                <a:sym typeface="Roboto"/>
              </a:rPr>
              <a:t>: detects hair edges but hair look hollow </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rPr b="1" lang="pl" sz="1300">
                <a:latin typeface="Roboto"/>
                <a:ea typeface="Roboto"/>
                <a:cs typeface="Roboto"/>
                <a:sym typeface="Roboto"/>
              </a:rPr>
              <a:t>Solution</a:t>
            </a:r>
            <a:r>
              <a:rPr lang="pl" sz="1300">
                <a:latin typeface="Roboto"/>
                <a:ea typeface="Roboto"/>
                <a:cs typeface="Roboto"/>
                <a:sym typeface="Roboto"/>
              </a:rPr>
              <a:t>: small kernel with closing operation</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rPr lang="pl" sz="1300">
                <a:latin typeface="Roboto"/>
                <a:ea typeface="Roboto"/>
                <a:cs typeface="Roboto"/>
                <a:sym typeface="Roboto"/>
              </a:rPr>
              <a:t>Which kernel size → hair coverage</a:t>
            </a:r>
            <a:endParaRPr sz="1300">
              <a:latin typeface="Roboto"/>
              <a:ea typeface="Roboto"/>
              <a:cs typeface="Roboto"/>
              <a:sym typeface="Roboto"/>
            </a:endParaRPr>
          </a:p>
        </p:txBody>
      </p:sp>
      <p:pic>
        <p:nvPicPr>
          <p:cNvPr id="637" name="Google Shape;637;p63"/>
          <p:cNvPicPr preferRelativeResize="0"/>
          <p:nvPr/>
        </p:nvPicPr>
        <p:blipFill>
          <a:blip r:embed="rId6">
            <a:alphaModFix/>
          </a:blip>
          <a:stretch>
            <a:fillRect/>
          </a:stretch>
        </p:blipFill>
        <p:spPr>
          <a:xfrm>
            <a:off x="398200" y="3963700"/>
            <a:ext cx="3683000" cy="9108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6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sz="2500"/>
              <a:t>Hair removal + hair feature     		Hair removal</a:t>
            </a:r>
            <a:endParaRPr sz="2500"/>
          </a:p>
        </p:txBody>
      </p:sp>
      <p:sp>
        <p:nvSpPr>
          <p:cNvPr id="643" name="Google Shape;643;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644" name="Google Shape;644;p64"/>
          <p:cNvPicPr preferRelativeResize="0"/>
          <p:nvPr/>
        </p:nvPicPr>
        <p:blipFill>
          <a:blip r:embed="rId3">
            <a:alphaModFix/>
          </a:blip>
          <a:stretch>
            <a:fillRect/>
          </a:stretch>
        </p:blipFill>
        <p:spPr>
          <a:xfrm>
            <a:off x="311725" y="1342750"/>
            <a:ext cx="3650324" cy="2809551"/>
          </a:xfrm>
          <a:prstGeom prst="rect">
            <a:avLst/>
          </a:prstGeom>
          <a:noFill/>
          <a:ln>
            <a:noFill/>
          </a:ln>
        </p:spPr>
      </p:pic>
      <p:sp>
        <p:nvSpPr>
          <p:cNvPr id="645" name="Google Shape;645;p64"/>
          <p:cNvSpPr txBox="1"/>
          <p:nvPr/>
        </p:nvSpPr>
        <p:spPr>
          <a:xfrm>
            <a:off x="804950" y="4225525"/>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a:latin typeface="Merriweather"/>
                <a:ea typeface="Merriweather"/>
                <a:cs typeface="Merriweather"/>
                <a:sym typeface="Merriweather"/>
              </a:rPr>
              <a:t>Best performance:</a:t>
            </a:r>
            <a:endParaRPr>
              <a:latin typeface="Merriweather"/>
              <a:ea typeface="Merriweather"/>
              <a:cs typeface="Merriweather"/>
              <a:sym typeface="Merriweather"/>
            </a:endParaRPr>
          </a:p>
          <a:p>
            <a:pPr indent="0" lvl="0" marL="0" rtl="0" algn="l">
              <a:spcBef>
                <a:spcPts val="0"/>
              </a:spcBef>
              <a:spcAft>
                <a:spcPts val="0"/>
              </a:spcAft>
              <a:buNone/>
            </a:pPr>
            <a:r>
              <a:rPr lang="pl">
                <a:latin typeface="Merriweather"/>
                <a:ea typeface="Merriweather"/>
                <a:cs typeface="Merriweather"/>
                <a:sym typeface="Merriweather"/>
              </a:rPr>
              <a:t>Tree depth: 4.0</a:t>
            </a:r>
            <a:endParaRPr>
              <a:latin typeface="Merriweather"/>
              <a:ea typeface="Merriweather"/>
              <a:cs typeface="Merriweather"/>
              <a:sym typeface="Merriweather"/>
            </a:endParaRPr>
          </a:p>
          <a:p>
            <a:pPr indent="0" lvl="0" marL="0" rtl="0" algn="l">
              <a:spcBef>
                <a:spcPts val="0"/>
              </a:spcBef>
              <a:spcAft>
                <a:spcPts val="0"/>
              </a:spcAft>
              <a:buNone/>
            </a:pPr>
            <a:r>
              <a:rPr lang="pl">
                <a:latin typeface="Merriweather"/>
                <a:ea typeface="Merriweather"/>
                <a:cs typeface="Merriweather"/>
                <a:sym typeface="Merriweather"/>
              </a:rPr>
              <a:t>Mean AUC: </a:t>
            </a:r>
            <a:r>
              <a:rPr lang="pl">
                <a:latin typeface="Merriweather"/>
                <a:ea typeface="Merriweather"/>
                <a:cs typeface="Merriweather"/>
                <a:sym typeface="Merriweather"/>
              </a:rPr>
              <a:t>0.7158 ± 0.0388</a:t>
            </a:r>
            <a:endParaRPr>
              <a:latin typeface="Merriweather"/>
              <a:ea typeface="Merriweather"/>
              <a:cs typeface="Merriweather"/>
              <a:sym typeface="Merriweather"/>
            </a:endParaRPr>
          </a:p>
        </p:txBody>
      </p:sp>
      <p:pic>
        <p:nvPicPr>
          <p:cNvPr id="646" name="Google Shape;646;p64"/>
          <p:cNvPicPr preferRelativeResize="0"/>
          <p:nvPr/>
        </p:nvPicPr>
        <p:blipFill>
          <a:blip r:embed="rId4">
            <a:alphaModFix/>
          </a:blip>
          <a:stretch>
            <a:fillRect/>
          </a:stretch>
        </p:blipFill>
        <p:spPr>
          <a:xfrm>
            <a:off x="4703200" y="1273275"/>
            <a:ext cx="3866400" cy="2948500"/>
          </a:xfrm>
          <a:prstGeom prst="rect">
            <a:avLst/>
          </a:prstGeom>
          <a:noFill/>
          <a:ln>
            <a:noFill/>
          </a:ln>
        </p:spPr>
      </p:pic>
      <p:sp>
        <p:nvSpPr>
          <p:cNvPr id="647" name="Google Shape;647;p64"/>
          <p:cNvSpPr txBox="1"/>
          <p:nvPr/>
        </p:nvSpPr>
        <p:spPr>
          <a:xfrm>
            <a:off x="5258875" y="4225525"/>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a:latin typeface="Merriweather"/>
                <a:ea typeface="Merriweather"/>
                <a:cs typeface="Merriweather"/>
                <a:sym typeface="Merriweather"/>
              </a:rPr>
              <a:t>Best performance:</a:t>
            </a:r>
            <a:endParaRPr>
              <a:latin typeface="Merriweather"/>
              <a:ea typeface="Merriweather"/>
              <a:cs typeface="Merriweather"/>
              <a:sym typeface="Merriweather"/>
            </a:endParaRPr>
          </a:p>
          <a:p>
            <a:pPr indent="0" lvl="0" marL="0" rtl="0" algn="l">
              <a:spcBef>
                <a:spcPts val="0"/>
              </a:spcBef>
              <a:spcAft>
                <a:spcPts val="0"/>
              </a:spcAft>
              <a:buNone/>
            </a:pPr>
            <a:r>
              <a:rPr lang="pl">
                <a:latin typeface="Merriweather"/>
                <a:ea typeface="Merriweather"/>
                <a:cs typeface="Merriweather"/>
                <a:sym typeface="Merriweather"/>
              </a:rPr>
              <a:t>Tree depth: 4.0</a:t>
            </a:r>
            <a:endParaRPr>
              <a:latin typeface="Merriweather"/>
              <a:ea typeface="Merriweather"/>
              <a:cs typeface="Merriweather"/>
              <a:sym typeface="Merriweather"/>
            </a:endParaRPr>
          </a:p>
          <a:p>
            <a:pPr indent="0" lvl="0" marL="0" rtl="0" algn="l">
              <a:spcBef>
                <a:spcPts val="0"/>
              </a:spcBef>
              <a:spcAft>
                <a:spcPts val="0"/>
              </a:spcAft>
              <a:buNone/>
            </a:pPr>
            <a:r>
              <a:rPr lang="pl">
                <a:latin typeface="Merriweather"/>
                <a:ea typeface="Merriweather"/>
                <a:cs typeface="Merriweather"/>
                <a:sym typeface="Merriweather"/>
              </a:rPr>
              <a:t>Mean AUC: 0.7186 ± 0.0411</a:t>
            </a:r>
            <a:endParaRPr>
              <a:latin typeface="Merriweather"/>
              <a:ea typeface="Merriweather"/>
              <a:cs typeface="Merriweather"/>
              <a:sym typeface="Merriweathe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5"/>
          <p:cNvSpPr txBox="1"/>
          <p:nvPr>
            <p:ph type="title"/>
          </p:nvPr>
        </p:nvSpPr>
        <p:spPr>
          <a:xfrm>
            <a:off x="311700" y="376150"/>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Model on test data with hair removal</a:t>
            </a:r>
            <a:endParaRPr/>
          </a:p>
        </p:txBody>
      </p:sp>
      <p:sp>
        <p:nvSpPr>
          <p:cNvPr id="653" name="Google Shape;65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654" name="Google Shape;654;p65"/>
          <p:cNvPicPr preferRelativeResize="0"/>
          <p:nvPr/>
        </p:nvPicPr>
        <p:blipFill>
          <a:blip r:embed="rId3">
            <a:alphaModFix/>
          </a:blip>
          <a:stretch>
            <a:fillRect/>
          </a:stretch>
        </p:blipFill>
        <p:spPr>
          <a:xfrm>
            <a:off x="176225" y="1429425"/>
            <a:ext cx="4560666" cy="3714075"/>
          </a:xfrm>
          <a:prstGeom prst="rect">
            <a:avLst/>
          </a:prstGeom>
          <a:noFill/>
          <a:ln>
            <a:noFill/>
          </a:ln>
        </p:spPr>
      </p:pic>
      <p:sp>
        <p:nvSpPr>
          <p:cNvPr id="655" name="Google Shape;655;p65"/>
          <p:cNvSpPr txBox="1"/>
          <p:nvPr/>
        </p:nvSpPr>
        <p:spPr>
          <a:xfrm>
            <a:off x="5564375" y="2311013"/>
            <a:ext cx="3000000" cy="195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pl" sz="1700">
                <a:latin typeface="Merriweather"/>
                <a:ea typeface="Merriweather"/>
                <a:cs typeface="Merriweather"/>
                <a:sym typeface="Merriweather"/>
              </a:rPr>
              <a:t>Metrics on test set:</a:t>
            </a:r>
            <a:endParaRPr b="1" sz="1700">
              <a:latin typeface="Merriweather"/>
              <a:ea typeface="Merriweather"/>
              <a:cs typeface="Merriweather"/>
              <a:sym typeface="Merriweather"/>
            </a:endParaRPr>
          </a:p>
          <a:p>
            <a:pPr indent="0" lvl="0" marL="0" rtl="0" algn="l">
              <a:lnSpc>
                <a:spcPct val="115000"/>
              </a:lnSpc>
              <a:spcBef>
                <a:spcPts val="0"/>
              </a:spcBef>
              <a:spcAft>
                <a:spcPts val="0"/>
              </a:spcAft>
              <a:buNone/>
            </a:pPr>
            <a:r>
              <a:rPr b="1" lang="pl" sz="1700">
                <a:latin typeface="Merriweather"/>
                <a:ea typeface="Merriweather"/>
                <a:cs typeface="Merriweather"/>
                <a:sym typeface="Merriweather"/>
              </a:rPr>
              <a:t>Accuracy:  0.6359</a:t>
            </a:r>
            <a:endParaRPr b="1" sz="1700">
              <a:latin typeface="Merriweather"/>
              <a:ea typeface="Merriweather"/>
              <a:cs typeface="Merriweather"/>
              <a:sym typeface="Merriweather"/>
            </a:endParaRPr>
          </a:p>
          <a:p>
            <a:pPr indent="0" lvl="0" marL="0" rtl="0" algn="l">
              <a:lnSpc>
                <a:spcPct val="115000"/>
              </a:lnSpc>
              <a:spcBef>
                <a:spcPts val="0"/>
              </a:spcBef>
              <a:spcAft>
                <a:spcPts val="0"/>
              </a:spcAft>
              <a:buNone/>
            </a:pPr>
            <a:r>
              <a:rPr b="1" lang="pl" sz="1700">
                <a:latin typeface="Merriweather"/>
                <a:ea typeface="Merriweather"/>
                <a:cs typeface="Merriweather"/>
                <a:sym typeface="Merriweather"/>
              </a:rPr>
              <a:t>Recall:    0.6486</a:t>
            </a:r>
            <a:endParaRPr b="1" sz="1700">
              <a:latin typeface="Merriweather"/>
              <a:ea typeface="Merriweather"/>
              <a:cs typeface="Merriweather"/>
              <a:sym typeface="Merriweather"/>
            </a:endParaRPr>
          </a:p>
          <a:p>
            <a:pPr indent="0" lvl="0" marL="0" rtl="0" algn="l">
              <a:lnSpc>
                <a:spcPct val="115000"/>
              </a:lnSpc>
              <a:spcBef>
                <a:spcPts val="0"/>
              </a:spcBef>
              <a:spcAft>
                <a:spcPts val="0"/>
              </a:spcAft>
              <a:buNone/>
            </a:pPr>
            <a:r>
              <a:rPr b="1" lang="pl" sz="1700">
                <a:latin typeface="Merriweather"/>
                <a:ea typeface="Merriweather"/>
                <a:cs typeface="Merriweather"/>
                <a:sym typeface="Merriweather"/>
              </a:rPr>
              <a:t>AUC:       0.6633</a:t>
            </a:r>
            <a:endParaRPr b="1" sz="1700">
              <a:latin typeface="Merriweather"/>
              <a:ea typeface="Merriweather"/>
              <a:cs typeface="Merriweather"/>
              <a:sym typeface="Merriweather"/>
            </a:endParaRPr>
          </a:p>
          <a:p>
            <a:pPr indent="0" lvl="0" marL="0" rtl="0" algn="l">
              <a:lnSpc>
                <a:spcPct val="115000"/>
              </a:lnSpc>
              <a:spcBef>
                <a:spcPts val="0"/>
              </a:spcBef>
              <a:spcAft>
                <a:spcPts val="0"/>
              </a:spcAft>
              <a:buNone/>
            </a:pPr>
            <a:r>
              <a:rPr b="1" lang="pl" sz="1700">
                <a:latin typeface="Merriweather"/>
                <a:ea typeface="Merriweather"/>
                <a:cs typeface="Merriweather"/>
                <a:sym typeface="Merriweather"/>
              </a:rPr>
              <a:t>Precision: 0.6091</a:t>
            </a:r>
            <a:endParaRPr b="1" sz="1700">
              <a:latin typeface="Merriweather"/>
              <a:ea typeface="Merriweather"/>
              <a:cs typeface="Merriweather"/>
              <a:sym typeface="Merriweather"/>
            </a:endParaRPr>
          </a:p>
          <a:p>
            <a:pPr indent="0" lvl="0" marL="0" rtl="0" algn="l">
              <a:lnSpc>
                <a:spcPct val="115000"/>
              </a:lnSpc>
              <a:spcBef>
                <a:spcPts val="0"/>
              </a:spcBef>
              <a:spcAft>
                <a:spcPts val="0"/>
              </a:spcAft>
              <a:buNone/>
            </a:pPr>
            <a:r>
              <a:rPr b="1" lang="pl" sz="1700">
                <a:latin typeface="Merriweather"/>
                <a:ea typeface="Merriweather"/>
                <a:cs typeface="Merriweather"/>
                <a:sym typeface="Merriweather"/>
              </a:rPr>
              <a:t>F1 Score:  0.6283</a:t>
            </a:r>
            <a:endParaRPr b="1" sz="1700">
              <a:latin typeface="Merriweather"/>
              <a:ea typeface="Merriweather"/>
              <a:cs typeface="Merriweather"/>
              <a:sym typeface="Merriweathe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66"/>
          <p:cNvSpPr txBox="1"/>
          <p:nvPr>
            <p:ph type="title"/>
          </p:nvPr>
        </p:nvSpPr>
        <p:spPr>
          <a:xfrm>
            <a:off x="311700" y="374700"/>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Comparison of Models </a:t>
            </a:r>
            <a:endParaRPr/>
          </a:p>
        </p:txBody>
      </p:sp>
      <p:sp>
        <p:nvSpPr>
          <p:cNvPr id="661" name="Google Shape;661;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graphicFrame>
        <p:nvGraphicFramePr>
          <p:cNvPr id="662" name="Google Shape;662;p66"/>
          <p:cNvGraphicFramePr/>
          <p:nvPr/>
        </p:nvGraphicFramePr>
        <p:xfrm>
          <a:off x="1578525" y="1763275"/>
          <a:ext cx="3000000" cy="3000000"/>
        </p:xfrm>
        <a:graphic>
          <a:graphicData uri="http://schemas.openxmlformats.org/drawingml/2006/table">
            <a:tbl>
              <a:tblPr>
                <a:noFill/>
                <a:tableStyleId>{E47BC241-361D-455A-9B07-D0FCE9BB95A3}</a:tableStyleId>
              </a:tblPr>
              <a:tblGrid>
                <a:gridCol w="1320350"/>
                <a:gridCol w="1149625"/>
                <a:gridCol w="1172325"/>
                <a:gridCol w="1172325"/>
                <a:gridCol w="1172325"/>
              </a:tblGrid>
              <a:tr h="515600">
                <a:tc>
                  <a:txBody>
                    <a:bodyPr/>
                    <a:lstStyle/>
                    <a:p>
                      <a:pPr indent="0" lvl="0" marL="0" rtl="0" algn="l">
                        <a:spcBef>
                          <a:spcPts val="0"/>
                        </a:spcBef>
                        <a:spcAft>
                          <a:spcPts val="0"/>
                        </a:spcAft>
                        <a:buNone/>
                      </a:pPr>
                      <a:r>
                        <a:rPr lang="pl" sz="1100"/>
                        <a:t>METRIC</a:t>
                      </a:r>
                      <a:endParaRPr sz="1100"/>
                    </a:p>
                  </a:txBody>
                  <a:tcPr marT="63500" marB="63500" marR="63500" marL="63500">
                    <a:solidFill>
                      <a:srgbClr val="C9DAF8"/>
                    </a:solidFill>
                  </a:tcPr>
                </a:tc>
                <a:tc>
                  <a:txBody>
                    <a:bodyPr/>
                    <a:lstStyle/>
                    <a:p>
                      <a:pPr indent="0" lvl="0" marL="0" rtl="0" algn="l">
                        <a:spcBef>
                          <a:spcPts val="0"/>
                        </a:spcBef>
                        <a:spcAft>
                          <a:spcPts val="0"/>
                        </a:spcAft>
                        <a:buNone/>
                      </a:pPr>
                      <a:r>
                        <a:rPr lang="pl" sz="1100"/>
                        <a:t>BASELINE (test)</a:t>
                      </a:r>
                      <a:endParaRPr sz="1100"/>
                    </a:p>
                  </a:txBody>
                  <a:tcPr marT="63500" marB="63500" marR="63500" marL="63500">
                    <a:solidFill>
                      <a:srgbClr val="C9DAF8"/>
                    </a:solidFill>
                  </a:tcPr>
                </a:tc>
                <a:tc>
                  <a:txBody>
                    <a:bodyPr/>
                    <a:lstStyle/>
                    <a:p>
                      <a:pPr indent="0" lvl="0" marL="0" rtl="0" algn="l">
                        <a:spcBef>
                          <a:spcPts val="0"/>
                        </a:spcBef>
                        <a:spcAft>
                          <a:spcPts val="0"/>
                        </a:spcAft>
                        <a:buNone/>
                      </a:pPr>
                      <a:r>
                        <a:rPr lang="pl" sz="1100"/>
                        <a:t>Baseline</a:t>
                      </a:r>
                      <a:endParaRPr sz="1100"/>
                    </a:p>
                    <a:p>
                      <a:pPr indent="0" lvl="0" marL="0" rtl="0" algn="l">
                        <a:spcBef>
                          <a:spcPts val="0"/>
                        </a:spcBef>
                        <a:spcAft>
                          <a:spcPts val="0"/>
                        </a:spcAft>
                        <a:buNone/>
                      </a:pPr>
                      <a:r>
                        <a:rPr lang="pl" sz="1100"/>
                        <a:t>cross validation</a:t>
                      </a:r>
                      <a:endParaRPr sz="1100"/>
                    </a:p>
                  </a:txBody>
                  <a:tcPr marT="63500" marB="63500" marR="63500" marL="63500">
                    <a:solidFill>
                      <a:srgbClr val="C9DAF8"/>
                    </a:solidFill>
                  </a:tcPr>
                </a:tc>
                <a:tc>
                  <a:txBody>
                    <a:bodyPr/>
                    <a:lstStyle/>
                    <a:p>
                      <a:pPr indent="0" lvl="0" marL="0" rtl="0" algn="l">
                        <a:spcBef>
                          <a:spcPts val="0"/>
                        </a:spcBef>
                        <a:spcAft>
                          <a:spcPts val="0"/>
                        </a:spcAft>
                        <a:buNone/>
                      </a:pPr>
                      <a:r>
                        <a:rPr lang="pl" sz="1100"/>
                        <a:t>EXTENDED (test)</a:t>
                      </a:r>
                      <a:endParaRPr sz="1100"/>
                    </a:p>
                  </a:txBody>
                  <a:tcPr marT="63500" marB="63500" marR="63500" marL="63500">
                    <a:solidFill>
                      <a:srgbClr val="C9DAF8"/>
                    </a:solidFill>
                  </a:tcPr>
                </a:tc>
                <a:tc>
                  <a:txBody>
                    <a:bodyPr/>
                    <a:lstStyle/>
                    <a:p>
                      <a:pPr indent="0" lvl="0" marL="0" rtl="0" algn="l">
                        <a:spcBef>
                          <a:spcPts val="0"/>
                        </a:spcBef>
                        <a:spcAft>
                          <a:spcPts val="0"/>
                        </a:spcAft>
                        <a:buNone/>
                      </a:pPr>
                      <a:r>
                        <a:rPr lang="pl" sz="1100"/>
                        <a:t>Extended</a:t>
                      </a:r>
                      <a:endParaRPr sz="1100"/>
                    </a:p>
                    <a:p>
                      <a:pPr indent="0" lvl="0" marL="0" rtl="0" algn="l">
                        <a:spcBef>
                          <a:spcPts val="0"/>
                        </a:spcBef>
                        <a:spcAft>
                          <a:spcPts val="0"/>
                        </a:spcAft>
                        <a:buNone/>
                      </a:pPr>
                      <a:r>
                        <a:rPr lang="pl" sz="1100"/>
                        <a:t>cross validation</a:t>
                      </a:r>
                      <a:endParaRPr sz="1100"/>
                    </a:p>
                  </a:txBody>
                  <a:tcPr marT="63500" marB="63500" marR="63500" marL="63500">
                    <a:solidFill>
                      <a:srgbClr val="C9DAF8"/>
                    </a:solidFill>
                  </a:tcPr>
                </a:tc>
              </a:tr>
              <a:tr h="403575">
                <a:tc>
                  <a:txBody>
                    <a:bodyPr/>
                    <a:lstStyle/>
                    <a:p>
                      <a:pPr indent="0" lvl="0" marL="0" rtl="0" algn="l">
                        <a:spcBef>
                          <a:spcPts val="0"/>
                        </a:spcBef>
                        <a:spcAft>
                          <a:spcPts val="0"/>
                        </a:spcAft>
                        <a:buNone/>
                      </a:pPr>
                      <a:r>
                        <a:rPr lang="pl" sz="1100"/>
                        <a:t>ACCURACY</a:t>
                      </a:r>
                      <a:endParaRPr sz="1100"/>
                    </a:p>
                  </a:txBody>
                  <a:tcPr marT="63500" marB="63500" marR="63500" marL="63500">
                    <a:solidFill>
                      <a:srgbClr val="FFF1F7"/>
                    </a:solidFill>
                  </a:tcPr>
                </a:tc>
                <a:tc>
                  <a:txBody>
                    <a:bodyPr/>
                    <a:lstStyle/>
                    <a:p>
                      <a:pPr indent="0" lvl="0" marL="0" rtl="0" algn="l">
                        <a:spcBef>
                          <a:spcPts val="0"/>
                        </a:spcBef>
                        <a:spcAft>
                          <a:spcPts val="0"/>
                        </a:spcAft>
                        <a:buNone/>
                      </a:pPr>
                      <a:r>
                        <a:rPr lang="pl" sz="1100"/>
                        <a:t>0.6692</a:t>
                      </a:r>
                      <a:endParaRPr sz="1100"/>
                    </a:p>
                  </a:txBody>
                  <a:tcPr marT="63500" marB="63500" marR="63500" marL="63500">
                    <a:noFill/>
                  </a:tcPr>
                </a:tc>
                <a:tc>
                  <a:txBody>
                    <a:bodyPr/>
                    <a:lstStyle/>
                    <a:p>
                      <a:pPr indent="0" lvl="0" marL="0" rtl="0" algn="l">
                        <a:spcBef>
                          <a:spcPts val="0"/>
                        </a:spcBef>
                        <a:spcAft>
                          <a:spcPts val="0"/>
                        </a:spcAft>
                        <a:buNone/>
                      </a:pPr>
                      <a:r>
                        <a:t/>
                      </a:r>
                      <a:endParaRPr sz="1100"/>
                    </a:p>
                  </a:txBody>
                  <a:tcPr marT="63500" marB="63500" marR="63500" marL="63500">
                    <a:noFill/>
                  </a:tcPr>
                </a:tc>
                <a:tc>
                  <a:txBody>
                    <a:bodyPr/>
                    <a:lstStyle/>
                    <a:p>
                      <a:pPr indent="0" lvl="0" marL="0" rtl="0" algn="l">
                        <a:spcBef>
                          <a:spcPts val="0"/>
                        </a:spcBef>
                        <a:spcAft>
                          <a:spcPts val="0"/>
                        </a:spcAft>
                        <a:buNone/>
                      </a:pPr>
                      <a:r>
                        <a:rPr lang="pl" sz="1100"/>
                        <a:t>0.6359</a:t>
                      </a:r>
                      <a:endParaRPr sz="1100"/>
                    </a:p>
                  </a:txBody>
                  <a:tcPr marT="63500" marB="63500" marR="63500" marL="63500">
                    <a:noFill/>
                  </a:tcPr>
                </a:tc>
                <a:tc>
                  <a:txBody>
                    <a:bodyPr/>
                    <a:lstStyle/>
                    <a:p>
                      <a:pPr indent="0" lvl="0" marL="0" rtl="0" algn="l">
                        <a:spcBef>
                          <a:spcPts val="0"/>
                        </a:spcBef>
                        <a:spcAft>
                          <a:spcPts val="0"/>
                        </a:spcAft>
                        <a:buNone/>
                      </a:pPr>
                      <a:r>
                        <a:t/>
                      </a:r>
                      <a:endParaRPr sz="1100"/>
                    </a:p>
                  </a:txBody>
                  <a:tcPr marT="63500" marB="63500" marR="63500" marL="63500">
                    <a:noFill/>
                  </a:tcPr>
                </a:tc>
              </a:tr>
              <a:tr h="403575">
                <a:tc>
                  <a:txBody>
                    <a:bodyPr/>
                    <a:lstStyle/>
                    <a:p>
                      <a:pPr indent="0" lvl="0" marL="0" rtl="0" algn="l">
                        <a:spcBef>
                          <a:spcPts val="0"/>
                        </a:spcBef>
                        <a:spcAft>
                          <a:spcPts val="0"/>
                        </a:spcAft>
                        <a:buNone/>
                      </a:pPr>
                      <a:r>
                        <a:rPr b="1" lang="pl" sz="1100">
                          <a:solidFill>
                            <a:srgbClr val="980000"/>
                          </a:solidFill>
                        </a:rPr>
                        <a:t>RECALL</a:t>
                      </a:r>
                      <a:endParaRPr b="1" sz="1100">
                        <a:solidFill>
                          <a:srgbClr val="980000"/>
                        </a:solidFill>
                      </a:endParaRPr>
                    </a:p>
                  </a:txBody>
                  <a:tcPr marT="63500" marB="63500" marR="63500" marL="63500">
                    <a:solidFill>
                      <a:srgbClr val="FFF1F7"/>
                    </a:solidFill>
                  </a:tcPr>
                </a:tc>
                <a:tc>
                  <a:txBody>
                    <a:bodyPr/>
                    <a:lstStyle/>
                    <a:p>
                      <a:pPr indent="0" lvl="0" marL="0" rtl="0" algn="l">
                        <a:spcBef>
                          <a:spcPts val="0"/>
                        </a:spcBef>
                        <a:spcAft>
                          <a:spcPts val="0"/>
                        </a:spcAft>
                        <a:buNone/>
                      </a:pPr>
                      <a:r>
                        <a:rPr b="1" lang="pl" sz="1100">
                          <a:solidFill>
                            <a:srgbClr val="980000"/>
                          </a:solidFill>
                        </a:rPr>
                        <a:t>0.6865</a:t>
                      </a:r>
                      <a:endParaRPr b="1" sz="1100">
                        <a:solidFill>
                          <a:srgbClr val="980000"/>
                        </a:solidFill>
                      </a:endParaRPr>
                    </a:p>
                  </a:txBody>
                  <a:tcPr marT="63500" marB="63500" marR="63500" marL="63500">
                    <a:noFill/>
                  </a:tcPr>
                </a:tc>
                <a:tc>
                  <a:txBody>
                    <a:bodyPr/>
                    <a:lstStyle/>
                    <a:p>
                      <a:pPr indent="0" lvl="0" marL="0" rtl="0" algn="l">
                        <a:spcBef>
                          <a:spcPts val="0"/>
                        </a:spcBef>
                        <a:spcAft>
                          <a:spcPts val="0"/>
                        </a:spcAft>
                        <a:buNone/>
                      </a:pPr>
                      <a:r>
                        <a:t/>
                      </a:r>
                      <a:endParaRPr b="1" sz="1100">
                        <a:solidFill>
                          <a:srgbClr val="980000"/>
                        </a:solidFill>
                      </a:endParaRPr>
                    </a:p>
                  </a:txBody>
                  <a:tcPr marT="63500" marB="63500" marR="63500" marL="63500">
                    <a:noFill/>
                  </a:tcPr>
                </a:tc>
                <a:tc>
                  <a:txBody>
                    <a:bodyPr/>
                    <a:lstStyle/>
                    <a:p>
                      <a:pPr indent="0" lvl="0" marL="0" rtl="0" algn="l">
                        <a:spcBef>
                          <a:spcPts val="0"/>
                        </a:spcBef>
                        <a:spcAft>
                          <a:spcPts val="0"/>
                        </a:spcAft>
                        <a:buNone/>
                      </a:pPr>
                      <a:r>
                        <a:rPr b="1" lang="pl" sz="1100">
                          <a:solidFill>
                            <a:srgbClr val="980000"/>
                          </a:solidFill>
                        </a:rPr>
                        <a:t>0.6486</a:t>
                      </a:r>
                      <a:endParaRPr b="1" sz="1100">
                        <a:solidFill>
                          <a:srgbClr val="980000"/>
                        </a:solidFill>
                      </a:endParaRPr>
                    </a:p>
                  </a:txBody>
                  <a:tcPr marT="63500" marB="63500" marR="63500" marL="63500">
                    <a:noFill/>
                  </a:tcPr>
                </a:tc>
                <a:tc>
                  <a:txBody>
                    <a:bodyPr/>
                    <a:lstStyle/>
                    <a:p>
                      <a:pPr indent="0" lvl="0" marL="0" rtl="0" algn="l">
                        <a:spcBef>
                          <a:spcPts val="0"/>
                        </a:spcBef>
                        <a:spcAft>
                          <a:spcPts val="0"/>
                        </a:spcAft>
                        <a:buNone/>
                      </a:pPr>
                      <a:r>
                        <a:t/>
                      </a:r>
                      <a:endParaRPr b="1" sz="1100">
                        <a:solidFill>
                          <a:srgbClr val="980000"/>
                        </a:solidFill>
                      </a:endParaRPr>
                    </a:p>
                  </a:txBody>
                  <a:tcPr marT="63500" marB="63500" marR="63500" marL="63500">
                    <a:noFill/>
                  </a:tcPr>
                </a:tc>
              </a:tr>
              <a:tr h="403575">
                <a:tc>
                  <a:txBody>
                    <a:bodyPr/>
                    <a:lstStyle/>
                    <a:p>
                      <a:pPr indent="0" lvl="0" marL="0" rtl="0" algn="l">
                        <a:spcBef>
                          <a:spcPts val="0"/>
                        </a:spcBef>
                        <a:spcAft>
                          <a:spcPts val="0"/>
                        </a:spcAft>
                        <a:buNone/>
                      </a:pPr>
                      <a:r>
                        <a:rPr b="1" lang="pl" sz="1100">
                          <a:solidFill>
                            <a:srgbClr val="980000"/>
                          </a:solidFill>
                        </a:rPr>
                        <a:t>AUC</a:t>
                      </a:r>
                      <a:endParaRPr b="1" sz="1100">
                        <a:solidFill>
                          <a:srgbClr val="980000"/>
                        </a:solidFill>
                      </a:endParaRPr>
                    </a:p>
                  </a:txBody>
                  <a:tcPr marT="63500" marB="63500" marR="63500" marL="63500">
                    <a:solidFill>
                      <a:srgbClr val="FFF1F7"/>
                    </a:solidFill>
                  </a:tcPr>
                </a:tc>
                <a:tc>
                  <a:txBody>
                    <a:bodyPr/>
                    <a:lstStyle/>
                    <a:p>
                      <a:pPr indent="0" lvl="0" marL="0" rtl="0" algn="l">
                        <a:spcBef>
                          <a:spcPts val="0"/>
                        </a:spcBef>
                        <a:spcAft>
                          <a:spcPts val="0"/>
                        </a:spcAft>
                        <a:buNone/>
                      </a:pPr>
                      <a:r>
                        <a:rPr b="1" lang="pl" sz="1100">
                          <a:solidFill>
                            <a:srgbClr val="980000"/>
                          </a:solidFill>
                        </a:rPr>
                        <a:t>0.7100</a:t>
                      </a:r>
                      <a:endParaRPr b="1" sz="1100">
                        <a:solidFill>
                          <a:srgbClr val="980000"/>
                        </a:solidFill>
                      </a:endParaRPr>
                    </a:p>
                  </a:txBody>
                  <a:tcPr marT="63500" marB="63500" marR="63500" marL="63500">
                    <a:noFill/>
                  </a:tcPr>
                </a:tc>
                <a:tc>
                  <a:txBody>
                    <a:bodyPr/>
                    <a:lstStyle/>
                    <a:p>
                      <a:pPr indent="0" lvl="0" marL="0" rtl="0" algn="l">
                        <a:spcBef>
                          <a:spcPts val="0"/>
                        </a:spcBef>
                        <a:spcAft>
                          <a:spcPts val="0"/>
                        </a:spcAft>
                        <a:buNone/>
                      </a:pPr>
                      <a:r>
                        <a:rPr b="1" lang="pl" sz="1100">
                          <a:solidFill>
                            <a:srgbClr val="1155CC"/>
                          </a:solidFill>
                        </a:rPr>
                        <a:t>0.7056 ± 0.0340 (d=3)</a:t>
                      </a:r>
                      <a:endParaRPr b="1" sz="1100">
                        <a:solidFill>
                          <a:srgbClr val="1155CC"/>
                        </a:solidFill>
                      </a:endParaRPr>
                    </a:p>
                  </a:txBody>
                  <a:tcPr marT="63500" marB="63500" marR="63500" marL="63500">
                    <a:noFill/>
                  </a:tcPr>
                </a:tc>
                <a:tc>
                  <a:txBody>
                    <a:bodyPr/>
                    <a:lstStyle/>
                    <a:p>
                      <a:pPr indent="0" lvl="0" marL="0" rtl="0" algn="l">
                        <a:spcBef>
                          <a:spcPts val="0"/>
                        </a:spcBef>
                        <a:spcAft>
                          <a:spcPts val="0"/>
                        </a:spcAft>
                        <a:buNone/>
                      </a:pPr>
                      <a:r>
                        <a:rPr b="1" lang="pl" sz="1100">
                          <a:solidFill>
                            <a:srgbClr val="980000"/>
                          </a:solidFill>
                        </a:rPr>
                        <a:t>0.6633</a:t>
                      </a:r>
                      <a:endParaRPr b="1" sz="1100">
                        <a:solidFill>
                          <a:srgbClr val="980000"/>
                        </a:solidFill>
                      </a:endParaRPr>
                    </a:p>
                  </a:txBody>
                  <a:tcPr marT="63500" marB="63500" marR="63500" marL="63500">
                    <a:noFill/>
                  </a:tcPr>
                </a:tc>
                <a:tc>
                  <a:txBody>
                    <a:bodyPr/>
                    <a:lstStyle/>
                    <a:p>
                      <a:pPr indent="0" lvl="0" marL="0" rtl="0" algn="l">
                        <a:spcBef>
                          <a:spcPts val="0"/>
                        </a:spcBef>
                        <a:spcAft>
                          <a:spcPts val="0"/>
                        </a:spcAft>
                        <a:buNone/>
                      </a:pPr>
                      <a:r>
                        <a:rPr b="1" lang="pl" sz="1100">
                          <a:solidFill>
                            <a:srgbClr val="1155CC"/>
                          </a:solidFill>
                        </a:rPr>
                        <a:t>0.7158 ± 0.0388 (d=4)</a:t>
                      </a:r>
                      <a:endParaRPr b="1" sz="1100">
                        <a:solidFill>
                          <a:srgbClr val="1155CC"/>
                        </a:solidFill>
                      </a:endParaRPr>
                    </a:p>
                  </a:txBody>
                  <a:tcPr marT="63500" marB="63500" marR="63500" marL="63500">
                    <a:noFill/>
                  </a:tcPr>
                </a:tc>
              </a:tr>
              <a:tr h="403575">
                <a:tc>
                  <a:txBody>
                    <a:bodyPr/>
                    <a:lstStyle/>
                    <a:p>
                      <a:pPr indent="0" lvl="0" marL="0" rtl="0" algn="l">
                        <a:spcBef>
                          <a:spcPts val="0"/>
                        </a:spcBef>
                        <a:spcAft>
                          <a:spcPts val="0"/>
                        </a:spcAft>
                        <a:buNone/>
                      </a:pPr>
                      <a:r>
                        <a:rPr lang="pl" sz="1100"/>
                        <a:t>PRECISION</a:t>
                      </a:r>
                      <a:endParaRPr sz="1100"/>
                    </a:p>
                  </a:txBody>
                  <a:tcPr marT="63500" marB="63500" marR="63500" marL="63500">
                    <a:solidFill>
                      <a:srgbClr val="FFF1F7"/>
                    </a:solidFill>
                  </a:tcPr>
                </a:tc>
                <a:tc>
                  <a:txBody>
                    <a:bodyPr/>
                    <a:lstStyle/>
                    <a:p>
                      <a:pPr indent="0" lvl="0" marL="0" rtl="0" algn="l">
                        <a:spcBef>
                          <a:spcPts val="0"/>
                        </a:spcBef>
                        <a:spcAft>
                          <a:spcPts val="0"/>
                        </a:spcAft>
                        <a:buNone/>
                      </a:pPr>
                      <a:r>
                        <a:rPr lang="pl" sz="1100"/>
                        <a:t>0.6414</a:t>
                      </a:r>
                      <a:endParaRPr sz="1100"/>
                    </a:p>
                  </a:txBody>
                  <a:tcPr marT="63500" marB="63500" marR="63500" marL="63500">
                    <a:noFill/>
                  </a:tcPr>
                </a:tc>
                <a:tc>
                  <a:txBody>
                    <a:bodyPr/>
                    <a:lstStyle/>
                    <a:p>
                      <a:pPr indent="0" lvl="0" marL="0" rtl="0" algn="l">
                        <a:spcBef>
                          <a:spcPts val="0"/>
                        </a:spcBef>
                        <a:spcAft>
                          <a:spcPts val="0"/>
                        </a:spcAft>
                        <a:buNone/>
                      </a:pPr>
                      <a:r>
                        <a:t/>
                      </a:r>
                      <a:endParaRPr sz="1100"/>
                    </a:p>
                  </a:txBody>
                  <a:tcPr marT="63500" marB="63500" marR="63500" marL="63500">
                    <a:noFill/>
                  </a:tcPr>
                </a:tc>
                <a:tc>
                  <a:txBody>
                    <a:bodyPr/>
                    <a:lstStyle/>
                    <a:p>
                      <a:pPr indent="0" lvl="0" marL="0" rtl="0" algn="l">
                        <a:spcBef>
                          <a:spcPts val="0"/>
                        </a:spcBef>
                        <a:spcAft>
                          <a:spcPts val="0"/>
                        </a:spcAft>
                        <a:buNone/>
                      </a:pPr>
                      <a:r>
                        <a:rPr lang="pl" sz="1100"/>
                        <a:t>0.6091</a:t>
                      </a:r>
                      <a:endParaRPr sz="1100"/>
                    </a:p>
                  </a:txBody>
                  <a:tcPr marT="63500" marB="63500" marR="63500" marL="63500">
                    <a:noFill/>
                  </a:tcPr>
                </a:tc>
                <a:tc>
                  <a:txBody>
                    <a:bodyPr/>
                    <a:lstStyle/>
                    <a:p>
                      <a:pPr indent="0" lvl="0" marL="0" rtl="0" algn="l">
                        <a:spcBef>
                          <a:spcPts val="0"/>
                        </a:spcBef>
                        <a:spcAft>
                          <a:spcPts val="0"/>
                        </a:spcAft>
                        <a:buNone/>
                      </a:pPr>
                      <a:r>
                        <a:t/>
                      </a:r>
                      <a:endParaRPr sz="1100"/>
                    </a:p>
                  </a:txBody>
                  <a:tcPr marT="63500" marB="63500" marR="63500" marL="63500">
                    <a:noFill/>
                  </a:tcPr>
                </a:tc>
              </a:tr>
              <a:tr h="403575">
                <a:tc>
                  <a:txBody>
                    <a:bodyPr/>
                    <a:lstStyle/>
                    <a:p>
                      <a:pPr indent="0" lvl="0" marL="0" rtl="0" algn="l">
                        <a:spcBef>
                          <a:spcPts val="0"/>
                        </a:spcBef>
                        <a:spcAft>
                          <a:spcPts val="0"/>
                        </a:spcAft>
                        <a:buNone/>
                      </a:pPr>
                      <a:r>
                        <a:rPr lang="pl" sz="1100"/>
                        <a:t>F1 SCORE</a:t>
                      </a:r>
                      <a:endParaRPr sz="1100"/>
                    </a:p>
                  </a:txBody>
                  <a:tcPr marT="63500" marB="63500" marR="63500" marL="63500">
                    <a:solidFill>
                      <a:srgbClr val="FFF1F7"/>
                    </a:solidFill>
                  </a:tcPr>
                </a:tc>
                <a:tc>
                  <a:txBody>
                    <a:bodyPr/>
                    <a:lstStyle/>
                    <a:p>
                      <a:pPr indent="0" lvl="0" marL="0" rtl="0" algn="l">
                        <a:spcBef>
                          <a:spcPts val="0"/>
                        </a:spcBef>
                        <a:spcAft>
                          <a:spcPts val="0"/>
                        </a:spcAft>
                        <a:buNone/>
                      </a:pPr>
                      <a:r>
                        <a:rPr lang="pl" sz="1100"/>
                        <a:t>0.6632</a:t>
                      </a:r>
                      <a:endParaRPr sz="1100"/>
                    </a:p>
                  </a:txBody>
                  <a:tcPr marT="63500" marB="63500" marR="63500" marL="63500">
                    <a:noFill/>
                  </a:tcPr>
                </a:tc>
                <a:tc>
                  <a:txBody>
                    <a:bodyPr/>
                    <a:lstStyle/>
                    <a:p>
                      <a:pPr indent="0" lvl="0" marL="0" rtl="0" algn="l">
                        <a:spcBef>
                          <a:spcPts val="0"/>
                        </a:spcBef>
                        <a:spcAft>
                          <a:spcPts val="0"/>
                        </a:spcAft>
                        <a:buNone/>
                      </a:pPr>
                      <a:r>
                        <a:t/>
                      </a:r>
                      <a:endParaRPr sz="1100"/>
                    </a:p>
                  </a:txBody>
                  <a:tcPr marT="63500" marB="63500" marR="63500" marL="63500">
                    <a:noFill/>
                  </a:tcPr>
                </a:tc>
                <a:tc>
                  <a:txBody>
                    <a:bodyPr/>
                    <a:lstStyle/>
                    <a:p>
                      <a:pPr indent="0" lvl="0" marL="0" rtl="0" algn="l">
                        <a:spcBef>
                          <a:spcPts val="0"/>
                        </a:spcBef>
                        <a:spcAft>
                          <a:spcPts val="0"/>
                        </a:spcAft>
                        <a:buNone/>
                      </a:pPr>
                      <a:r>
                        <a:rPr lang="pl" sz="1100"/>
                        <a:t>0.6283</a:t>
                      </a:r>
                      <a:endParaRPr sz="1100"/>
                    </a:p>
                  </a:txBody>
                  <a:tcPr marT="63500" marB="63500" marR="63500" marL="63500">
                    <a:noFill/>
                  </a:tcPr>
                </a:tc>
                <a:tc>
                  <a:txBody>
                    <a:bodyPr/>
                    <a:lstStyle/>
                    <a:p>
                      <a:pPr indent="0" lvl="0" marL="0" rtl="0" algn="l">
                        <a:spcBef>
                          <a:spcPts val="0"/>
                        </a:spcBef>
                        <a:spcAft>
                          <a:spcPts val="0"/>
                        </a:spcAft>
                        <a:buNone/>
                      </a:pPr>
                      <a:r>
                        <a:t/>
                      </a:r>
                      <a:endParaRPr sz="1100"/>
                    </a:p>
                  </a:txBody>
                  <a:tcPr marT="63500" marB="63500" marR="63500" marL="63500">
                    <a:no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67"/>
          <p:cNvSpPr txBox="1"/>
          <p:nvPr>
            <p:ph type="title"/>
          </p:nvPr>
        </p:nvSpPr>
        <p:spPr>
          <a:xfrm>
            <a:off x="311750" y="831175"/>
            <a:ext cx="8400300" cy="124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pl" sz="6500"/>
              <a:t>7</a:t>
            </a:r>
            <a:r>
              <a:rPr lang="pl" sz="6500"/>
              <a:t>. Open Question</a:t>
            </a:r>
            <a:endParaRPr sz="6500"/>
          </a:p>
        </p:txBody>
      </p:sp>
      <p:sp>
        <p:nvSpPr>
          <p:cNvPr id="668" name="Google Shape;668;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8"/>
          <p:cNvSpPr txBox="1"/>
          <p:nvPr>
            <p:ph type="title"/>
          </p:nvPr>
        </p:nvSpPr>
        <p:spPr>
          <a:xfrm>
            <a:off x="311700" y="233650"/>
            <a:ext cx="8520600" cy="62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Open Question: </a:t>
            </a:r>
            <a:endParaRPr/>
          </a:p>
          <a:p>
            <a:pPr indent="0" lvl="0" marL="0" rtl="0" algn="ctr">
              <a:spcBef>
                <a:spcPts val="0"/>
              </a:spcBef>
              <a:spcAft>
                <a:spcPts val="0"/>
              </a:spcAft>
              <a:buNone/>
            </a:pPr>
            <a:r>
              <a:rPr lang="pl"/>
              <a:t>Can texture improve lesion classification?</a:t>
            </a:r>
            <a:endParaRPr/>
          </a:p>
        </p:txBody>
      </p:sp>
      <p:sp>
        <p:nvSpPr>
          <p:cNvPr id="674" name="Google Shape;674;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675" name="Google Shape;675;p68"/>
          <p:cNvSpPr txBox="1"/>
          <p:nvPr/>
        </p:nvSpPr>
        <p:spPr>
          <a:xfrm>
            <a:off x="4714200" y="4355100"/>
            <a:ext cx="4429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676" name="Google Shape;676;p68"/>
          <p:cNvSpPr txBox="1"/>
          <p:nvPr/>
        </p:nvSpPr>
        <p:spPr>
          <a:xfrm>
            <a:off x="76200" y="4604550"/>
            <a:ext cx="52839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300" u="sng">
                <a:solidFill>
                  <a:schemeClr val="hlink"/>
                </a:solidFill>
                <a:latin typeface="Roboto"/>
                <a:ea typeface="Roboto"/>
                <a:cs typeface="Roboto"/>
                <a:sym typeface="Roboto"/>
                <a:hlinkClick r:id="rId3"/>
              </a:rPr>
              <a:t>https://www.researchgate.net/publication/235387906_On_the_role_of_texture_and_color_in_the_classification_of_dermoscopy_images</a:t>
            </a:r>
            <a:endParaRPr sz="1300">
              <a:solidFill>
                <a:schemeClr val="dk2"/>
              </a:solidFill>
              <a:latin typeface="Roboto"/>
              <a:ea typeface="Roboto"/>
              <a:cs typeface="Roboto"/>
              <a:sym typeface="Roboto"/>
            </a:endParaRPr>
          </a:p>
        </p:txBody>
      </p:sp>
      <p:sp>
        <p:nvSpPr>
          <p:cNvPr id="677" name="Google Shape;677;p68"/>
          <p:cNvSpPr txBox="1"/>
          <p:nvPr>
            <p:ph type="title"/>
          </p:nvPr>
        </p:nvSpPr>
        <p:spPr>
          <a:xfrm>
            <a:off x="422525" y="1772425"/>
            <a:ext cx="8520600" cy="239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i="1" lang="pl" sz="2020">
                <a:solidFill>
                  <a:schemeClr val="dk1"/>
                </a:solidFill>
              </a:rPr>
              <a:t>“This paper describes a pattern recognition system for the detection of melanomas in dermoscopy images. We tried to answer to following question: which features, texture or color, convey the most relevant information? It has been concluded that both features achieve very interesting results (SE=82.4%, SP=76.7% and SE=82.4%, SP=74.7% respectively) if used alone. If we combine both types of features the performance of the system increases (SE=94.1%,SP=77.4%).”</a:t>
            </a:r>
            <a:endParaRPr i="1" sz="2020">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69"/>
          <p:cNvSpPr txBox="1"/>
          <p:nvPr>
            <p:ph type="title"/>
          </p:nvPr>
        </p:nvSpPr>
        <p:spPr>
          <a:xfrm>
            <a:off x="311700" y="302975"/>
            <a:ext cx="8520600" cy="62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Current Texture Implementation</a:t>
            </a:r>
            <a:endParaRPr/>
          </a:p>
          <a:p>
            <a:pPr indent="0" lvl="0" marL="0" rtl="0" algn="ctr">
              <a:spcBef>
                <a:spcPts val="0"/>
              </a:spcBef>
              <a:spcAft>
                <a:spcPts val="0"/>
              </a:spcAft>
              <a:buNone/>
            </a:pPr>
            <a:r>
              <a:rPr lang="pl" sz="1750"/>
              <a:t>A lot of room for improvement</a:t>
            </a:r>
            <a:endParaRPr sz="1750"/>
          </a:p>
        </p:txBody>
      </p:sp>
      <p:sp>
        <p:nvSpPr>
          <p:cNvPr id="683" name="Google Shape;683;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684" name="Google Shape;684;p69"/>
          <p:cNvSpPr txBox="1"/>
          <p:nvPr/>
        </p:nvSpPr>
        <p:spPr>
          <a:xfrm>
            <a:off x="4714200" y="4355100"/>
            <a:ext cx="4429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pic>
        <p:nvPicPr>
          <p:cNvPr id="685" name="Google Shape;685;p69" title="texture baseline vs extended.png"/>
          <p:cNvPicPr preferRelativeResize="0"/>
          <p:nvPr/>
        </p:nvPicPr>
        <p:blipFill>
          <a:blip r:embed="rId3">
            <a:alphaModFix/>
          </a:blip>
          <a:stretch>
            <a:fillRect/>
          </a:stretch>
        </p:blipFill>
        <p:spPr>
          <a:xfrm>
            <a:off x="152400" y="1605900"/>
            <a:ext cx="8839198" cy="2899317"/>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70"/>
          <p:cNvSpPr txBox="1"/>
          <p:nvPr>
            <p:ph type="title"/>
          </p:nvPr>
        </p:nvSpPr>
        <p:spPr>
          <a:xfrm>
            <a:off x="311700" y="3484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Current </a:t>
            </a:r>
            <a:r>
              <a:rPr lang="pl"/>
              <a:t>Implementation</a:t>
            </a:r>
            <a:r>
              <a:rPr lang="pl"/>
              <a:t> Limitation</a:t>
            </a:r>
            <a:endParaRPr/>
          </a:p>
        </p:txBody>
      </p:sp>
      <p:sp>
        <p:nvSpPr>
          <p:cNvPr id="691" name="Google Shape;691;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692" name="Google Shape;692;p70"/>
          <p:cNvPicPr preferRelativeResize="0"/>
          <p:nvPr/>
        </p:nvPicPr>
        <p:blipFill>
          <a:blip r:embed="rId3">
            <a:alphaModFix/>
          </a:blip>
          <a:stretch>
            <a:fillRect/>
          </a:stretch>
        </p:blipFill>
        <p:spPr>
          <a:xfrm>
            <a:off x="1513675" y="1420506"/>
            <a:ext cx="6116650" cy="349272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71"/>
          <p:cNvSpPr txBox="1"/>
          <p:nvPr>
            <p:ph type="title"/>
          </p:nvPr>
        </p:nvSpPr>
        <p:spPr>
          <a:xfrm>
            <a:off x="1103250" y="125525"/>
            <a:ext cx="7055400" cy="1071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pl" sz="6600"/>
              <a:t>Final thoughts</a:t>
            </a:r>
            <a:endParaRPr sz="6600"/>
          </a:p>
        </p:txBody>
      </p:sp>
      <p:sp>
        <p:nvSpPr>
          <p:cNvPr id="698" name="Google Shape;698;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solidFill>
                  <a:schemeClr val="lt1"/>
                </a:solidFill>
              </a:rPr>
              <a:t>‹#›</a:t>
            </a:fld>
            <a:endParaRPr>
              <a:solidFill>
                <a:schemeClr val="lt1"/>
              </a:solidFill>
            </a:endParaRPr>
          </a:p>
        </p:txBody>
      </p:sp>
      <p:pic>
        <p:nvPicPr>
          <p:cNvPr id="699" name="Google Shape;699;p71" title="WhatsApp Image 2025-06-10 at 18.47.40_fe768863.jpg"/>
          <p:cNvPicPr preferRelativeResize="0"/>
          <p:nvPr/>
        </p:nvPicPr>
        <p:blipFill>
          <a:blip r:embed="rId3">
            <a:alphaModFix/>
          </a:blip>
          <a:stretch>
            <a:fillRect/>
          </a:stretch>
        </p:blipFill>
        <p:spPr>
          <a:xfrm>
            <a:off x="1677001" y="1196825"/>
            <a:ext cx="5789987" cy="386000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72"/>
          <p:cNvSpPr txBox="1"/>
          <p:nvPr>
            <p:ph type="title"/>
          </p:nvPr>
        </p:nvSpPr>
        <p:spPr>
          <a:xfrm>
            <a:off x="311750" y="831175"/>
            <a:ext cx="5334900" cy="1244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pl"/>
              <a:t>Back-up</a:t>
            </a:r>
            <a:endParaRPr/>
          </a:p>
        </p:txBody>
      </p:sp>
      <p:sp>
        <p:nvSpPr>
          <p:cNvPr id="705" name="Google Shape;705;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solidFill>
                  <a:schemeClr val="lt1"/>
                </a:solidFill>
              </a:rPr>
              <a:t>‹#›</a:t>
            </a:fld>
            <a:endParaRPr>
              <a:solidFill>
                <a:schemeClr val="lt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73"/>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Why HSV?</a:t>
            </a:r>
            <a:endParaRPr/>
          </a:p>
        </p:txBody>
      </p:sp>
      <p:sp>
        <p:nvSpPr>
          <p:cNvPr id="711" name="Google Shape;711;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712" name="Google Shape;712;p73"/>
          <p:cNvSpPr txBox="1"/>
          <p:nvPr/>
        </p:nvSpPr>
        <p:spPr>
          <a:xfrm>
            <a:off x="718825" y="4298800"/>
            <a:ext cx="3602700" cy="9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700">
              <a:solidFill>
                <a:schemeClr val="dk2"/>
              </a:solidFill>
              <a:latin typeface="Roboto"/>
              <a:ea typeface="Roboto"/>
              <a:cs typeface="Roboto"/>
              <a:sym typeface="Roboto"/>
            </a:endParaRPr>
          </a:p>
        </p:txBody>
      </p:sp>
      <p:pic>
        <p:nvPicPr>
          <p:cNvPr id="713" name="Google Shape;713;p73"/>
          <p:cNvPicPr preferRelativeResize="0"/>
          <p:nvPr/>
        </p:nvPicPr>
        <p:blipFill>
          <a:blip r:embed="rId3">
            <a:alphaModFix/>
          </a:blip>
          <a:stretch>
            <a:fillRect/>
          </a:stretch>
        </p:blipFill>
        <p:spPr>
          <a:xfrm>
            <a:off x="311312" y="1473850"/>
            <a:ext cx="3890476" cy="2917826"/>
          </a:xfrm>
          <a:prstGeom prst="rect">
            <a:avLst/>
          </a:prstGeom>
          <a:noFill/>
          <a:ln>
            <a:noFill/>
          </a:ln>
          <a:effectLst>
            <a:outerShdw blurRad="57150" rotWithShape="0" algn="bl" dir="5400000" dist="19050">
              <a:schemeClr val="lt1">
                <a:alpha val="50000"/>
              </a:schemeClr>
            </a:outerShdw>
          </a:effectLst>
        </p:spPr>
      </p:pic>
      <p:sp>
        <p:nvSpPr>
          <p:cNvPr id="714" name="Google Shape;714;p73"/>
          <p:cNvSpPr txBox="1"/>
          <p:nvPr>
            <p:ph type="title"/>
          </p:nvPr>
        </p:nvSpPr>
        <p:spPr>
          <a:xfrm>
            <a:off x="4708950" y="125075"/>
            <a:ext cx="4312200" cy="4801200"/>
          </a:xfrm>
          <a:prstGeom prst="rect">
            <a:avLst/>
          </a:prstGeom>
        </p:spPr>
        <p:txBody>
          <a:bodyPr anchorCtr="0" anchor="t" bIns="91425" lIns="91425" spcFirstLastPara="1" rIns="91425" wrap="square" tIns="91425">
            <a:normAutofit fontScale="90000"/>
          </a:bodyPr>
          <a:lstStyle/>
          <a:p>
            <a:pPr indent="-365760" lvl="0" marL="457200" rtl="0" algn="l">
              <a:spcBef>
                <a:spcPts val="0"/>
              </a:spcBef>
              <a:spcAft>
                <a:spcPts val="0"/>
              </a:spcAft>
              <a:buClr>
                <a:schemeClr val="accent1"/>
              </a:buClr>
              <a:buSzPct val="100000"/>
              <a:buChar char="●"/>
            </a:pPr>
            <a:r>
              <a:rPr lang="pl" sz="2400">
                <a:solidFill>
                  <a:schemeClr val="accent1"/>
                </a:solidFill>
              </a:rPr>
              <a:t>More interpretability:  aligns with human </a:t>
            </a:r>
            <a:endParaRPr sz="2400">
              <a:solidFill>
                <a:schemeClr val="accent1"/>
              </a:solidFill>
            </a:endParaRPr>
          </a:p>
          <a:p>
            <a:pPr indent="0" lvl="0" marL="457200" rtl="0" algn="l">
              <a:spcBef>
                <a:spcPts val="0"/>
              </a:spcBef>
              <a:spcAft>
                <a:spcPts val="0"/>
              </a:spcAft>
              <a:buNone/>
            </a:pPr>
            <a:r>
              <a:rPr lang="pl" sz="2400">
                <a:solidFill>
                  <a:schemeClr val="accent1"/>
                </a:solidFill>
              </a:rPr>
              <a:t>perception of color</a:t>
            </a:r>
            <a:endParaRPr sz="2400">
              <a:solidFill>
                <a:schemeClr val="accent1"/>
              </a:solidFill>
            </a:endParaRPr>
          </a:p>
          <a:p>
            <a:pPr indent="0" lvl="0" marL="457200" rtl="0" algn="l">
              <a:spcBef>
                <a:spcPts val="0"/>
              </a:spcBef>
              <a:spcAft>
                <a:spcPts val="0"/>
              </a:spcAft>
              <a:buNone/>
            </a:pPr>
            <a:r>
              <a:t/>
            </a:r>
            <a:endParaRPr sz="2400">
              <a:solidFill>
                <a:schemeClr val="accent1"/>
              </a:solidFill>
            </a:endParaRPr>
          </a:p>
          <a:p>
            <a:pPr indent="-365760" lvl="0" marL="457200" rtl="0" algn="l">
              <a:spcBef>
                <a:spcPts val="0"/>
              </a:spcBef>
              <a:spcAft>
                <a:spcPts val="0"/>
              </a:spcAft>
              <a:buClr>
                <a:schemeClr val="accent1"/>
              </a:buClr>
              <a:buSzPct val="100000"/>
              <a:buChar char="●"/>
            </a:pPr>
            <a:r>
              <a:rPr lang="pl" sz="2400">
                <a:solidFill>
                  <a:schemeClr val="accent1"/>
                </a:solidFill>
              </a:rPr>
              <a:t>Potential decrease in feature dimensionality: hue directly represents the color type</a:t>
            </a:r>
            <a:endParaRPr sz="2400">
              <a:solidFill>
                <a:schemeClr val="accent1"/>
              </a:solidFill>
            </a:endParaRPr>
          </a:p>
          <a:p>
            <a:pPr indent="0" lvl="0" marL="0" rtl="0" algn="l">
              <a:spcBef>
                <a:spcPts val="0"/>
              </a:spcBef>
              <a:spcAft>
                <a:spcPts val="0"/>
              </a:spcAft>
              <a:buNone/>
            </a:pPr>
            <a:r>
              <a:t/>
            </a:r>
            <a:endParaRPr sz="2400">
              <a:solidFill>
                <a:schemeClr val="accent1"/>
              </a:solidFill>
            </a:endParaRPr>
          </a:p>
          <a:p>
            <a:pPr indent="-365760" lvl="0" marL="457200" rtl="0" algn="l">
              <a:spcBef>
                <a:spcPts val="0"/>
              </a:spcBef>
              <a:spcAft>
                <a:spcPts val="0"/>
              </a:spcAft>
              <a:buClr>
                <a:schemeClr val="accent1"/>
              </a:buClr>
              <a:buSzPct val="100000"/>
              <a:buChar char="●"/>
            </a:pPr>
            <a:r>
              <a:rPr lang="pl" sz="2400">
                <a:solidFill>
                  <a:schemeClr val="accent1"/>
                </a:solidFill>
              </a:rPr>
              <a:t>More robust to lighting</a:t>
            </a:r>
            <a:endParaRPr sz="2400">
              <a:solidFill>
                <a:schemeClr val="accent1"/>
              </a:solidFill>
            </a:endParaRPr>
          </a:p>
          <a:p>
            <a:pPr indent="0" lvl="0" marL="457200" rtl="0" algn="l">
              <a:spcBef>
                <a:spcPts val="0"/>
              </a:spcBef>
              <a:spcAft>
                <a:spcPts val="0"/>
              </a:spcAft>
              <a:buNone/>
            </a:pPr>
            <a:r>
              <a:rPr lang="pl" sz="2400">
                <a:solidFill>
                  <a:schemeClr val="accent1"/>
                </a:solidFill>
              </a:rPr>
              <a:t>changes</a:t>
            </a:r>
            <a:endParaRPr sz="2400">
              <a:solidFill>
                <a:schemeClr val="accent1"/>
              </a:solidFill>
            </a:endParaRPr>
          </a:p>
          <a:p>
            <a:pPr indent="0" lvl="0" marL="457200" rtl="0" algn="l">
              <a:spcBef>
                <a:spcPts val="0"/>
              </a:spcBef>
              <a:spcAft>
                <a:spcPts val="0"/>
              </a:spcAft>
              <a:buNone/>
            </a:pPr>
            <a:r>
              <a:t/>
            </a:r>
            <a:endParaRPr sz="2400">
              <a:solidFill>
                <a:schemeClr val="accent1"/>
              </a:solidFill>
            </a:endParaRPr>
          </a:p>
          <a:p>
            <a:pPr indent="-365760" lvl="0" marL="457200" rtl="0" algn="l">
              <a:spcBef>
                <a:spcPts val="0"/>
              </a:spcBef>
              <a:spcAft>
                <a:spcPts val="0"/>
              </a:spcAft>
              <a:buClr>
                <a:schemeClr val="accent1"/>
              </a:buClr>
              <a:buSzPct val="100000"/>
              <a:buChar char="●"/>
            </a:pPr>
            <a:r>
              <a:rPr lang="pl" sz="2400">
                <a:solidFill>
                  <a:schemeClr val="accent1"/>
                </a:solidFill>
              </a:rPr>
              <a:t>Brightness accessible through the V channel</a:t>
            </a:r>
            <a:endParaRPr sz="2400">
              <a:solidFill>
                <a:schemeClr val="accent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720" name="Google Shape;720;p74"/>
          <p:cNvSpPr txBox="1"/>
          <p:nvPr>
            <p:ph type="title"/>
          </p:nvPr>
        </p:nvSpPr>
        <p:spPr>
          <a:xfrm>
            <a:off x="311700" y="3680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SLIC segmentation: Improving robustness</a:t>
            </a:r>
            <a:endParaRPr/>
          </a:p>
        </p:txBody>
      </p:sp>
      <p:pic>
        <p:nvPicPr>
          <p:cNvPr id="721" name="Google Shape;721;p74" title="slic 2.png"/>
          <p:cNvPicPr preferRelativeResize="0"/>
          <p:nvPr/>
        </p:nvPicPr>
        <p:blipFill>
          <a:blip r:embed="rId3">
            <a:alphaModFix/>
          </a:blip>
          <a:stretch>
            <a:fillRect/>
          </a:stretch>
        </p:blipFill>
        <p:spPr>
          <a:xfrm>
            <a:off x="962750" y="1346225"/>
            <a:ext cx="7218501" cy="37347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727" name="Google Shape;727;p75"/>
          <p:cNvSpPr txBox="1"/>
          <p:nvPr>
            <p:ph type="title"/>
          </p:nvPr>
        </p:nvSpPr>
        <p:spPr>
          <a:xfrm>
            <a:off x="311725" y="424725"/>
            <a:ext cx="3706500" cy="250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Area-weighted</a:t>
            </a:r>
            <a:endParaRPr/>
          </a:p>
          <a:p>
            <a:pPr indent="0" lvl="0" marL="0" rtl="0" algn="ctr">
              <a:spcBef>
                <a:spcPts val="0"/>
              </a:spcBef>
              <a:spcAft>
                <a:spcPts val="0"/>
              </a:spcAft>
              <a:buNone/>
            </a:pPr>
            <a:r>
              <a:rPr lang="pl"/>
              <a:t>statistics</a:t>
            </a:r>
            <a:endParaRPr/>
          </a:p>
        </p:txBody>
      </p:sp>
      <p:pic>
        <p:nvPicPr>
          <p:cNvPr id="728" name="Google Shape;728;p75" title="superpixel HSV means.png"/>
          <p:cNvPicPr preferRelativeResize="0"/>
          <p:nvPr/>
        </p:nvPicPr>
        <p:blipFill rotWithShape="1">
          <a:blip r:embed="rId3">
            <a:alphaModFix/>
          </a:blip>
          <a:srcRect b="8529" l="8385" r="7502" t="13722"/>
          <a:stretch/>
        </p:blipFill>
        <p:spPr>
          <a:xfrm>
            <a:off x="536625" y="1618484"/>
            <a:ext cx="3256701" cy="3153916"/>
          </a:xfrm>
          <a:prstGeom prst="rect">
            <a:avLst/>
          </a:prstGeom>
          <a:noFill/>
          <a:ln>
            <a:noFill/>
          </a:ln>
          <a:effectLst>
            <a:outerShdw blurRad="57150" rotWithShape="0" algn="bl" dir="5400000" dist="19050">
              <a:srgbClr val="000000">
                <a:alpha val="50000"/>
              </a:srgbClr>
            </a:outerShdw>
          </a:effectLst>
        </p:spPr>
      </p:pic>
      <p:pic>
        <p:nvPicPr>
          <p:cNvPr id="729" name="Google Shape;729;p75" title="weighted HSV statistics.png"/>
          <p:cNvPicPr preferRelativeResize="0"/>
          <p:nvPr/>
        </p:nvPicPr>
        <p:blipFill>
          <a:blip r:embed="rId4">
            <a:alphaModFix/>
          </a:blip>
          <a:stretch>
            <a:fillRect/>
          </a:stretch>
        </p:blipFill>
        <p:spPr>
          <a:xfrm>
            <a:off x="4949871" y="0"/>
            <a:ext cx="3436259" cy="51435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735" name="Google Shape;735;p76"/>
          <p:cNvSpPr txBox="1"/>
          <p:nvPr>
            <p:ph type="title"/>
          </p:nvPr>
        </p:nvSpPr>
        <p:spPr>
          <a:xfrm>
            <a:off x="311725" y="277800"/>
            <a:ext cx="3127500" cy="72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Weaknesses:</a:t>
            </a:r>
            <a:endParaRPr/>
          </a:p>
        </p:txBody>
      </p:sp>
      <p:sp>
        <p:nvSpPr>
          <p:cNvPr id="736" name="Google Shape;736;p76"/>
          <p:cNvSpPr txBox="1"/>
          <p:nvPr>
            <p:ph idx="1" type="body"/>
          </p:nvPr>
        </p:nvSpPr>
        <p:spPr>
          <a:xfrm>
            <a:off x="118075" y="1155550"/>
            <a:ext cx="3514800" cy="36285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chemeClr val="accent3"/>
              </a:buClr>
              <a:buSzPts val="1600"/>
              <a:buFont typeface="Merriweather"/>
              <a:buChar char="●"/>
            </a:pPr>
            <a:r>
              <a:rPr lang="pl" sz="1600">
                <a:solidFill>
                  <a:schemeClr val="accent3"/>
                </a:solidFill>
                <a:latin typeface="Merriweather"/>
                <a:ea typeface="Merriweather"/>
                <a:cs typeface="Merriweather"/>
                <a:sym typeface="Merriweather"/>
              </a:rPr>
              <a:t>SLIC m</a:t>
            </a:r>
            <a:r>
              <a:rPr lang="pl" sz="1600">
                <a:solidFill>
                  <a:schemeClr val="accent3"/>
                </a:solidFill>
                <a:latin typeface="Merriweather"/>
                <a:ea typeface="Merriweather"/>
                <a:cs typeface="Merriweather"/>
                <a:sym typeface="Merriweather"/>
              </a:rPr>
              <a:t>ight generalize too much even with low compactness</a:t>
            </a:r>
            <a:endParaRPr sz="1600">
              <a:solidFill>
                <a:schemeClr val="accent3"/>
              </a:solidFill>
              <a:latin typeface="Merriweather"/>
              <a:ea typeface="Merriweather"/>
              <a:cs typeface="Merriweather"/>
              <a:sym typeface="Merriweather"/>
            </a:endParaRPr>
          </a:p>
          <a:p>
            <a:pPr indent="0" lvl="0" marL="0" rtl="0" algn="l">
              <a:lnSpc>
                <a:spcPct val="100000"/>
              </a:lnSpc>
              <a:spcBef>
                <a:spcPts val="0"/>
              </a:spcBef>
              <a:spcAft>
                <a:spcPts val="0"/>
              </a:spcAft>
              <a:buNone/>
            </a:pPr>
            <a:r>
              <a:t/>
            </a:r>
            <a:endParaRPr sz="1600">
              <a:solidFill>
                <a:schemeClr val="accent3"/>
              </a:solidFill>
              <a:latin typeface="Merriweather"/>
              <a:ea typeface="Merriweather"/>
              <a:cs typeface="Merriweather"/>
              <a:sym typeface="Merriweather"/>
            </a:endParaRPr>
          </a:p>
          <a:p>
            <a:pPr indent="-330200" lvl="0" marL="457200" rtl="0" algn="l">
              <a:lnSpc>
                <a:spcPct val="100000"/>
              </a:lnSpc>
              <a:spcBef>
                <a:spcPts val="0"/>
              </a:spcBef>
              <a:spcAft>
                <a:spcPts val="0"/>
              </a:spcAft>
              <a:buClr>
                <a:schemeClr val="accent3"/>
              </a:buClr>
              <a:buSzPts val="1600"/>
              <a:buFont typeface="Merriweather"/>
              <a:buChar char="●"/>
            </a:pPr>
            <a:r>
              <a:rPr lang="pl" sz="1600">
                <a:solidFill>
                  <a:schemeClr val="accent3"/>
                </a:solidFill>
                <a:latin typeface="Merriweather"/>
                <a:ea typeface="Merriweather"/>
                <a:cs typeface="Merriweather"/>
                <a:sym typeface="Merriweather"/>
              </a:rPr>
              <a:t>Std dev values might not reflect real spread in the lesion</a:t>
            </a:r>
            <a:endParaRPr sz="1600">
              <a:solidFill>
                <a:schemeClr val="accent3"/>
              </a:solidFill>
              <a:latin typeface="Merriweather"/>
              <a:ea typeface="Merriweather"/>
              <a:cs typeface="Merriweather"/>
              <a:sym typeface="Merriweather"/>
            </a:endParaRPr>
          </a:p>
          <a:p>
            <a:pPr indent="0" lvl="0" marL="457200" rtl="0" algn="l">
              <a:lnSpc>
                <a:spcPct val="100000"/>
              </a:lnSpc>
              <a:spcBef>
                <a:spcPts val="0"/>
              </a:spcBef>
              <a:spcAft>
                <a:spcPts val="0"/>
              </a:spcAft>
              <a:buNone/>
            </a:pPr>
            <a:r>
              <a:t/>
            </a:r>
            <a:endParaRPr sz="1600">
              <a:solidFill>
                <a:schemeClr val="accent3"/>
              </a:solidFill>
              <a:latin typeface="Merriweather"/>
              <a:ea typeface="Merriweather"/>
              <a:cs typeface="Merriweather"/>
              <a:sym typeface="Merriweather"/>
            </a:endParaRPr>
          </a:p>
          <a:p>
            <a:pPr indent="-330200" lvl="0" marL="457200" rtl="0" algn="l">
              <a:lnSpc>
                <a:spcPct val="100000"/>
              </a:lnSpc>
              <a:spcBef>
                <a:spcPts val="0"/>
              </a:spcBef>
              <a:spcAft>
                <a:spcPts val="0"/>
              </a:spcAft>
              <a:buClr>
                <a:schemeClr val="accent3"/>
              </a:buClr>
              <a:buSzPts val="1600"/>
              <a:buFont typeface="Merriweather"/>
              <a:buChar char="●"/>
            </a:pPr>
            <a:r>
              <a:rPr lang="pl" sz="1600">
                <a:solidFill>
                  <a:schemeClr val="accent3"/>
                </a:solidFill>
                <a:latin typeface="Merriweather"/>
                <a:ea typeface="Merriweather"/>
                <a:cs typeface="Merriweather"/>
                <a:sym typeface="Merriweather"/>
              </a:rPr>
              <a:t>Statistics (mean &amp; std dev) do not reveal nature</a:t>
            </a:r>
            <a:endParaRPr sz="1600">
              <a:solidFill>
                <a:schemeClr val="accent3"/>
              </a:solidFill>
              <a:latin typeface="Merriweather"/>
              <a:ea typeface="Merriweather"/>
              <a:cs typeface="Merriweather"/>
              <a:sym typeface="Merriweather"/>
            </a:endParaRPr>
          </a:p>
          <a:p>
            <a:pPr indent="0" lvl="0" marL="457200" rtl="0" algn="l">
              <a:lnSpc>
                <a:spcPct val="100000"/>
              </a:lnSpc>
              <a:spcBef>
                <a:spcPts val="0"/>
              </a:spcBef>
              <a:spcAft>
                <a:spcPts val="0"/>
              </a:spcAft>
              <a:buNone/>
            </a:pPr>
            <a:r>
              <a:rPr lang="pl" sz="1600">
                <a:solidFill>
                  <a:schemeClr val="accent3"/>
                </a:solidFill>
                <a:latin typeface="Merriweather"/>
                <a:ea typeface="Merriweather"/>
                <a:cs typeface="Merriweather"/>
                <a:sym typeface="Merriweather"/>
              </a:rPr>
              <a:t>of the distribution, which can be multimodal</a:t>
            </a:r>
            <a:endParaRPr sz="1600">
              <a:solidFill>
                <a:schemeClr val="accent3"/>
              </a:solidFill>
              <a:latin typeface="Merriweather"/>
              <a:ea typeface="Merriweather"/>
              <a:cs typeface="Merriweather"/>
              <a:sym typeface="Merriweather"/>
            </a:endParaRPr>
          </a:p>
          <a:p>
            <a:pPr indent="0" lvl="0" marL="457200" rtl="0" algn="l">
              <a:lnSpc>
                <a:spcPct val="100000"/>
              </a:lnSpc>
              <a:spcBef>
                <a:spcPts val="0"/>
              </a:spcBef>
              <a:spcAft>
                <a:spcPts val="0"/>
              </a:spcAft>
              <a:buNone/>
            </a:pPr>
            <a:r>
              <a:t/>
            </a:r>
            <a:endParaRPr sz="1600">
              <a:solidFill>
                <a:schemeClr val="accent3"/>
              </a:solidFill>
              <a:latin typeface="Merriweather"/>
              <a:ea typeface="Merriweather"/>
              <a:cs typeface="Merriweather"/>
              <a:sym typeface="Merriweather"/>
            </a:endParaRPr>
          </a:p>
          <a:p>
            <a:pPr indent="-330200" lvl="0" marL="457200" rtl="0" algn="l">
              <a:lnSpc>
                <a:spcPct val="100000"/>
              </a:lnSpc>
              <a:spcBef>
                <a:spcPts val="0"/>
              </a:spcBef>
              <a:spcAft>
                <a:spcPts val="0"/>
              </a:spcAft>
              <a:buClr>
                <a:schemeClr val="accent3"/>
              </a:buClr>
              <a:buSzPts val="1600"/>
              <a:buFont typeface="Merriweather"/>
              <a:buChar char="●"/>
            </a:pPr>
            <a:r>
              <a:rPr lang="pl" sz="1600">
                <a:solidFill>
                  <a:schemeClr val="accent3"/>
                </a:solidFill>
                <a:latin typeface="Merriweather"/>
                <a:ea typeface="Merriweather"/>
                <a:cs typeface="Merriweather"/>
                <a:sym typeface="Merriweather"/>
              </a:rPr>
              <a:t>Too much dependence on one algorithm (SLIC) is risky</a:t>
            </a:r>
            <a:endParaRPr sz="1600">
              <a:solidFill>
                <a:schemeClr val="accent3"/>
              </a:solidFill>
              <a:latin typeface="Merriweather"/>
              <a:ea typeface="Merriweather"/>
              <a:cs typeface="Merriweather"/>
              <a:sym typeface="Merriweather"/>
            </a:endParaRPr>
          </a:p>
        </p:txBody>
      </p:sp>
      <p:pic>
        <p:nvPicPr>
          <p:cNvPr id="737" name="Google Shape;737;p76" title="slic flaws.png"/>
          <p:cNvPicPr preferRelativeResize="0"/>
          <p:nvPr/>
        </p:nvPicPr>
        <p:blipFill>
          <a:blip r:embed="rId3">
            <a:alphaModFix/>
          </a:blip>
          <a:stretch>
            <a:fillRect/>
          </a:stretch>
        </p:blipFill>
        <p:spPr>
          <a:xfrm>
            <a:off x="4142200" y="98675"/>
            <a:ext cx="4453550" cy="2304190"/>
          </a:xfrm>
          <a:prstGeom prst="rect">
            <a:avLst/>
          </a:prstGeom>
          <a:noFill/>
          <a:ln>
            <a:noFill/>
          </a:ln>
          <a:effectLst>
            <a:outerShdw blurRad="57150" rotWithShape="0" algn="bl" dir="5400000" dist="19050">
              <a:srgbClr val="000000">
                <a:alpha val="50000"/>
              </a:srgbClr>
            </a:outerShdw>
          </a:effectLst>
        </p:spPr>
      </p:pic>
      <p:pic>
        <p:nvPicPr>
          <p:cNvPr id="738" name="Google Shape;738;p76" title="slic falws 2.png"/>
          <p:cNvPicPr preferRelativeResize="0"/>
          <p:nvPr/>
        </p:nvPicPr>
        <p:blipFill rotWithShape="1">
          <a:blip r:embed="rId4">
            <a:alphaModFix/>
          </a:blip>
          <a:srcRect b="62008" l="0" r="0" t="0"/>
          <a:stretch/>
        </p:blipFill>
        <p:spPr>
          <a:xfrm>
            <a:off x="4142200" y="2514300"/>
            <a:ext cx="4453550" cy="252935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744" name="Google Shape;744;p77"/>
          <p:cNvSpPr txBox="1"/>
          <p:nvPr>
            <p:ph type="title"/>
          </p:nvPr>
        </p:nvSpPr>
        <p:spPr>
          <a:xfrm>
            <a:off x="311725" y="277800"/>
            <a:ext cx="3127500" cy="72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Weaknesses:</a:t>
            </a:r>
            <a:endParaRPr/>
          </a:p>
        </p:txBody>
      </p:sp>
      <p:sp>
        <p:nvSpPr>
          <p:cNvPr id="745" name="Google Shape;745;p77"/>
          <p:cNvSpPr txBox="1"/>
          <p:nvPr>
            <p:ph idx="1" type="body"/>
          </p:nvPr>
        </p:nvSpPr>
        <p:spPr>
          <a:xfrm>
            <a:off x="118075" y="1155550"/>
            <a:ext cx="3514800" cy="36285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chemeClr val="accent3"/>
              </a:buClr>
              <a:buSzPts val="1600"/>
              <a:buFont typeface="Merriweather"/>
              <a:buChar char="●"/>
            </a:pPr>
            <a:r>
              <a:rPr lang="pl" sz="1600">
                <a:solidFill>
                  <a:schemeClr val="accent3"/>
                </a:solidFill>
                <a:latin typeface="Merriweather"/>
                <a:ea typeface="Merriweather"/>
                <a:cs typeface="Merriweather"/>
                <a:sym typeface="Merriweather"/>
              </a:rPr>
              <a:t>SLIC might generalize too much even with low compactness</a:t>
            </a:r>
            <a:endParaRPr sz="1600">
              <a:solidFill>
                <a:schemeClr val="accent3"/>
              </a:solidFill>
              <a:latin typeface="Merriweather"/>
              <a:ea typeface="Merriweather"/>
              <a:cs typeface="Merriweather"/>
              <a:sym typeface="Merriweather"/>
            </a:endParaRPr>
          </a:p>
          <a:p>
            <a:pPr indent="0" lvl="0" marL="0" rtl="0" algn="l">
              <a:lnSpc>
                <a:spcPct val="100000"/>
              </a:lnSpc>
              <a:spcBef>
                <a:spcPts val="0"/>
              </a:spcBef>
              <a:spcAft>
                <a:spcPts val="0"/>
              </a:spcAft>
              <a:buNone/>
            </a:pPr>
            <a:r>
              <a:t/>
            </a:r>
            <a:endParaRPr sz="1600">
              <a:solidFill>
                <a:schemeClr val="accent3"/>
              </a:solidFill>
              <a:latin typeface="Merriweather"/>
              <a:ea typeface="Merriweather"/>
              <a:cs typeface="Merriweather"/>
              <a:sym typeface="Merriweather"/>
            </a:endParaRPr>
          </a:p>
          <a:p>
            <a:pPr indent="-330200" lvl="0" marL="457200" rtl="0" algn="l">
              <a:lnSpc>
                <a:spcPct val="100000"/>
              </a:lnSpc>
              <a:spcBef>
                <a:spcPts val="0"/>
              </a:spcBef>
              <a:spcAft>
                <a:spcPts val="0"/>
              </a:spcAft>
              <a:buClr>
                <a:schemeClr val="accent3"/>
              </a:buClr>
              <a:buSzPts val="1600"/>
              <a:buFont typeface="Merriweather"/>
              <a:buChar char="●"/>
            </a:pPr>
            <a:r>
              <a:rPr lang="pl" sz="1600">
                <a:solidFill>
                  <a:schemeClr val="accent3"/>
                </a:solidFill>
                <a:latin typeface="Merriweather"/>
                <a:ea typeface="Merriweather"/>
                <a:cs typeface="Merriweather"/>
                <a:sym typeface="Merriweather"/>
              </a:rPr>
              <a:t>Std dev values might not reflect real spread in the lesion</a:t>
            </a:r>
            <a:endParaRPr sz="1600">
              <a:solidFill>
                <a:schemeClr val="accent3"/>
              </a:solidFill>
              <a:latin typeface="Merriweather"/>
              <a:ea typeface="Merriweather"/>
              <a:cs typeface="Merriweather"/>
              <a:sym typeface="Merriweather"/>
            </a:endParaRPr>
          </a:p>
          <a:p>
            <a:pPr indent="0" lvl="0" marL="457200" rtl="0" algn="l">
              <a:lnSpc>
                <a:spcPct val="100000"/>
              </a:lnSpc>
              <a:spcBef>
                <a:spcPts val="0"/>
              </a:spcBef>
              <a:spcAft>
                <a:spcPts val="0"/>
              </a:spcAft>
              <a:buNone/>
            </a:pPr>
            <a:r>
              <a:t/>
            </a:r>
            <a:endParaRPr sz="1600">
              <a:solidFill>
                <a:schemeClr val="accent3"/>
              </a:solidFill>
              <a:latin typeface="Merriweather"/>
              <a:ea typeface="Merriweather"/>
              <a:cs typeface="Merriweather"/>
              <a:sym typeface="Merriweather"/>
            </a:endParaRPr>
          </a:p>
          <a:p>
            <a:pPr indent="-330200" lvl="0" marL="457200" rtl="0" algn="l">
              <a:lnSpc>
                <a:spcPct val="100000"/>
              </a:lnSpc>
              <a:spcBef>
                <a:spcPts val="0"/>
              </a:spcBef>
              <a:spcAft>
                <a:spcPts val="0"/>
              </a:spcAft>
              <a:buClr>
                <a:schemeClr val="accent3"/>
              </a:buClr>
              <a:buSzPts val="1600"/>
              <a:buFont typeface="Merriweather"/>
              <a:buChar char="●"/>
            </a:pPr>
            <a:r>
              <a:rPr lang="pl" sz="1600">
                <a:solidFill>
                  <a:schemeClr val="accent3"/>
                </a:solidFill>
                <a:latin typeface="Merriweather"/>
                <a:ea typeface="Merriweather"/>
                <a:cs typeface="Merriweather"/>
                <a:sym typeface="Merriweather"/>
              </a:rPr>
              <a:t>Statistics (mean &amp; std dev) do not reveal nature</a:t>
            </a:r>
            <a:endParaRPr sz="1600">
              <a:solidFill>
                <a:schemeClr val="accent3"/>
              </a:solidFill>
              <a:latin typeface="Merriweather"/>
              <a:ea typeface="Merriweather"/>
              <a:cs typeface="Merriweather"/>
              <a:sym typeface="Merriweather"/>
            </a:endParaRPr>
          </a:p>
          <a:p>
            <a:pPr indent="0" lvl="0" marL="457200" rtl="0" algn="l">
              <a:lnSpc>
                <a:spcPct val="100000"/>
              </a:lnSpc>
              <a:spcBef>
                <a:spcPts val="0"/>
              </a:spcBef>
              <a:spcAft>
                <a:spcPts val="0"/>
              </a:spcAft>
              <a:buNone/>
            </a:pPr>
            <a:r>
              <a:rPr lang="pl" sz="1600">
                <a:solidFill>
                  <a:schemeClr val="accent3"/>
                </a:solidFill>
                <a:latin typeface="Merriweather"/>
                <a:ea typeface="Merriweather"/>
                <a:cs typeface="Merriweather"/>
                <a:sym typeface="Merriweather"/>
              </a:rPr>
              <a:t>of the distribution, which can be multimodal</a:t>
            </a:r>
            <a:endParaRPr sz="1600">
              <a:solidFill>
                <a:schemeClr val="accent3"/>
              </a:solidFill>
              <a:latin typeface="Merriweather"/>
              <a:ea typeface="Merriweather"/>
              <a:cs typeface="Merriweather"/>
              <a:sym typeface="Merriweather"/>
            </a:endParaRPr>
          </a:p>
          <a:p>
            <a:pPr indent="0" lvl="0" marL="457200" rtl="0" algn="l">
              <a:lnSpc>
                <a:spcPct val="100000"/>
              </a:lnSpc>
              <a:spcBef>
                <a:spcPts val="0"/>
              </a:spcBef>
              <a:spcAft>
                <a:spcPts val="0"/>
              </a:spcAft>
              <a:buNone/>
            </a:pPr>
            <a:r>
              <a:t/>
            </a:r>
            <a:endParaRPr sz="1600">
              <a:solidFill>
                <a:schemeClr val="accent3"/>
              </a:solidFill>
              <a:latin typeface="Merriweather"/>
              <a:ea typeface="Merriweather"/>
              <a:cs typeface="Merriweather"/>
              <a:sym typeface="Merriweather"/>
            </a:endParaRPr>
          </a:p>
          <a:p>
            <a:pPr indent="-330200" lvl="0" marL="457200" rtl="0" algn="l">
              <a:lnSpc>
                <a:spcPct val="100000"/>
              </a:lnSpc>
              <a:spcBef>
                <a:spcPts val="0"/>
              </a:spcBef>
              <a:spcAft>
                <a:spcPts val="0"/>
              </a:spcAft>
              <a:buClr>
                <a:schemeClr val="accent3"/>
              </a:buClr>
              <a:buSzPts val="1600"/>
              <a:buFont typeface="Merriweather"/>
              <a:buChar char="●"/>
            </a:pPr>
            <a:r>
              <a:rPr lang="pl" sz="1600">
                <a:solidFill>
                  <a:schemeClr val="accent3"/>
                </a:solidFill>
                <a:latin typeface="Merriweather"/>
                <a:ea typeface="Merriweather"/>
                <a:cs typeface="Merriweather"/>
                <a:sym typeface="Merriweather"/>
              </a:rPr>
              <a:t>Too much dependence on one algorithm (SLIC) is risky</a:t>
            </a:r>
            <a:endParaRPr sz="1600">
              <a:solidFill>
                <a:schemeClr val="accent3"/>
              </a:solidFill>
              <a:latin typeface="Merriweather"/>
              <a:ea typeface="Merriweather"/>
              <a:cs typeface="Merriweather"/>
              <a:sym typeface="Merriweather"/>
            </a:endParaRPr>
          </a:p>
        </p:txBody>
      </p:sp>
      <p:pic>
        <p:nvPicPr>
          <p:cNvPr id="746" name="Google Shape;746;p77" title="slic flaws 3.png"/>
          <p:cNvPicPr preferRelativeResize="0"/>
          <p:nvPr/>
        </p:nvPicPr>
        <p:blipFill>
          <a:blip r:embed="rId3">
            <a:alphaModFix/>
          </a:blip>
          <a:stretch>
            <a:fillRect/>
          </a:stretch>
        </p:blipFill>
        <p:spPr>
          <a:xfrm>
            <a:off x="4142200" y="98675"/>
            <a:ext cx="4453521" cy="2304200"/>
          </a:xfrm>
          <a:prstGeom prst="rect">
            <a:avLst/>
          </a:prstGeom>
          <a:noFill/>
          <a:ln>
            <a:noFill/>
          </a:ln>
          <a:effectLst>
            <a:outerShdw blurRad="57150" rotWithShape="0" algn="bl" dir="5400000" dist="19050">
              <a:srgbClr val="000000">
                <a:alpha val="50000"/>
              </a:srgbClr>
            </a:outerShdw>
          </a:effectLst>
        </p:spPr>
      </p:pic>
      <p:pic>
        <p:nvPicPr>
          <p:cNvPr id="747" name="Google Shape;747;p77" title="slic flaws 4.png"/>
          <p:cNvPicPr preferRelativeResize="0"/>
          <p:nvPr/>
        </p:nvPicPr>
        <p:blipFill rotWithShape="1">
          <a:blip r:embed="rId4">
            <a:alphaModFix/>
          </a:blip>
          <a:srcRect b="62008" l="0" r="0" t="0"/>
          <a:stretch/>
        </p:blipFill>
        <p:spPr>
          <a:xfrm>
            <a:off x="4142200" y="2514300"/>
            <a:ext cx="4447930" cy="252935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753" name="Google Shape;753;p78"/>
          <p:cNvSpPr txBox="1"/>
          <p:nvPr>
            <p:ph type="title"/>
          </p:nvPr>
        </p:nvSpPr>
        <p:spPr>
          <a:xfrm>
            <a:off x="4572000" y="231300"/>
            <a:ext cx="4312200" cy="4680900"/>
          </a:xfrm>
          <a:prstGeom prst="rect">
            <a:avLst/>
          </a:prstGeom>
        </p:spPr>
        <p:txBody>
          <a:bodyPr anchorCtr="0" anchor="t" bIns="91425" lIns="91425" spcFirstLastPara="1" rIns="91425" wrap="square" tIns="91425">
            <a:noAutofit/>
          </a:bodyPr>
          <a:lstStyle/>
          <a:p>
            <a:pPr indent="-347345" lvl="0" marL="457200" rtl="0" algn="l">
              <a:spcBef>
                <a:spcPts val="0"/>
              </a:spcBef>
              <a:spcAft>
                <a:spcPts val="0"/>
              </a:spcAft>
              <a:buClr>
                <a:schemeClr val="accent1"/>
              </a:buClr>
              <a:buSzPts val="1870"/>
              <a:buChar char="●"/>
            </a:pPr>
            <a:r>
              <a:rPr lang="pl" sz="1870">
                <a:solidFill>
                  <a:schemeClr val="accent1"/>
                </a:solidFill>
              </a:rPr>
              <a:t>Could have tested saturation entropy as a complement of hue entropy</a:t>
            </a:r>
            <a:endParaRPr sz="1870">
              <a:solidFill>
                <a:schemeClr val="accent1"/>
              </a:solidFill>
            </a:endParaRPr>
          </a:p>
          <a:p>
            <a:pPr indent="0" lvl="0" marL="0" rtl="0" algn="l">
              <a:spcBef>
                <a:spcPts val="0"/>
              </a:spcBef>
              <a:spcAft>
                <a:spcPts val="0"/>
              </a:spcAft>
              <a:buSzPts val="990"/>
              <a:buNone/>
            </a:pPr>
            <a:r>
              <a:t/>
            </a:r>
            <a:endParaRPr sz="1870">
              <a:solidFill>
                <a:schemeClr val="accent1"/>
              </a:solidFill>
            </a:endParaRPr>
          </a:p>
          <a:p>
            <a:pPr indent="-347345" lvl="0" marL="457200" rtl="0" algn="l">
              <a:spcBef>
                <a:spcPts val="0"/>
              </a:spcBef>
              <a:spcAft>
                <a:spcPts val="0"/>
              </a:spcAft>
              <a:buClr>
                <a:schemeClr val="accent1"/>
              </a:buClr>
              <a:buSzPts val="1870"/>
              <a:buChar char="●"/>
            </a:pPr>
            <a:r>
              <a:rPr lang="pl" sz="1870">
                <a:solidFill>
                  <a:schemeClr val="accent1"/>
                </a:solidFill>
              </a:rPr>
              <a:t>Value (brightness) entropy would have revealed some texture patterns (stay tuned for open question)</a:t>
            </a:r>
            <a:endParaRPr sz="1870">
              <a:solidFill>
                <a:schemeClr val="accent1"/>
              </a:solidFill>
            </a:endParaRPr>
          </a:p>
          <a:p>
            <a:pPr indent="0" lvl="0" marL="0" rtl="0" algn="l">
              <a:spcBef>
                <a:spcPts val="0"/>
              </a:spcBef>
              <a:spcAft>
                <a:spcPts val="0"/>
              </a:spcAft>
              <a:buSzPts val="990"/>
              <a:buNone/>
            </a:pPr>
            <a:r>
              <a:t/>
            </a:r>
            <a:endParaRPr sz="1870">
              <a:solidFill>
                <a:schemeClr val="accent1"/>
              </a:solidFill>
            </a:endParaRPr>
          </a:p>
          <a:p>
            <a:pPr indent="-347345" lvl="0" marL="457200" rtl="0" algn="l">
              <a:spcBef>
                <a:spcPts val="0"/>
              </a:spcBef>
              <a:spcAft>
                <a:spcPts val="0"/>
              </a:spcAft>
              <a:buClr>
                <a:schemeClr val="accent1"/>
              </a:buClr>
              <a:buSzPts val="1870"/>
              <a:buChar char="●"/>
            </a:pPr>
            <a:r>
              <a:rPr lang="pl" sz="1870">
                <a:solidFill>
                  <a:schemeClr val="accent1"/>
                </a:solidFill>
              </a:rPr>
              <a:t>Could have tried red entropy, since the majority of the skin lesions lie in a shade of red</a:t>
            </a:r>
            <a:endParaRPr sz="1870">
              <a:solidFill>
                <a:schemeClr val="accent1"/>
              </a:solidFill>
            </a:endParaRPr>
          </a:p>
          <a:p>
            <a:pPr indent="0" lvl="0" marL="457200" rtl="0" algn="l">
              <a:spcBef>
                <a:spcPts val="0"/>
              </a:spcBef>
              <a:spcAft>
                <a:spcPts val="0"/>
              </a:spcAft>
              <a:buSzPts val="990"/>
              <a:buNone/>
            </a:pPr>
            <a:r>
              <a:t/>
            </a:r>
            <a:endParaRPr sz="1870">
              <a:solidFill>
                <a:schemeClr val="accent1"/>
              </a:solidFill>
            </a:endParaRPr>
          </a:p>
          <a:p>
            <a:pPr indent="-347345" lvl="0" marL="457200" rtl="0" algn="l">
              <a:spcBef>
                <a:spcPts val="0"/>
              </a:spcBef>
              <a:spcAft>
                <a:spcPts val="0"/>
              </a:spcAft>
              <a:buClr>
                <a:schemeClr val="accent1"/>
              </a:buClr>
              <a:buSzPts val="1870"/>
              <a:buChar char="●"/>
            </a:pPr>
            <a:r>
              <a:rPr lang="pl" sz="1870">
                <a:solidFill>
                  <a:schemeClr val="accent1"/>
                </a:solidFill>
              </a:rPr>
              <a:t>Could have tried other histogram-based values such as skewness</a:t>
            </a:r>
            <a:endParaRPr sz="1870">
              <a:solidFill>
                <a:schemeClr val="accent1"/>
              </a:solidFill>
            </a:endParaRPr>
          </a:p>
        </p:txBody>
      </p:sp>
      <p:sp>
        <p:nvSpPr>
          <p:cNvPr id="754" name="Google Shape;754;p78"/>
          <p:cNvSpPr/>
          <p:nvPr/>
        </p:nvSpPr>
        <p:spPr>
          <a:xfrm>
            <a:off x="8875" y="0"/>
            <a:ext cx="4312200" cy="5143500"/>
          </a:xfrm>
          <a:prstGeom prst="rect">
            <a:avLst/>
          </a:prstGeom>
          <a:solidFill>
            <a:srgbClr val="3139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5" name="Google Shape;755;p78"/>
          <p:cNvSpPr txBox="1"/>
          <p:nvPr>
            <p:ph type="title"/>
          </p:nvPr>
        </p:nvSpPr>
        <p:spPr>
          <a:xfrm>
            <a:off x="311725" y="424725"/>
            <a:ext cx="3706500" cy="250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sz="3600"/>
              <a:t>Considerations</a:t>
            </a:r>
            <a:endParaRPr sz="3600"/>
          </a:p>
        </p:txBody>
      </p:sp>
      <p:pic>
        <p:nvPicPr>
          <p:cNvPr id="756" name="Google Shape;756;p78"/>
          <p:cNvPicPr preferRelativeResize="0"/>
          <p:nvPr/>
        </p:nvPicPr>
        <p:blipFill>
          <a:blip r:embed="rId3">
            <a:alphaModFix/>
          </a:blip>
          <a:stretch>
            <a:fillRect/>
          </a:stretch>
        </p:blipFill>
        <p:spPr>
          <a:xfrm>
            <a:off x="473238" y="1359350"/>
            <a:ext cx="3383475" cy="33834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762" name="Google Shape;762;p79"/>
          <p:cNvSpPr txBox="1"/>
          <p:nvPr>
            <p:ph type="title"/>
          </p:nvPr>
        </p:nvSpPr>
        <p:spPr>
          <a:xfrm>
            <a:off x="4572000" y="415500"/>
            <a:ext cx="4312200" cy="4312500"/>
          </a:xfrm>
          <a:prstGeom prst="rect">
            <a:avLst/>
          </a:prstGeom>
        </p:spPr>
        <p:txBody>
          <a:bodyPr anchorCtr="0" anchor="t" bIns="91425" lIns="91425" spcFirstLastPara="1" rIns="91425" wrap="square" tIns="91425">
            <a:noAutofit/>
          </a:bodyPr>
          <a:lstStyle/>
          <a:p>
            <a:pPr indent="-360045" lvl="0" marL="457200" rtl="0" algn="l">
              <a:spcBef>
                <a:spcPts val="0"/>
              </a:spcBef>
              <a:spcAft>
                <a:spcPts val="0"/>
              </a:spcAft>
              <a:buClr>
                <a:schemeClr val="accent1"/>
              </a:buClr>
              <a:buSzPts val="2070"/>
              <a:buChar char="●"/>
            </a:pPr>
            <a:r>
              <a:rPr lang="pl" sz="2070">
                <a:solidFill>
                  <a:schemeClr val="accent1"/>
                </a:solidFill>
              </a:rPr>
              <a:t>Unnecessary work in HSV, overcomplicated</a:t>
            </a:r>
            <a:endParaRPr sz="2070">
              <a:solidFill>
                <a:schemeClr val="accent1"/>
              </a:solidFill>
            </a:endParaRPr>
          </a:p>
          <a:p>
            <a:pPr indent="0" lvl="0" marL="0" rtl="0" algn="l">
              <a:spcBef>
                <a:spcPts val="0"/>
              </a:spcBef>
              <a:spcAft>
                <a:spcPts val="0"/>
              </a:spcAft>
              <a:buSzPts val="990"/>
              <a:buNone/>
            </a:pPr>
            <a:r>
              <a:t/>
            </a:r>
            <a:endParaRPr sz="2070">
              <a:solidFill>
                <a:schemeClr val="accent1"/>
              </a:solidFill>
            </a:endParaRPr>
          </a:p>
          <a:p>
            <a:pPr indent="-360045" lvl="0" marL="457200" rtl="0" algn="l">
              <a:spcBef>
                <a:spcPts val="0"/>
              </a:spcBef>
              <a:spcAft>
                <a:spcPts val="0"/>
              </a:spcAft>
              <a:buClr>
                <a:schemeClr val="accent1"/>
              </a:buClr>
              <a:buSzPts val="2070"/>
              <a:buChar char="●"/>
            </a:pPr>
            <a:r>
              <a:rPr lang="pl" sz="2070">
                <a:solidFill>
                  <a:schemeClr val="accent1"/>
                </a:solidFill>
              </a:rPr>
              <a:t>Dependence on SLIC algorithm</a:t>
            </a:r>
            <a:endParaRPr sz="2070">
              <a:solidFill>
                <a:schemeClr val="accent1"/>
              </a:solidFill>
            </a:endParaRPr>
          </a:p>
          <a:p>
            <a:pPr indent="0" lvl="0" marL="0" rtl="0" algn="l">
              <a:spcBef>
                <a:spcPts val="0"/>
              </a:spcBef>
              <a:spcAft>
                <a:spcPts val="0"/>
              </a:spcAft>
              <a:buSzPts val="990"/>
              <a:buNone/>
            </a:pPr>
            <a:r>
              <a:t/>
            </a:r>
            <a:endParaRPr sz="2070">
              <a:solidFill>
                <a:schemeClr val="accent1"/>
              </a:solidFill>
            </a:endParaRPr>
          </a:p>
          <a:p>
            <a:pPr indent="-360045" lvl="0" marL="457200" rtl="0" algn="l">
              <a:spcBef>
                <a:spcPts val="0"/>
              </a:spcBef>
              <a:spcAft>
                <a:spcPts val="0"/>
              </a:spcAft>
              <a:buClr>
                <a:schemeClr val="accent1"/>
              </a:buClr>
              <a:buSzPts val="2070"/>
              <a:buChar char="●"/>
            </a:pPr>
            <a:r>
              <a:rPr lang="pl" sz="2070">
                <a:solidFill>
                  <a:schemeClr val="accent1"/>
                </a:solidFill>
              </a:rPr>
              <a:t>Some lesions have 2 or 3 superpixels, limiting the range of this feature</a:t>
            </a:r>
            <a:endParaRPr sz="2070">
              <a:solidFill>
                <a:schemeClr val="accent1"/>
              </a:solidFill>
            </a:endParaRPr>
          </a:p>
          <a:p>
            <a:pPr indent="0" lvl="0" marL="457200" rtl="0" algn="l">
              <a:spcBef>
                <a:spcPts val="0"/>
              </a:spcBef>
              <a:spcAft>
                <a:spcPts val="0"/>
              </a:spcAft>
              <a:buSzPts val="990"/>
              <a:buNone/>
            </a:pPr>
            <a:r>
              <a:t/>
            </a:r>
            <a:endParaRPr sz="2070">
              <a:solidFill>
                <a:schemeClr val="accent1"/>
              </a:solidFill>
            </a:endParaRPr>
          </a:p>
          <a:p>
            <a:pPr indent="-360045" lvl="0" marL="457200" rtl="0" algn="l">
              <a:spcBef>
                <a:spcPts val="0"/>
              </a:spcBef>
              <a:spcAft>
                <a:spcPts val="0"/>
              </a:spcAft>
              <a:buClr>
                <a:schemeClr val="accent1"/>
              </a:buClr>
              <a:buSzPts val="2070"/>
              <a:buChar char="●"/>
            </a:pPr>
            <a:r>
              <a:rPr lang="pl" sz="2070">
                <a:solidFill>
                  <a:schemeClr val="accent1"/>
                </a:solidFill>
              </a:rPr>
              <a:t>Some superpixels are a bit too small: might not represent 5% of the lesion</a:t>
            </a:r>
            <a:endParaRPr sz="2070">
              <a:solidFill>
                <a:schemeClr val="accent1"/>
              </a:solidFill>
            </a:endParaRPr>
          </a:p>
        </p:txBody>
      </p:sp>
      <p:sp>
        <p:nvSpPr>
          <p:cNvPr id="763" name="Google Shape;763;p79"/>
          <p:cNvSpPr/>
          <p:nvPr/>
        </p:nvSpPr>
        <p:spPr>
          <a:xfrm>
            <a:off x="8875" y="0"/>
            <a:ext cx="4312200" cy="5143500"/>
          </a:xfrm>
          <a:prstGeom prst="rect">
            <a:avLst/>
          </a:prstGeom>
          <a:solidFill>
            <a:srgbClr val="3139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64" name="Google Shape;764;p79"/>
          <p:cNvSpPr txBox="1"/>
          <p:nvPr>
            <p:ph type="title"/>
          </p:nvPr>
        </p:nvSpPr>
        <p:spPr>
          <a:xfrm>
            <a:off x="311725" y="424725"/>
            <a:ext cx="3706500" cy="250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sz="3600"/>
              <a:t>Considerations</a:t>
            </a:r>
            <a:endParaRPr sz="3600"/>
          </a:p>
        </p:txBody>
      </p:sp>
      <p:pic>
        <p:nvPicPr>
          <p:cNvPr id="765" name="Google Shape;765;p79"/>
          <p:cNvPicPr preferRelativeResize="0"/>
          <p:nvPr/>
        </p:nvPicPr>
        <p:blipFill>
          <a:blip r:embed="rId3">
            <a:alphaModFix/>
          </a:blip>
          <a:stretch>
            <a:fillRect/>
          </a:stretch>
        </p:blipFill>
        <p:spPr>
          <a:xfrm>
            <a:off x="473238" y="1359350"/>
            <a:ext cx="3383475" cy="33834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80"/>
          <p:cNvSpPr txBox="1"/>
          <p:nvPr>
            <p:ph type="title"/>
          </p:nvPr>
        </p:nvSpPr>
        <p:spPr>
          <a:xfrm>
            <a:off x="311700" y="38617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Hue Entropy: Motivation</a:t>
            </a:r>
            <a:endParaRPr/>
          </a:p>
        </p:txBody>
      </p:sp>
      <p:sp>
        <p:nvSpPr>
          <p:cNvPr id="771" name="Google Shape;771;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772" name="Google Shape;772;p80"/>
          <p:cNvSpPr txBox="1"/>
          <p:nvPr/>
        </p:nvSpPr>
        <p:spPr>
          <a:xfrm>
            <a:off x="4714200" y="4355100"/>
            <a:ext cx="4429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773" name="Google Shape;773;p80"/>
          <p:cNvSpPr txBox="1"/>
          <p:nvPr/>
        </p:nvSpPr>
        <p:spPr>
          <a:xfrm>
            <a:off x="-26875" y="4819400"/>
            <a:ext cx="43155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300" u="sng">
                <a:solidFill>
                  <a:schemeClr val="hlink"/>
                </a:solidFill>
                <a:latin typeface="Roboto"/>
                <a:ea typeface="Roboto"/>
                <a:cs typeface="Roboto"/>
                <a:sym typeface="Roboto"/>
                <a:hlinkClick r:id="rId3"/>
              </a:rPr>
              <a:t>https://pmc.ncbi.nlm.nih.gov/articles/PMC3184884/</a:t>
            </a:r>
            <a:endParaRPr sz="1300">
              <a:solidFill>
                <a:schemeClr val="dk2"/>
              </a:solidFill>
              <a:latin typeface="Roboto"/>
              <a:ea typeface="Roboto"/>
              <a:cs typeface="Roboto"/>
              <a:sym typeface="Roboto"/>
            </a:endParaRPr>
          </a:p>
        </p:txBody>
      </p:sp>
      <p:pic>
        <p:nvPicPr>
          <p:cNvPr id="774" name="Google Shape;774;p80"/>
          <p:cNvPicPr preferRelativeResize="0"/>
          <p:nvPr/>
        </p:nvPicPr>
        <p:blipFill>
          <a:blip r:embed="rId4">
            <a:alphaModFix/>
          </a:blip>
          <a:stretch>
            <a:fillRect/>
          </a:stretch>
        </p:blipFill>
        <p:spPr>
          <a:xfrm>
            <a:off x="243412" y="1469375"/>
            <a:ext cx="8657175" cy="31176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81"/>
          <p:cNvSpPr txBox="1"/>
          <p:nvPr>
            <p:ph type="title"/>
          </p:nvPr>
        </p:nvSpPr>
        <p:spPr>
          <a:xfrm>
            <a:off x="311700" y="38617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Hue Entropy: Motivation</a:t>
            </a:r>
            <a:endParaRPr/>
          </a:p>
        </p:txBody>
      </p:sp>
      <p:sp>
        <p:nvSpPr>
          <p:cNvPr id="780" name="Google Shape;780;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781" name="Google Shape;781;p81"/>
          <p:cNvSpPr txBox="1"/>
          <p:nvPr/>
        </p:nvSpPr>
        <p:spPr>
          <a:xfrm>
            <a:off x="4714200" y="4355100"/>
            <a:ext cx="4429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782" name="Google Shape;782;p81"/>
          <p:cNvSpPr txBox="1"/>
          <p:nvPr/>
        </p:nvSpPr>
        <p:spPr>
          <a:xfrm>
            <a:off x="-26875" y="4819400"/>
            <a:ext cx="43155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300" u="sng">
                <a:solidFill>
                  <a:schemeClr val="hlink"/>
                </a:solidFill>
                <a:latin typeface="Roboto"/>
                <a:ea typeface="Roboto"/>
                <a:cs typeface="Roboto"/>
                <a:sym typeface="Roboto"/>
                <a:hlinkClick r:id="rId3"/>
              </a:rPr>
              <a:t>https://pmc.ncbi.nlm.nih.gov/articles/PMC3184884/</a:t>
            </a:r>
            <a:endParaRPr sz="1300">
              <a:solidFill>
                <a:schemeClr val="dk2"/>
              </a:solidFill>
              <a:latin typeface="Roboto"/>
              <a:ea typeface="Roboto"/>
              <a:cs typeface="Roboto"/>
              <a:sym typeface="Roboto"/>
            </a:endParaRPr>
          </a:p>
        </p:txBody>
      </p:sp>
      <p:pic>
        <p:nvPicPr>
          <p:cNvPr id="783" name="Google Shape;783;p81"/>
          <p:cNvPicPr preferRelativeResize="0"/>
          <p:nvPr/>
        </p:nvPicPr>
        <p:blipFill>
          <a:blip r:embed="rId4">
            <a:alphaModFix/>
          </a:blip>
          <a:stretch>
            <a:fillRect/>
          </a:stretch>
        </p:blipFill>
        <p:spPr>
          <a:xfrm>
            <a:off x="829251" y="1490650"/>
            <a:ext cx="7485499" cy="32493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789" name="Google Shape;789;p82"/>
          <p:cNvSpPr txBox="1"/>
          <p:nvPr>
            <p:ph type="title"/>
          </p:nvPr>
        </p:nvSpPr>
        <p:spPr>
          <a:xfrm>
            <a:off x="311700" y="261250"/>
            <a:ext cx="8520600" cy="74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pl" sz="2720"/>
              <a:t>Number of Melanoma Colors: Better Approach</a:t>
            </a:r>
            <a:endParaRPr sz="1460"/>
          </a:p>
          <a:p>
            <a:pPr indent="0" lvl="0" marL="0" rtl="0" algn="ctr">
              <a:spcBef>
                <a:spcPts val="0"/>
              </a:spcBef>
              <a:spcAft>
                <a:spcPts val="0"/>
              </a:spcAft>
              <a:buSzPts val="990"/>
              <a:buNone/>
            </a:pPr>
            <a:r>
              <a:rPr lang="pl" sz="1460"/>
              <a:t>Avoid creativity &amp; follow Kasmi’s approach - work in RGB</a:t>
            </a:r>
            <a:endParaRPr sz="1460"/>
          </a:p>
        </p:txBody>
      </p:sp>
      <p:grpSp>
        <p:nvGrpSpPr>
          <p:cNvPr id="790" name="Google Shape;790;p82"/>
          <p:cNvGrpSpPr/>
          <p:nvPr/>
        </p:nvGrpSpPr>
        <p:grpSpPr>
          <a:xfrm>
            <a:off x="2688745" y="1214294"/>
            <a:ext cx="3768522" cy="3774409"/>
            <a:chOff x="2675582" y="676586"/>
            <a:chExt cx="3793942" cy="3790328"/>
          </a:xfrm>
        </p:grpSpPr>
        <p:sp>
          <p:nvSpPr>
            <p:cNvPr id="791" name="Google Shape;791;p82"/>
            <p:cNvSpPr/>
            <p:nvPr/>
          </p:nvSpPr>
          <p:spPr>
            <a:xfrm rot="-7199815">
              <a:off x="3183352" y="1184485"/>
              <a:ext cx="2774659" cy="2774659"/>
            </a:xfrm>
            <a:prstGeom prst="blockArc">
              <a:avLst>
                <a:gd fmla="val 12622480" name="adj1"/>
                <a:gd fmla="val 18176457" name="adj2"/>
                <a:gd fmla="val 20786" name="adj3"/>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82"/>
            <p:cNvSpPr/>
            <p:nvPr/>
          </p:nvSpPr>
          <p:spPr>
            <a:xfrm rot="-1799815">
              <a:off x="3183352" y="1184357"/>
              <a:ext cx="2774659" cy="2774659"/>
            </a:xfrm>
            <a:prstGeom prst="blockArc">
              <a:avLst>
                <a:gd fmla="val 12622480" name="adj1"/>
                <a:gd fmla="val 18176457" name="adj2"/>
                <a:gd fmla="val 20786" name="adj3"/>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82"/>
            <p:cNvSpPr/>
            <p:nvPr/>
          </p:nvSpPr>
          <p:spPr>
            <a:xfrm rot="3600185">
              <a:off x="3187094" y="1184439"/>
              <a:ext cx="2774659" cy="2774659"/>
            </a:xfrm>
            <a:prstGeom prst="blockArc">
              <a:avLst>
                <a:gd fmla="val 12564381" name="adj1"/>
                <a:gd fmla="val 18346131" name="adj2"/>
                <a:gd fmla="val 20844" name="adj3"/>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82"/>
            <p:cNvSpPr/>
            <p:nvPr/>
          </p:nvSpPr>
          <p:spPr>
            <a:xfrm rot="9000185">
              <a:off x="3185977" y="1184485"/>
              <a:ext cx="2774659" cy="2774659"/>
            </a:xfrm>
            <a:prstGeom prst="blockArc">
              <a:avLst>
                <a:gd fmla="val 12622480" name="adj1"/>
                <a:gd fmla="val 18081133" name="adj2"/>
                <a:gd fmla="val 20809" name="adj3"/>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5" name="Google Shape;795;p82"/>
            <p:cNvGrpSpPr/>
            <p:nvPr/>
          </p:nvGrpSpPr>
          <p:grpSpPr>
            <a:xfrm rot="5400000">
              <a:off x="5379663" y="2278951"/>
              <a:ext cx="585001" cy="585472"/>
              <a:chOff x="1967628" y="812211"/>
              <a:chExt cx="588000" cy="588000"/>
            </a:xfrm>
          </p:grpSpPr>
          <p:sp>
            <p:nvSpPr>
              <p:cNvPr id="796" name="Google Shape;796;p82"/>
              <p:cNvSpPr/>
              <p:nvPr/>
            </p:nvSpPr>
            <p:spPr>
              <a:xfrm rot="39023">
                <a:off x="1970909" y="815492"/>
                <a:ext cx="581437" cy="581437"/>
              </a:xfrm>
              <a:prstGeom prst="pie">
                <a:avLst>
                  <a:gd fmla="val 6190354" name="adj1"/>
                  <a:gd fmla="val 14996165" name="adj2"/>
                </a:avLst>
              </a:prstGeom>
              <a:solidFill>
                <a:srgbClr val="1B786F"/>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82"/>
              <p:cNvSpPr/>
              <p:nvPr/>
            </p:nvSpPr>
            <p:spPr>
              <a:xfrm rot="10800000">
                <a:off x="1970875" y="815525"/>
                <a:ext cx="581400" cy="581400"/>
              </a:xfrm>
              <a:prstGeom prst="pie">
                <a:avLst>
                  <a:gd fmla="val 4028252" name="adj1"/>
                  <a:gd fmla="val 17183677" name="adj2"/>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8" name="Google Shape;798;p82"/>
            <p:cNvGrpSpPr/>
            <p:nvPr/>
          </p:nvGrpSpPr>
          <p:grpSpPr>
            <a:xfrm rot="10800000">
              <a:off x="4280709" y="3378529"/>
              <a:ext cx="585001" cy="585472"/>
              <a:chOff x="1967628" y="812211"/>
              <a:chExt cx="588000" cy="588000"/>
            </a:xfrm>
          </p:grpSpPr>
          <p:sp>
            <p:nvSpPr>
              <p:cNvPr id="799" name="Google Shape;799;p82"/>
              <p:cNvSpPr/>
              <p:nvPr/>
            </p:nvSpPr>
            <p:spPr>
              <a:xfrm rot="39023">
                <a:off x="1970909" y="815492"/>
                <a:ext cx="581437" cy="581437"/>
              </a:xfrm>
              <a:prstGeom prst="pie">
                <a:avLst>
                  <a:gd fmla="val 6190354" name="adj1"/>
                  <a:gd fmla="val 14996165" name="adj2"/>
                </a:avLst>
              </a:prstGeom>
              <a:solidFill>
                <a:srgbClr val="1D7E7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82"/>
              <p:cNvSpPr/>
              <p:nvPr/>
            </p:nvSpPr>
            <p:spPr>
              <a:xfrm rot="10800000">
                <a:off x="1970875" y="815525"/>
                <a:ext cx="581400" cy="581400"/>
              </a:xfrm>
              <a:prstGeom prst="pie">
                <a:avLst>
                  <a:gd fmla="val 4028252" name="adj1"/>
                  <a:gd fmla="val 17183677" name="adj2"/>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1" name="Google Shape;801;p82"/>
            <p:cNvGrpSpPr/>
            <p:nvPr/>
          </p:nvGrpSpPr>
          <p:grpSpPr>
            <a:xfrm rot="-5400000">
              <a:off x="3179922" y="2281478"/>
              <a:ext cx="585001" cy="585472"/>
              <a:chOff x="1967628" y="812211"/>
              <a:chExt cx="588000" cy="588000"/>
            </a:xfrm>
          </p:grpSpPr>
          <p:sp>
            <p:nvSpPr>
              <p:cNvPr id="802" name="Google Shape;802;p82"/>
              <p:cNvSpPr/>
              <p:nvPr/>
            </p:nvSpPr>
            <p:spPr>
              <a:xfrm rot="39023">
                <a:off x="1970909" y="815492"/>
                <a:ext cx="581437" cy="581437"/>
              </a:xfrm>
              <a:prstGeom prst="pie">
                <a:avLst>
                  <a:gd fmla="val 6190354" name="adj1"/>
                  <a:gd fmla="val 14996165" name="adj2"/>
                </a:avLst>
              </a:prstGeom>
              <a:solidFill>
                <a:srgbClr val="1F887E"/>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82"/>
              <p:cNvSpPr/>
              <p:nvPr/>
            </p:nvSpPr>
            <p:spPr>
              <a:xfrm rot="10800000">
                <a:off x="1970875" y="815525"/>
                <a:ext cx="581400" cy="581400"/>
              </a:xfrm>
              <a:prstGeom prst="pie">
                <a:avLst>
                  <a:gd fmla="val 4028252" name="adj1"/>
                  <a:gd fmla="val 17183677" name="adj2"/>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4" name="Google Shape;804;p82"/>
            <p:cNvSpPr txBox="1"/>
            <p:nvPr/>
          </p:nvSpPr>
          <p:spPr>
            <a:xfrm>
              <a:off x="3214513" y="236061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sp>
          <p:nvSpPr>
            <p:cNvPr id="805" name="Google Shape;805;p82"/>
            <p:cNvSpPr txBox="1"/>
            <p:nvPr/>
          </p:nvSpPr>
          <p:spPr>
            <a:xfrm>
              <a:off x="4335750" y="3460301"/>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sp>
          <p:nvSpPr>
            <p:cNvPr id="806" name="Google Shape;806;p82"/>
            <p:cNvSpPr txBox="1"/>
            <p:nvPr/>
          </p:nvSpPr>
          <p:spPr>
            <a:xfrm>
              <a:off x="5419402" y="236061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nvGrpSpPr>
            <p:cNvPr id="807" name="Google Shape;807;p82"/>
            <p:cNvGrpSpPr/>
            <p:nvPr/>
          </p:nvGrpSpPr>
          <p:grpSpPr>
            <a:xfrm>
              <a:off x="4261689" y="1180926"/>
              <a:ext cx="585001" cy="585530"/>
              <a:chOff x="1967628" y="812211"/>
              <a:chExt cx="588000" cy="588000"/>
            </a:xfrm>
          </p:grpSpPr>
          <p:sp>
            <p:nvSpPr>
              <p:cNvPr id="808" name="Google Shape;808;p82"/>
              <p:cNvSpPr/>
              <p:nvPr/>
            </p:nvSpPr>
            <p:spPr>
              <a:xfrm rot="39023">
                <a:off x="1970909" y="815492"/>
                <a:ext cx="581437" cy="581437"/>
              </a:xfrm>
              <a:prstGeom prst="pie">
                <a:avLst>
                  <a:gd fmla="val 6190354" name="adj1"/>
                  <a:gd fmla="val 14996165" name="adj2"/>
                </a:avLst>
              </a:prstGeom>
              <a:solidFill>
                <a:srgbClr val="155B5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82"/>
              <p:cNvSpPr/>
              <p:nvPr/>
            </p:nvSpPr>
            <p:spPr>
              <a:xfrm rot="10800000">
                <a:off x="1970875" y="815525"/>
                <a:ext cx="581400" cy="581400"/>
              </a:xfrm>
              <a:prstGeom prst="pie">
                <a:avLst>
                  <a:gd fmla="val 4028252" name="adj1"/>
                  <a:gd fmla="val 17183677" name="adj2"/>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0" name="Google Shape;810;p82"/>
            <p:cNvSpPr txBox="1"/>
            <p:nvPr/>
          </p:nvSpPr>
          <p:spPr>
            <a:xfrm>
              <a:off x="4335750" y="1254446"/>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p:txBody>
        </p:sp>
      </p:grpSp>
      <p:grpSp>
        <p:nvGrpSpPr>
          <p:cNvPr id="811" name="Google Shape;811;p82"/>
          <p:cNvGrpSpPr/>
          <p:nvPr/>
        </p:nvGrpSpPr>
        <p:grpSpPr>
          <a:xfrm>
            <a:off x="323500" y="1850575"/>
            <a:ext cx="3362713" cy="1289700"/>
            <a:chOff x="323500" y="1368300"/>
            <a:chExt cx="3362713" cy="1289700"/>
          </a:xfrm>
        </p:grpSpPr>
        <p:sp>
          <p:nvSpPr>
            <p:cNvPr id="812" name="Google Shape;812;p82"/>
            <p:cNvSpPr txBox="1"/>
            <p:nvPr/>
          </p:nvSpPr>
          <p:spPr>
            <a:xfrm>
              <a:off x="323500" y="1368300"/>
              <a:ext cx="2124000" cy="1289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pl" sz="1600">
                  <a:solidFill>
                    <a:schemeClr val="accent1"/>
                  </a:solidFill>
                  <a:latin typeface="Roboto"/>
                  <a:ea typeface="Roboto"/>
                  <a:cs typeface="Roboto"/>
                  <a:sym typeface="Roboto"/>
                </a:rPr>
                <a:t>Inputs RGB image matrix + mask</a:t>
              </a:r>
              <a:endParaRPr b="1" sz="1600">
                <a:solidFill>
                  <a:schemeClr val="accent1"/>
                </a:solidFill>
                <a:latin typeface="Roboto"/>
                <a:ea typeface="Roboto"/>
                <a:cs typeface="Roboto"/>
                <a:sym typeface="Roboto"/>
              </a:endParaRPr>
            </a:p>
            <a:p>
              <a:pPr indent="0" lvl="0" marL="0" rtl="0" algn="l">
                <a:spcBef>
                  <a:spcPts val="0"/>
                </a:spcBef>
                <a:spcAft>
                  <a:spcPts val="1600"/>
                </a:spcAft>
                <a:buNone/>
              </a:pPr>
              <a:r>
                <a:t/>
              </a:r>
              <a:endParaRPr b="1" sz="1200">
                <a:latin typeface="Roboto"/>
                <a:ea typeface="Roboto"/>
                <a:cs typeface="Roboto"/>
                <a:sym typeface="Roboto"/>
              </a:endParaRPr>
            </a:p>
          </p:txBody>
        </p:sp>
        <p:cxnSp>
          <p:nvCxnSpPr>
            <p:cNvPr id="813" name="Google Shape;813;p82"/>
            <p:cNvCxnSpPr/>
            <p:nvPr/>
          </p:nvCxnSpPr>
          <p:spPr>
            <a:xfrm rot="10800000">
              <a:off x="2641913" y="1831625"/>
              <a:ext cx="1044300" cy="0"/>
            </a:xfrm>
            <a:prstGeom prst="straightConnector1">
              <a:avLst/>
            </a:prstGeom>
            <a:noFill/>
            <a:ln cap="flat" cmpd="sng" w="9525">
              <a:solidFill>
                <a:srgbClr val="1F887E"/>
              </a:solidFill>
              <a:prstDash val="solid"/>
              <a:round/>
              <a:headEnd len="sm" w="sm" type="none"/>
              <a:tailEnd len="med" w="med" type="oval"/>
            </a:ln>
          </p:spPr>
        </p:cxnSp>
      </p:grpSp>
      <p:grpSp>
        <p:nvGrpSpPr>
          <p:cNvPr id="814" name="Google Shape;814;p82"/>
          <p:cNvGrpSpPr/>
          <p:nvPr/>
        </p:nvGrpSpPr>
        <p:grpSpPr>
          <a:xfrm>
            <a:off x="449800" y="3408075"/>
            <a:ext cx="3503113" cy="1289700"/>
            <a:chOff x="449800" y="2925800"/>
            <a:chExt cx="3503113" cy="1289700"/>
          </a:xfrm>
        </p:grpSpPr>
        <p:sp>
          <p:nvSpPr>
            <p:cNvPr id="815" name="Google Shape;815;p82"/>
            <p:cNvSpPr txBox="1"/>
            <p:nvPr/>
          </p:nvSpPr>
          <p:spPr>
            <a:xfrm>
              <a:off x="449800" y="2925800"/>
              <a:ext cx="1998000" cy="1289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pl" sz="1600">
                  <a:solidFill>
                    <a:schemeClr val="accent1"/>
                  </a:solidFill>
                  <a:latin typeface="Roboto"/>
                  <a:ea typeface="Roboto"/>
                  <a:cs typeface="Roboto"/>
                  <a:sym typeface="Roboto"/>
                </a:rPr>
                <a:t>Euclidean Distances</a:t>
              </a:r>
              <a:endParaRPr b="1" sz="1200">
                <a:latin typeface="Roboto"/>
                <a:ea typeface="Roboto"/>
                <a:cs typeface="Roboto"/>
                <a:sym typeface="Roboto"/>
              </a:endParaRPr>
            </a:p>
          </p:txBody>
        </p:sp>
        <p:cxnSp>
          <p:nvCxnSpPr>
            <p:cNvPr id="816" name="Google Shape;816;p82"/>
            <p:cNvCxnSpPr/>
            <p:nvPr/>
          </p:nvCxnSpPr>
          <p:spPr>
            <a:xfrm rot="10800000">
              <a:off x="2641913" y="3489425"/>
              <a:ext cx="1311000" cy="0"/>
            </a:xfrm>
            <a:prstGeom prst="straightConnector1">
              <a:avLst/>
            </a:prstGeom>
            <a:noFill/>
            <a:ln cap="flat" cmpd="sng" w="9525">
              <a:solidFill>
                <a:srgbClr val="1D7E75"/>
              </a:solidFill>
              <a:prstDash val="solid"/>
              <a:round/>
              <a:headEnd len="sm" w="sm" type="none"/>
              <a:tailEnd len="med" w="med" type="oval"/>
            </a:ln>
          </p:spPr>
        </p:cxnSp>
      </p:grpSp>
      <p:grpSp>
        <p:nvGrpSpPr>
          <p:cNvPr id="817" name="Google Shape;817;p82"/>
          <p:cNvGrpSpPr/>
          <p:nvPr/>
        </p:nvGrpSpPr>
        <p:grpSpPr>
          <a:xfrm>
            <a:off x="5209825" y="1850575"/>
            <a:ext cx="3715350" cy="1289700"/>
            <a:chOff x="5209825" y="1368300"/>
            <a:chExt cx="3715350" cy="1289700"/>
          </a:xfrm>
        </p:grpSpPr>
        <p:sp>
          <p:nvSpPr>
            <p:cNvPr id="818" name="Google Shape;818;p82"/>
            <p:cNvSpPr txBox="1"/>
            <p:nvPr/>
          </p:nvSpPr>
          <p:spPr>
            <a:xfrm>
              <a:off x="6696475" y="1368300"/>
              <a:ext cx="2228700" cy="128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l" sz="1600">
                  <a:solidFill>
                    <a:schemeClr val="accent1"/>
                  </a:solidFill>
                  <a:latin typeface="Roboto"/>
                  <a:ea typeface="Roboto"/>
                  <a:cs typeface="Roboto"/>
                  <a:sym typeface="Roboto"/>
                </a:rPr>
                <a:t>Return no. of </a:t>
              </a:r>
              <a:endParaRPr b="1" sz="1600">
                <a:solidFill>
                  <a:schemeClr val="accent1"/>
                </a:solidFill>
                <a:latin typeface="Roboto"/>
                <a:ea typeface="Roboto"/>
                <a:cs typeface="Roboto"/>
                <a:sym typeface="Roboto"/>
              </a:endParaRPr>
            </a:p>
            <a:p>
              <a:pPr indent="0" lvl="0" marL="0" rtl="0" algn="l">
                <a:spcBef>
                  <a:spcPts val="0"/>
                </a:spcBef>
                <a:spcAft>
                  <a:spcPts val="0"/>
                </a:spcAft>
                <a:buNone/>
              </a:pPr>
              <a:r>
                <a:rPr b="1" lang="pl" sz="1600">
                  <a:solidFill>
                    <a:schemeClr val="accent1"/>
                  </a:solidFill>
                  <a:latin typeface="Roboto"/>
                  <a:ea typeface="Roboto"/>
                  <a:cs typeface="Roboto"/>
                  <a:sym typeface="Roboto"/>
                </a:rPr>
                <a:t>MEL colors</a:t>
              </a:r>
              <a:endParaRPr b="1" sz="1600">
                <a:solidFill>
                  <a:schemeClr val="accent1"/>
                </a:solidFill>
                <a:latin typeface="Roboto"/>
                <a:ea typeface="Roboto"/>
                <a:cs typeface="Roboto"/>
                <a:sym typeface="Roboto"/>
              </a:endParaRPr>
            </a:p>
            <a:p>
              <a:pPr indent="0" lvl="0" marL="0" rtl="0" algn="l">
                <a:spcBef>
                  <a:spcPts val="0"/>
                </a:spcBef>
                <a:spcAft>
                  <a:spcPts val="0"/>
                </a:spcAft>
                <a:buNone/>
              </a:pPr>
              <a:r>
                <a:t/>
              </a:r>
              <a:endParaRPr b="1" sz="1200">
                <a:latin typeface="Roboto"/>
                <a:ea typeface="Roboto"/>
                <a:cs typeface="Roboto"/>
                <a:sym typeface="Roboto"/>
              </a:endParaRPr>
            </a:p>
            <a:p>
              <a:pPr indent="0" lvl="0" marL="0" rtl="0" algn="l">
                <a:spcBef>
                  <a:spcPts val="0"/>
                </a:spcBef>
                <a:spcAft>
                  <a:spcPts val="1600"/>
                </a:spcAft>
                <a:buNone/>
              </a:pPr>
              <a:r>
                <a:rPr lang="pl" sz="1200">
                  <a:latin typeface="Roboto"/>
                  <a:ea typeface="Roboto"/>
                  <a:cs typeface="Roboto"/>
                  <a:sym typeface="Roboto"/>
                </a:rPr>
                <a:t>Compute the relative frequency of melanoma colors within the lesion, then return the number of melanoma colors whose % is higher than 0.05%</a:t>
              </a:r>
              <a:endParaRPr b="1" sz="1200">
                <a:latin typeface="Roboto"/>
                <a:ea typeface="Roboto"/>
                <a:cs typeface="Roboto"/>
                <a:sym typeface="Roboto"/>
              </a:endParaRPr>
            </a:p>
          </p:txBody>
        </p:sp>
        <p:cxnSp>
          <p:nvCxnSpPr>
            <p:cNvPr id="819" name="Google Shape;819;p82"/>
            <p:cNvCxnSpPr/>
            <p:nvPr/>
          </p:nvCxnSpPr>
          <p:spPr>
            <a:xfrm>
              <a:off x="5209825" y="1705200"/>
              <a:ext cx="1286700" cy="0"/>
            </a:xfrm>
            <a:prstGeom prst="straightConnector1">
              <a:avLst/>
            </a:prstGeom>
            <a:noFill/>
            <a:ln cap="flat" cmpd="sng" w="9525">
              <a:solidFill>
                <a:srgbClr val="155B55"/>
              </a:solidFill>
              <a:prstDash val="solid"/>
              <a:round/>
              <a:headEnd len="sm" w="sm" type="none"/>
              <a:tailEnd len="med" w="med" type="oval"/>
            </a:ln>
          </p:spPr>
        </p:cxnSp>
      </p:grpSp>
      <p:grpSp>
        <p:nvGrpSpPr>
          <p:cNvPr id="820" name="Google Shape;820;p82"/>
          <p:cNvGrpSpPr/>
          <p:nvPr/>
        </p:nvGrpSpPr>
        <p:grpSpPr>
          <a:xfrm>
            <a:off x="5209825" y="3475275"/>
            <a:ext cx="3610650" cy="1289700"/>
            <a:chOff x="5209825" y="2993000"/>
            <a:chExt cx="3610650" cy="1289700"/>
          </a:xfrm>
        </p:grpSpPr>
        <p:sp>
          <p:nvSpPr>
            <p:cNvPr id="821" name="Google Shape;821;p82"/>
            <p:cNvSpPr txBox="1"/>
            <p:nvPr/>
          </p:nvSpPr>
          <p:spPr>
            <a:xfrm>
              <a:off x="6696475" y="2993000"/>
              <a:ext cx="2124000" cy="128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l" sz="1600">
                  <a:solidFill>
                    <a:schemeClr val="accent1"/>
                  </a:solidFill>
                  <a:latin typeface="Roboto"/>
                  <a:ea typeface="Roboto"/>
                  <a:cs typeface="Roboto"/>
                  <a:sym typeface="Roboto"/>
                </a:rPr>
                <a:t>Smallest Distance &amp; Selection</a:t>
              </a:r>
              <a:endParaRPr b="1" sz="1200">
                <a:latin typeface="Roboto"/>
                <a:ea typeface="Roboto"/>
                <a:cs typeface="Roboto"/>
                <a:sym typeface="Roboto"/>
              </a:endParaRPr>
            </a:p>
          </p:txBody>
        </p:sp>
        <p:cxnSp>
          <p:nvCxnSpPr>
            <p:cNvPr id="822" name="Google Shape;822;p82"/>
            <p:cNvCxnSpPr/>
            <p:nvPr/>
          </p:nvCxnSpPr>
          <p:spPr>
            <a:xfrm>
              <a:off x="5209825" y="3648300"/>
              <a:ext cx="1286700" cy="0"/>
            </a:xfrm>
            <a:prstGeom prst="straightConnector1">
              <a:avLst/>
            </a:prstGeom>
            <a:noFill/>
            <a:ln cap="flat" cmpd="sng" w="9525">
              <a:solidFill>
                <a:srgbClr val="1B786F"/>
              </a:solidFill>
              <a:prstDash val="solid"/>
              <a:round/>
              <a:headEnd len="sm" w="sm" type="none"/>
              <a:tailEnd len="med" w="med" type="oval"/>
            </a:ln>
          </p:spPr>
        </p:cxnSp>
      </p:gr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828" name="Google Shape;828;p83"/>
          <p:cNvSpPr txBox="1"/>
          <p:nvPr>
            <p:ph type="title"/>
          </p:nvPr>
        </p:nvSpPr>
        <p:spPr>
          <a:xfrm>
            <a:off x="311700" y="261250"/>
            <a:ext cx="8520600" cy="74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pl" sz="2720"/>
              <a:t>Number of Melanoma Colors: Better Approach</a:t>
            </a:r>
            <a:endParaRPr sz="1460"/>
          </a:p>
          <a:p>
            <a:pPr indent="0" lvl="0" marL="0" rtl="0" algn="ctr">
              <a:spcBef>
                <a:spcPts val="0"/>
              </a:spcBef>
              <a:spcAft>
                <a:spcPts val="0"/>
              </a:spcAft>
              <a:buSzPts val="990"/>
              <a:buNone/>
            </a:pPr>
            <a:r>
              <a:rPr lang="pl" sz="1460"/>
              <a:t>Avoid creativity &amp; follow Kasmi’s approach - work in RGB</a:t>
            </a:r>
            <a:endParaRPr sz="1460"/>
          </a:p>
        </p:txBody>
      </p:sp>
      <p:pic>
        <p:nvPicPr>
          <p:cNvPr id="829" name="Google Shape;829;p83" title="melanoma_colors.png"/>
          <p:cNvPicPr preferRelativeResize="0"/>
          <p:nvPr/>
        </p:nvPicPr>
        <p:blipFill>
          <a:blip r:embed="rId3">
            <a:alphaModFix/>
          </a:blip>
          <a:stretch>
            <a:fillRect/>
          </a:stretch>
        </p:blipFill>
        <p:spPr>
          <a:xfrm>
            <a:off x="1025425" y="1350175"/>
            <a:ext cx="7093149" cy="365457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835" name="Google Shape;835;p84"/>
          <p:cNvSpPr txBox="1"/>
          <p:nvPr>
            <p:ph type="title"/>
          </p:nvPr>
        </p:nvSpPr>
        <p:spPr>
          <a:xfrm>
            <a:off x="4467900" y="375900"/>
            <a:ext cx="4449300" cy="4391700"/>
          </a:xfrm>
          <a:prstGeom prst="rect">
            <a:avLst/>
          </a:prstGeom>
        </p:spPr>
        <p:txBody>
          <a:bodyPr anchorCtr="0" anchor="t" bIns="91425" lIns="91425" spcFirstLastPara="1" rIns="91425" wrap="square" tIns="91425">
            <a:normAutofit/>
          </a:bodyPr>
          <a:lstStyle/>
          <a:p>
            <a:pPr indent="-353695" lvl="0" marL="457200" rtl="0" algn="l">
              <a:spcBef>
                <a:spcPts val="0"/>
              </a:spcBef>
              <a:spcAft>
                <a:spcPts val="0"/>
              </a:spcAft>
              <a:buClr>
                <a:schemeClr val="accent1"/>
              </a:buClr>
              <a:buSzPts val="1970"/>
              <a:buChar char="➔"/>
            </a:pPr>
            <a:r>
              <a:rPr lang="pl" sz="1970">
                <a:solidFill>
                  <a:schemeClr val="accent1"/>
                </a:solidFill>
              </a:rPr>
              <a:t>Entropy quantifies how spread out or unpredictable the hue values are in the image.</a:t>
            </a:r>
            <a:endParaRPr sz="1970">
              <a:solidFill>
                <a:schemeClr val="accent1"/>
              </a:solidFill>
            </a:endParaRPr>
          </a:p>
          <a:p>
            <a:pPr indent="0" lvl="0" marL="1371600" rtl="0" algn="l">
              <a:spcBef>
                <a:spcPts val="0"/>
              </a:spcBef>
              <a:spcAft>
                <a:spcPts val="0"/>
              </a:spcAft>
              <a:buSzPts val="990"/>
              <a:buNone/>
            </a:pPr>
            <a:r>
              <a:t/>
            </a:r>
            <a:endParaRPr sz="1970">
              <a:solidFill>
                <a:schemeClr val="accent1"/>
              </a:solidFill>
            </a:endParaRPr>
          </a:p>
          <a:p>
            <a:pPr indent="-353695" lvl="0" marL="457200" rtl="0" algn="l">
              <a:spcBef>
                <a:spcPts val="0"/>
              </a:spcBef>
              <a:spcAft>
                <a:spcPts val="0"/>
              </a:spcAft>
              <a:buClr>
                <a:schemeClr val="accent1"/>
              </a:buClr>
              <a:buSzPts val="1970"/>
              <a:buChar char="➔"/>
            </a:pPr>
            <a:r>
              <a:rPr lang="pl" sz="1970">
                <a:solidFill>
                  <a:schemeClr val="accent1"/>
                </a:solidFill>
              </a:rPr>
              <a:t>If all pixels have the same hue (color), entropy is low (close to 0).</a:t>
            </a:r>
            <a:endParaRPr sz="1970">
              <a:solidFill>
                <a:schemeClr val="accent1"/>
              </a:solidFill>
            </a:endParaRPr>
          </a:p>
          <a:p>
            <a:pPr indent="0" lvl="0" marL="1371600" rtl="0" algn="l">
              <a:spcBef>
                <a:spcPts val="0"/>
              </a:spcBef>
              <a:spcAft>
                <a:spcPts val="0"/>
              </a:spcAft>
              <a:buSzPts val="990"/>
              <a:buNone/>
            </a:pPr>
            <a:r>
              <a:t/>
            </a:r>
            <a:endParaRPr sz="1970">
              <a:solidFill>
                <a:schemeClr val="accent1"/>
              </a:solidFill>
            </a:endParaRPr>
          </a:p>
          <a:p>
            <a:pPr indent="-353695" lvl="0" marL="457200" rtl="0" algn="l">
              <a:spcBef>
                <a:spcPts val="0"/>
              </a:spcBef>
              <a:spcAft>
                <a:spcPts val="0"/>
              </a:spcAft>
              <a:buClr>
                <a:schemeClr val="accent1"/>
              </a:buClr>
              <a:buSzPts val="1970"/>
              <a:buChar char="➔"/>
            </a:pPr>
            <a:r>
              <a:rPr lang="pl" sz="1970">
                <a:solidFill>
                  <a:schemeClr val="accent1"/>
                </a:solidFill>
              </a:rPr>
              <a:t>If pixels are evenly spread across many hues, entropy is high.</a:t>
            </a:r>
            <a:endParaRPr sz="1970">
              <a:solidFill>
                <a:schemeClr val="accent1"/>
              </a:solidFill>
            </a:endParaRPr>
          </a:p>
          <a:p>
            <a:pPr indent="0" lvl="0" marL="914400" rtl="0" algn="l">
              <a:spcBef>
                <a:spcPts val="0"/>
              </a:spcBef>
              <a:spcAft>
                <a:spcPts val="0"/>
              </a:spcAft>
              <a:buSzPts val="990"/>
              <a:buNone/>
            </a:pPr>
            <a:r>
              <a:t/>
            </a:r>
            <a:endParaRPr sz="1970">
              <a:solidFill>
                <a:schemeClr val="accent1"/>
              </a:solidFill>
            </a:endParaRPr>
          </a:p>
          <a:p>
            <a:pPr indent="-353695" lvl="0" marL="457200" rtl="0" algn="l">
              <a:spcBef>
                <a:spcPts val="0"/>
              </a:spcBef>
              <a:spcAft>
                <a:spcPts val="0"/>
              </a:spcAft>
              <a:buClr>
                <a:schemeClr val="accent1"/>
              </a:buClr>
              <a:buSzPts val="1970"/>
              <a:buChar char="➔"/>
            </a:pPr>
            <a:r>
              <a:rPr lang="pl" sz="1970">
                <a:solidFill>
                  <a:schemeClr val="accent1"/>
                </a:solidFill>
              </a:rPr>
              <a:t>Entropy ranges from 0 to ln(N), where N=bins</a:t>
            </a:r>
            <a:endParaRPr sz="1970">
              <a:solidFill>
                <a:schemeClr val="accent1"/>
              </a:solidFill>
            </a:endParaRPr>
          </a:p>
        </p:txBody>
      </p:sp>
      <p:sp>
        <p:nvSpPr>
          <p:cNvPr id="836" name="Google Shape;836;p84"/>
          <p:cNvSpPr/>
          <p:nvPr/>
        </p:nvSpPr>
        <p:spPr>
          <a:xfrm>
            <a:off x="8875" y="0"/>
            <a:ext cx="4312200" cy="5143500"/>
          </a:xfrm>
          <a:prstGeom prst="rect">
            <a:avLst/>
          </a:prstGeom>
          <a:solidFill>
            <a:srgbClr val="3139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37" name="Google Shape;837;p84"/>
          <p:cNvSpPr txBox="1"/>
          <p:nvPr>
            <p:ph type="title"/>
          </p:nvPr>
        </p:nvSpPr>
        <p:spPr>
          <a:xfrm>
            <a:off x="311725" y="424725"/>
            <a:ext cx="3706500" cy="250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sz="3600"/>
              <a:t>Hue Entropy:</a:t>
            </a:r>
            <a:endParaRPr sz="3600"/>
          </a:p>
          <a:p>
            <a:pPr indent="0" lvl="0" marL="0" rtl="0" algn="ctr">
              <a:spcBef>
                <a:spcPts val="0"/>
              </a:spcBef>
              <a:spcAft>
                <a:spcPts val="0"/>
              </a:spcAft>
              <a:buNone/>
            </a:pPr>
            <a:r>
              <a:rPr lang="pl" sz="3600"/>
              <a:t>Insights</a:t>
            </a:r>
            <a:endParaRPr sz="3600"/>
          </a:p>
        </p:txBody>
      </p:sp>
      <p:pic>
        <p:nvPicPr>
          <p:cNvPr id="838" name="Google Shape;838;p84"/>
          <p:cNvPicPr preferRelativeResize="0"/>
          <p:nvPr/>
        </p:nvPicPr>
        <p:blipFill>
          <a:blip r:embed="rId3">
            <a:alphaModFix/>
          </a:blip>
          <a:stretch>
            <a:fillRect/>
          </a:stretch>
        </p:blipFill>
        <p:spPr>
          <a:xfrm>
            <a:off x="619875" y="1847075"/>
            <a:ext cx="3090200" cy="3090200"/>
          </a:xfrm>
          <a:prstGeom prst="rect">
            <a:avLst/>
          </a:prstGeom>
          <a:noFill/>
          <a:ln>
            <a:noFill/>
          </a:ln>
          <a:effectLst>
            <a:outerShdw blurRad="57150" rotWithShape="0" algn="bl" dir="5400000" dist="19050">
              <a:schemeClr val="lt1">
                <a:alpha val="50000"/>
              </a:schemeClr>
            </a:outerShdw>
          </a:effectLst>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85"/>
          <p:cNvSpPr txBox="1"/>
          <p:nvPr>
            <p:ph type="title"/>
          </p:nvPr>
        </p:nvSpPr>
        <p:spPr>
          <a:xfrm>
            <a:off x="311688" y="3703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Border and Asymmetry Limitations</a:t>
            </a:r>
            <a:endParaRPr/>
          </a:p>
        </p:txBody>
      </p:sp>
      <p:sp>
        <p:nvSpPr>
          <p:cNvPr id="844" name="Google Shape;844;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845" name="Google Shape;845;p85" title="correlation.png"/>
          <p:cNvPicPr preferRelativeResize="0"/>
          <p:nvPr/>
        </p:nvPicPr>
        <p:blipFill>
          <a:blip r:embed="rId3">
            <a:alphaModFix/>
          </a:blip>
          <a:stretch>
            <a:fillRect/>
          </a:stretch>
        </p:blipFill>
        <p:spPr>
          <a:xfrm>
            <a:off x="2088487" y="1347275"/>
            <a:ext cx="4967024" cy="37095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86"/>
          <p:cNvSpPr txBox="1"/>
          <p:nvPr>
            <p:ph type="title"/>
          </p:nvPr>
        </p:nvSpPr>
        <p:spPr>
          <a:xfrm>
            <a:off x="311700" y="374700"/>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            No A and B                           With A and B</a:t>
            </a:r>
            <a:endParaRPr/>
          </a:p>
        </p:txBody>
      </p:sp>
      <p:sp>
        <p:nvSpPr>
          <p:cNvPr id="851" name="Google Shape;851;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852" name="Google Shape;852;p86"/>
          <p:cNvPicPr preferRelativeResize="0"/>
          <p:nvPr/>
        </p:nvPicPr>
        <p:blipFill>
          <a:blip r:embed="rId3">
            <a:alphaModFix/>
          </a:blip>
          <a:stretch>
            <a:fillRect/>
          </a:stretch>
        </p:blipFill>
        <p:spPr>
          <a:xfrm>
            <a:off x="311694" y="1520350"/>
            <a:ext cx="4081057" cy="3142875"/>
          </a:xfrm>
          <a:prstGeom prst="rect">
            <a:avLst/>
          </a:prstGeom>
          <a:noFill/>
          <a:ln>
            <a:noFill/>
          </a:ln>
          <a:effectLst>
            <a:outerShdw blurRad="57150" rotWithShape="0" algn="bl" dir="5400000" dist="19050">
              <a:srgbClr val="000000">
                <a:alpha val="50000"/>
              </a:srgbClr>
            </a:outerShdw>
          </a:effectLst>
        </p:spPr>
      </p:pic>
      <p:pic>
        <p:nvPicPr>
          <p:cNvPr id="853" name="Google Shape;853;p86"/>
          <p:cNvPicPr preferRelativeResize="0"/>
          <p:nvPr/>
        </p:nvPicPr>
        <p:blipFill>
          <a:blip r:embed="rId4">
            <a:alphaModFix/>
          </a:blip>
          <a:stretch>
            <a:fillRect/>
          </a:stretch>
        </p:blipFill>
        <p:spPr>
          <a:xfrm>
            <a:off x="4719949" y="1520350"/>
            <a:ext cx="4039551" cy="314287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87"/>
          <p:cNvSpPr txBox="1"/>
          <p:nvPr>
            <p:ph type="title"/>
          </p:nvPr>
        </p:nvSpPr>
        <p:spPr>
          <a:xfrm>
            <a:off x="311713" y="4091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         No border and stds            No </a:t>
            </a:r>
            <a:r>
              <a:rPr lang="pl"/>
              <a:t>asymmetry</a:t>
            </a:r>
            <a:r>
              <a:rPr lang="pl"/>
              <a:t> and stds</a:t>
            </a:r>
            <a:endParaRPr/>
          </a:p>
        </p:txBody>
      </p:sp>
      <p:sp>
        <p:nvSpPr>
          <p:cNvPr id="859" name="Google Shape;859;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860" name="Google Shape;860;p87"/>
          <p:cNvPicPr preferRelativeResize="0"/>
          <p:nvPr/>
        </p:nvPicPr>
        <p:blipFill>
          <a:blip r:embed="rId3">
            <a:alphaModFix/>
          </a:blip>
          <a:stretch>
            <a:fillRect/>
          </a:stretch>
        </p:blipFill>
        <p:spPr>
          <a:xfrm>
            <a:off x="484435" y="1603050"/>
            <a:ext cx="3848624" cy="2959150"/>
          </a:xfrm>
          <a:prstGeom prst="rect">
            <a:avLst/>
          </a:prstGeom>
          <a:noFill/>
          <a:ln>
            <a:noFill/>
          </a:ln>
          <a:effectLst>
            <a:outerShdw blurRad="57150" rotWithShape="0" algn="bl" dir="5400000" dist="19050">
              <a:srgbClr val="000000">
                <a:alpha val="50000"/>
              </a:srgbClr>
            </a:outerShdw>
          </a:effectLst>
        </p:spPr>
      </p:pic>
      <p:pic>
        <p:nvPicPr>
          <p:cNvPr id="861" name="Google Shape;861;p87"/>
          <p:cNvPicPr preferRelativeResize="0"/>
          <p:nvPr/>
        </p:nvPicPr>
        <p:blipFill>
          <a:blip r:embed="rId4">
            <a:alphaModFix/>
          </a:blip>
          <a:stretch>
            <a:fillRect/>
          </a:stretch>
        </p:blipFill>
        <p:spPr>
          <a:xfrm>
            <a:off x="4744723" y="1603050"/>
            <a:ext cx="3914838" cy="295914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8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l" sz="2020"/>
              <a:t>Hair removal changed + hair feature           </a:t>
            </a:r>
            <a:r>
              <a:rPr lang="pl" sz="2020"/>
              <a:t>Hair removal changed </a:t>
            </a:r>
            <a:endParaRPr sz="2020"/>
          </a:p>
        </p:txBody>
      </p:sp>
      <p:sp>
        <p:nvSpPr>
          <p:cNvPr id="867" name="Google Shape;867;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868" name="Google Shape;868;p88"/>
          <p:cNvPicPr preferRelativeResize="0"/>
          <p:nvPr/>
        </p:nvPicPr>
        <p:blipFill>
          <a:blip r:embed="rId3">
            <a:alphaModFix/>
          </a:blip>
          <a:stretch>
            <a:fillRect/>
          </a:stretch>
        </p:blipFill>
        <p:spPr>
          <a:xfrm>
            <a:off x="5705600" y="1560750"/>
            <a:ext cx="3126726" cy="2351974"/>
          </a:xfrm>
          <a:prstGeom prst="rect">
            <a:avLst/>
          </a:prstGeom>
          <a:noFill/>
          <a:ln>
            <a:noFill/>
          </a:ln>
        </p:spPr>
      </p:pic>
      <p:sp>
        <p:nvSpPr>
          <p:cNvPr id="869" name="Google Shape;869;p88"/>
          <p:cNvSpPr txBox="1"/>
          <p:nvPr/>
        </p:nvSpPr>
        <p:spPr>
          <a:xfrm>
            <a:off x="6089900" y="4020425"/>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a:t>Best performance:</a:t>
            </a:r>
            <a:endParaRPr/>
          </a:p>
          <a:p>
            <a:pPr indent="0" lvl="0" marL="0" rtl="0" algn="l">
              <a:spcBef>
                <a:spcPts val="0"/>
              </a:spcBef>
              <a:spcAft>
                <a:spcPts val="0"/>
              </a:spcAft>
              <a:buNone/>
            </a:pPr>
            <a:r>
              <a:rPr lang="pl"/>
              <a:t>Tree depth: 3.0</a:t>
            </a:r>
            <a:endParaRPr/>
          </a:p>
          <a:p>
            <a:pPr indent="0" lvl="0" marL="0" rtl="0" algn="l">
              <a:spcBef>
                <a:spcPts val="0"/>
              </a:spcBef>
              <a:spcAft>
                <a:spcPts val="0"/>
              </a:spcAft>
              <a:buNone/>
            </a:pPr>
            <a:r>
              <a:rPr lang="pl"/>
              <a:t>Mean AUC: 0.7028 ± 0.0315</a:t>
            </a:r>
            <a:endParaRPr/>
          </a:p>
        </p:txBody>
      </p:sp>
      <p:pic>
        <p:nvPicPr>
          <p:cNvPr id="870" name="Google Shape;870;p88"/>
          <p:cNvPicPr preferRelativeResize="0"/>
          <p:nvPr/>
        </p:nvPicPr>
        <p:blipFill>
          <a:blip r:embed="rId4">
            <a:alphaModFix/>
          </a:blip>
          <a:stretch>
            <a:fillRect/>
          </a:stretch>
        </p:blipFill>
        <p:spPr>
          <a:xfrm>
            <a:off x="1148618" y="1560750"/>
            <a:ext cx="3087831" cy="2351975"/>
          </a:xfrm>
          <a:prstGeom prst="rect">
            <a:avLst/>
          </a:prstGeom>
          <a:noFill/>
          <a:ln>
            <a:noFill/>
          </a:ln>
        </p:spPr>
      </p:pic>
      <p:sp>
        <p:nvSpPr>
          <p:cNvPr id="871" name="Google Shape;871;p88"/>
          <p:cNvSpPr txBox="1"/>
          <p:nvPr/>
        </p:nvSpPr>
        <p:spPr>
          <a:xfrm>
            <a:off x="1519950" y="3805025"/>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pl"/>
              <a:t>Best performance:</a:t>
            </a:r>
            <a:endParaRPr/>
          </a:p>
          <a:p>
            <a:pPr indent="0" lvl="0" marL="0" rtl="0" algn="l">
              <a:spcBef>
                <a:spcPts val="0"/>
              </a:spcBef>
              <a:spcAft>
                <a:spcPts val="0"/>
              </a:spcAft>
              <a:buNone/>
            </a:pPr>
            <a:r>
              <a:rPr lang="pl"/>
              <a:t>Tree depth: 3.0</a:t>
            </a:r>
            <a:endParaRPr/>
          </a:p>
          <a:p>
            <a:pPr indent="0" lvl="0" marL="0" rtl="0" algn="l">
              <a:spcBef>
                <a:spcPts val="0"/>
              </a:spcBef>
              <a:spcAft>
                <a:spcPts val="0"/>
              </a:spcAft>
              <a:buNone/>
            </a:pPr>
            <a:r>
              <a:rPr lang="pl"/>
              <a:t>Mean AUC: 0.6995 ± 0.0310</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89"/>
          <p:cNvSpPr txBox="1"/>
          <p:nvPr>
            <p:ph type="title"/>
          </p:nvPr>
        </p:nvSpPr>
        <p:spPr>
          <a:xfrm>
            <a:off x="311700" y="4091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Evaluation on all features model, depth = 3</a:t>
            </a:r>
            <a:endParaRPr/>
          </a:p>
        </p:txBody>
      </p:sp>
      <p:sp>
        <p:nvSpPr>
          <p:cNvPr id="877" name="Google Shape;877;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878" name="Google Shape;878;p89"/>
          <p:cNvSpPr txBox="1"/>
          <p:nvPr/>
        </p:nvSpPr>
        <p:spPr>
          <a:xfrm>
            <a:off x="1503075" y="3666444"/>
            <a:ext cx="30000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p>
          <a:p>
            <a:pPr indent="0" lvl="0" marL="0" rtl="0" algn="l">
              <a:spcBef>
                <a:spcPts val="0"/>
              </a:spcBef>
              <a:spcAft>
                <a:spcPts val="0"/>
              </a:spcAft>
              <a:buNone/>
            </a:pPr>
            <a:r>
              <a:rPr b="1" lang="pl" sz="1200"/>
              <a:t>Accuracy:  0.6692 </a:t>
            </a:r>
            <a:endParaRPr b="1" sz="1200"/>
          </a:p>
          <a:p>
            <a:pPr indent="0" lvl="0" marL="0" rtl="0" algn="l">
              <a:spcBef>
                <a:spcPts val="0"/>
              </a:spcBef>
              <a:spcAft>
                <a:spcPts val="0"/>
              </a:spcAft>
              <a:buNone/>
            </a:pPr>
            <a:r>
              <a:rPr b="1" lang="pl" sz="1200"/>
              <a:t>Recall: 0.6865</a:t>
            </a:r>
            <a:endParaRPr b="1" sz="1200"/>
          </a:p>
          <a:p>
            <a:pPr indent="0" lvl="0" marL="0" rtl="0" algn="l">
              <a:spcBef>
                <a:spcPts val="0"/>
              </a:spcBef>
              <a:spcAft>
                <a:spcPts val="0"/>
              </a:spcAft>
              <a:buNone/>
            </a:pPr>
            <a:r>
              <a:rPr b="1" lang="pl" sz="1200"/>
              <a:t>AUC: 0.7100 </a:t>
            </a:r>
            <a:endParaRPr b="1" sz="1200"/>
          </a:p>
          <a:p>
            <a:pPr indent="0" lvl="0" marL="0" rtl="0" algn="l">
              <a:spcBef>
                <a:spcPts val="0"/>
              </a:spcBef>
              <a:spcAft>
                <a:spcPts val="0"/>
              </a:spcAft>
              <a:buNone/>
            </a:pPr>
            <a:r>
              <a:rPr b="1" lang="pl" sz="1200"/>
              <a:t>Precision: 0.6414</a:t>
            </a:r>
            <a:endParaRPr b="1" sz="1200"/>
          </a:p>
          <a:p>
            <a:pPr indent="0" lvl="0" marL="0" rtl="0" algn="l">
              <a:spcBef>
                <a:spcPts val="0"/>
              </a:spcBef>
              <a:spcAft>
                <a:spcPts val="0"/>
              </a:spcAft>
              <a:buNone/>
            </a:pPr>
            <a:r>
              <a:rPr b="1" lang="pl" sz="1200"/>
              <a:t>F1 Score: 0.6632</a:t>
            </a:r>
            <a:endParaRPr b="1" sz="1200"/>
          </a:p>
          <a:p>
            <a:pPr indent="0" lvl="0" marL="0" rtl="0" algn="l">
              <a:spcBef>
                <a:spcPts val="0"/>
              </a:spcBef>
              <a:spcAft>
                <a:spcPts val="0"/>
              </a:spcAft>
              <a:buNone/>
            </a:pPr>
            <a:r>
              <a:t/>
            </a:r>
            <a:endParaRPr b="1"/>
          </a:p>
        </p:txBody>
      </p:sp>
      <p:pic>
        <p:nvPicPr>
          <p:cNvPr id="879" name="Google Shape;879;p89"/>
          <p:cNvPicPr preferRelativeResize="0"/>
          <p:nvPr/>
        </p:nvPicPr>
        <p:blipFill>
          <a:blip r:embed="rId3">
            <a:alphaModFix/>
          </a:blip>
          <a:stretch>
            <a:fillRect/>
          </a:stretch>
        </p:blipFill>
        <p:spPr>
          <a:xfrm>
            <a:off x="643675" y="1468250"/>
            <a:ext cx="2825599" cy="2363850"/>
          </a:xfrm>
          <a:prstGeom prst="rect">
            <a:avLst/>
          </a:prstGeom>
          <a:noFill/>
          <a:ln>
            <a:noFill/>
          </a:ln>
        </p:spPr>
      </p:pic>
      <p:pic>
        <p:nvPicPr>
          <p:cNvPr id="880" name="Google Shape;880;p89"/>
          <p:cNvPicPr preferRelativeResize="0"/>
          <p:nvPr/>
        </p:nvPicPr>
        <p:blipFill>
          <a:blip r:embed="rId4">
            <a:alphaModFix/>
          </a:blip>
          <a:stretch>
            <a:fillRect/>
          </a:stretch>
        </p:blipFill>
        <p:spPr>
          <a:xfrm>
            <a:off x="3469275" y="1708773"/>
            <a:ext cx="5437333" cy="2709838"/>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90"/>
          <p:cNvSpPr txBox="1"/>
          <p:nvPr>
            <p:ph type="title"/>
          </p:nvPr>
        </p:nvSpPr>
        <p:spPr>
          <a:xfrm>
            <a:off x="44700" y="374700"/>
            <a:ext cx="9054600" cy="62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Decision tree on test data - no border and stds, depth = 3</a:t>
            </a:r>
            <a:endParaRPr/>
          </a:p>
        </p:txBody>
      </p:sp>
      <p:sp>
        <p:nvSpPr>
          <p:cNvPr id="886" name="Google Shape;886;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887" name="Google Shape;887;p90"/>
          <p:cNvPicPr preferRelativeResize="0"/>
          <p:nvPr/>
        </p:nvPicPr>
        <p:blipFill>
          <a:blip r:embed="rId3">
            <a:alphaModFix/>
          </a:blip>
          <a:stretch>
            <a:fillRect/>
          </a:stretch>
        </p:blipFill>
        <p:spPr>
          <a:xfrm>
            <a:off x="152400" y="1277025"/>
            <a:ext cx="2801306" cy="2342300"/>
          </a:xfrm>
          <a:prstGeom prst="rect">
            <a:avLst/>
          </a:prstGeom>
          <a:noFill/>
          <a:ln>
            <a:noFill/>
          </a:ln>
        </p:spPr>
      </p:pic>
      <p:pic>
        <p:nvPicPr>
          <p:cNvPr id="888" name="Google Shape;888;p90"/>
          <p:cNvPicPr preferRelativeResize="0"/>
          <p:nvPr/>
        </p:nvPicPr>
        <p:blipFill>
          <a:blip r:embed="rId4">
            <a:alphaModFix/>
          </a:blip>
          <a:stretch>
            <a:fillRect/>
          </a:stretch>
        </p:blipFill>
        <p:spPr>
          <a:xfrm>
            <a:off x="3215200" y="1277025"/>
            <a:ext cx="5776399" cy="2979974"/>
          </a:xfrm>
          <a:prstGeom prst="rect">
            <a:avLst/>
          </a:prstGeom>
          <a:noFill/>
          <a:ln>
            <a:noFill/>
          </a:ln>
        </p:spPr>
      </p:pic>
      <p:sp>
        <p:nvSpPr>
          <p:cNvPr id="889" name="Google Shape;889;p90"/>
          <p:cNvSpPr txBox="1"/>
          <p:nvPr/>
        </p:nvSpPr>
        <p:spPr>
          <a:xfrm>
            <a:off x="946725" y="3733400"/>
            <a:ext cx="300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l" sz="1200"/>
              <a:t>Accuracy:  0.6692 </a:t>
            </a:r>
            <a:endParaRPr b="1" sz="1200"/>
          </a:p>
          <a:p>
            <a:pPr indent="0" lvl="0" marL="0" rtl="0" algn="l">
              <a:spcBef>
                <a:spcPts val="0"/>
              </a:spcBef>
              <a:spcAft>
                <a:spcPts val="0"/>
              </a:spcAft>
              <a:buNone/>
            </a:pPr>
            <a:r>
              <a:rPr b="1" lang="pl" sz="1200"/>
              <a:t>Recall: 0.7135  </a:t>
            </a:r>
            <a:endParaRPr b="1" sz="1200"/>
          </a:p>
          <a:p>
            <a:pPr indent="0" lvl="0" marL="0" rtl="0" algn="l">
              <a:spcBef>
                <a:spcPts val="0"/>
              </a:spcBef>
              <a:spcAft>
                <a:spcPts val="0"/>
              </a:spcAft>
              <a:buNone/>
            </a:pPr>
            <a:r>
              <a:rPr b="1" lang="pl" sz="1200"/>
              <a:t>AUC: 0.7166 </a:t>
            </a:r>
            <a:endParaRPr b="1" sz="1200"/>
          </a:p>
          <a:p>
            <a:pPr indent="0" lvl="0" marL="0" rtl="0" algn="l">
              <a:spcBef>
                <a:spcPts val="0"/>
              </a:spcBef>
              <a:spcAft>
                <a:spcPts val="0"/>
              </a:spcAft>
              <a:buNone/>
            </a:pPr>
            <a:r>
              <a:rPr b="1" lang="pl" sz="1200"/>
              <a:t>Precision: 0.6346 </a:t>
            </a:r>
            <a:endParaRPr b="1" sz="1200"/>
          </a:p>
          <a:p>
            <a:pPr indent="0" lvl="0" marL="0" rtl="0" algn="l">
              <a:spcBef>
                <a:spcPts val="0"/>
              </a:spcBef>
              <a:spcAft>
                <a:spcPts val="0"/>
              </a:spcAft>
              <a:buNone/>
            </a:pPr>
            <a:r>
              <a:rPr b="1" lang="pl" sz="1200"/>
              <a:t>F1 Score: 0.6718</a:t>
            </a:r>
            <a:endParaRPr b="1" sz="12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9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                        Most important features</a:t>
            </a:r>
            <a:endParaRPr/>
          </a:p>
        </p:txBody>
      </p:sp>
      <p:sp>
        <p:nvSpPr>
          <p:cNvPr id="895" name="Google Shape;895;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896" name="Google Shape;896;p91"/>
          <p:cNvPicPr preferRelativeResize="0"/>
          <p:nvPr/>
        </p:nvPicPr>
        <p:blipFill>
          <a:blip r:embed="rId3">
            <a:alphaModFix/>
          </a:blip>
          <a:stretch>
            <a:fillRect/>
          </a:stretch>
        </p:blipFill>
        <p:spPr>
          <a:xfrm>
            <a:off x="1505225" y="1342750"/>
            <a:ext cx="5668623" cy="371407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92"/>
          <p:cNvSpPr txBox="1"/>
          <p:nvPr>
            <p:ph type="title"/>
          </p:nvPr>
        </p:nvSpPr>
        <p:spPr>
          <a:xfrm>
            <a:off x="311700" y="3520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Hair Removal</a:t>
            </a:r>
            <a:endParaRPr/>
          </a:p>
        </p:txBody>
      </p:sp>
      <p:sp>
        <p:nvSpPr>
          <p:cNvPr id="902" name="Google Shape;902;p92"/>
          <p:cNvSpPr txBox="1"/>
          <p:nvPr/>
        </p:nvSpPr>
        <p:spPr>
          <a:xfrm>
            <a:off x="374350" y="1426800"/>
            <a:ext cx="3000000" cy="132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pl" sz="1300"/>
              <a:t>Challenges Encountered</a:t>
            </a:r>
            <a:endParaRPr b="1" sz="1300"/>
          </a:p>
          <a:p>
            <a:pPr indent="-298450" lvl="0" marL="457200" rtl="0" algn="l">
              <a:lnSpc>
                <a:spcPct val="115000"/>
              </a:lnSpc>
              <a:spcBef>
                <a:spcPts val="1200"/>
              </a:spcBef>
              <a:spcAft>
                <a:spcPts val="0"/>
              </a:spcAft>
              <a:buSzPts val="1100"/>
              <a:buChar char="●"/>
            </a:pPr>
            <a:r>
              <a:rPr b="1" lang="pl" sz="1100"/>
              <a:t>Light-colored hair </a:t>
            </a:r>
            <a:endParaRPr b="1" sz="1100"/>
          </a:p>
          <a:p>
            <a:pPr indent="-298450" lvl="0" marL="457200" rtl="0" algn="l">
              <a:lnSpc>
                <a:spcPct val="115000"/>
              </a:lnSpc>
              <a:spcBef>
                <a:spcPts val="0"/>
              </a:spcBef>
              <a:spcAft>
                <a:spcPts val="0"/>
              </a:spcAft>
              <a:buSzPts val="1100"/>
              <a:buChar char="●"/>
            </a:pPr>
            <a:r>
              <a:rPr b="1" lang="pl" sz="1100"/>
              <a:t>Uneven lighting </a:t>
            </a:r>
            <a:endParaRPr b="1" sz="1100"/>
          </a:p>
          <a:p>
            <a:pPr indent="-298450" lvl="0" marL="457200" rtl="0" algn="l">
              <a:lnSpc>
                <a:spcPct val="115000"/>
              </a:lnSpc>
              <a:spcBef>
                <a:spcPts val="0"/>
              </a:spcBef>
              <a:spcAft>
                <a:spcPts val="0"/>
              </a:spcAft>
              <a:buSzPts val="1100"/>
              <a:buChar char="●"/>
            </a:pPr>
            <a:r>
              <a:rPr b="1" lang="pl" sz="1100"/>
              <a:t>Retained artifacts </a:t>
            </a:r>
            <a:endParaRPr b="1" sz="1100"/>
          </a:p>
          <a:p>
            <a:pPr indent="-298450" lvl="0" marL="457200" rtl="0" algn="l">
              <a:lnSpc>
                <a:spcPct val="115000"/>
              </a:lnSpc>
              <a:spcBef>
                <a:spcPts val="0"/>
              </a:spcBef>
              <a:spcAft>
                <a:spcPts val="0"/>
              </a:spcAft>
              <a:buSzPts val="1100"/>
              <a:buChar char="●"/>
            </a:pPr>
            <a:r>
              <a:rPr b="1" lang="pl" sz="1100"/>
              <a:t>Blurred lesion </a:t>
            </a:r>
            <a:endParaRPr b="1" sz="1300"/>
          </a:p>
        </p:txBody>
      </p:sp>
      <p:cxnSp>
        <p:nvCxnSpPr>
          <p:cNvPr id="903" name="Google Shape;903;p92"/>
          <p:cNvCxnSpPr/>
          <p:nvPr/>
        </p:nvCxnSpPr>
        <p:spPr>
          <a:xfrm flipH="1" rot="10800000">
            <a:off x="2825350" y="2348950"/>
            <a:ext cx="1178700" cy="10200"/>
          </a:xfrm>
          <a:prstGeom prst="straightConnector1">
            <a:avLst/>
          </a:prstGeom>
          <a:noFill/>
          <a:ln cap="flat" cmpd="sng" w="9525">
            <a:solidFill>
              <a:schemeClr val="dk2"/>
            </a:solidFill>
            <a:prstDash val="solid"/>
            <a:round/>
            <a:headEnd len="med" w="med" type="none"/>
            <a:tailEnd len="med" w="med" type="triangle"/>
          </a:ln>
        </p:spPr>
      </p:cxnSp>
      <p:sp>
        <p:nvSpPr>
          <p:cNvPr id="904" name="Google Shape;904;p92"/>
          <p:cNvSpPr txBox="1"/>
          <p:nvPr/>
        </p:nvSpPr>
        <p:spPr>
          <a:xfrm>
            <a:off x="4492050" y="1667950"/>
            <a:ext cx="4187400" cy="163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pl" sz="1300"/>
              <a:t>Improvements Implemented</a:t>
            </a:r>
            <a:endParaRPr b="1" sz="1300"/>
          </a:p>
          <a:p>
            <a:pPr indent="-298450" lvl="0" marL="457200" rtl="0" algn="l">
              <a:lnSpc>
                <a:spcPct val="100000"/>
              </a:lnSpc>
              <a:spcBef>
                <a:spcPts val="400"/>
              </a:spcBef>
              <a:spcAft>
                <a:spcPts val="0"/>
              </a:spcAft>
              <a:buSzPts val="1100"/>
              <a:buChar char="●"/>
            </a:pPr>
            <a:r>
              <a:rPr b="1" lang="pl" sz="1100"/>
              <a:t>Image enhancement </a:t>
            </a:r>
            <a:r>
              <a:rPr lang="pl" sz="1100"/>
              <a:t>(same as in hair feature)</a:t>
            </a:r>
            <a:endParaRPr sz="1100"/>
          </a:p>
          <a:p>
            <a:pPr indent="-298450" lvl="0" marL="457200" rtl="0" algn="l">
              <a:lnSpc>
                <a:spcPct val="100000"/>
              </a:lnSpc>
              <a:spcBef>
                <a:spcPts val="1200"/>
              </a:spcBef>
              <a:spcAft>
                <a:spcPts val="0"/>
              </a:spcAft>
              <a:buSzPts val="1100"/>
              <a:buChar char="●"/>
            </a:pPr>
            <a:r>
              <a:rPr b="1" lang="pl" sz="1100"/>
              <a:t>Combined</a:t>
            </a:r>
            <a:r>
              <a:rPr lang="pl" sz="1100"/>
              <a:t> </a:t>
            </a:r>
            <a:r>
              <a:rPr b="1" lang="pl" sz="1100"/>
              <a:t>Blackhat</a:t>
            </a:r>
            <a:r>
              <a:rPr lang="pl" sz="1100"/>
              <a:t> and </a:t>
            </a:r>
            <a:r>
              <a:rPr b="1" lang="pl" sz="1100"/>
              <a:t>Tophat</a:t>
            </a:r>
            <a:r>
              <a:rPr lang="pl" sz="1100"/>
              <a:t>: 60/40 ratio</a:t>
            </a:r>
            <a:br>
              <a:rPr lang="pl" sz="1100"/>
            </a:br>
            <a:endParaRPr sz="1100"/>
          </a:p>
          <a:p>
            <a:pPr indent="-298450" lvl="0" marL="457200" rtl="0" algn="l">
              <a:lnSpc>
                <a:spcPct val="100000"/>
              </a:lnSpc>
              <a:spcBef>
                <a:spcPts val="0"/>
              </a:spcBef>
              <a:spcAft>
                <a:spcPts val="0"/>
              </a:spcAft>
              <a:buSzPts val="1100"/>
              <a:buChar char="●"/>
            </a:pPr>
            <a:r>
              <a:rPr b="1" lang="pl" sz="1100"/>
              <a:t>Adaptive threshold</a:t>
            </a:r>
            <a:br>
              <a:rPr b="1" lang="pl" sz="1100"/>
            </a:br>
            <a:endParaRPr b="1" sz="1100"/>
          </a:p>
          <a:p>
            <a:pPr indent="-298450" lvl="0" marL="457200" rtl="0" algn="l">
              <a:lnSpc>
                <a:spcPct val="100000"/>
              </a:lnSpc>
              <a:spcBef>
                <a:spcPts val="0"/>
              </a:spcBef>
              <a:spcAft>
                <a:spcPts val="1200"/>
              </a:spcAft>
              <a:buSzPts val="1100"/>
              <a:buChar char="●"/>
            </a:pPr>
            <a:r>
              <a:rPr b="1" lang="pl" sz="1100"/>
              <a:t>Smaller inpainting kernel</a:t>
            </a:r>
            <a:endParaRPr b="1" sz="1100"/>
          </a:p>
        </p:txBody>
      </p:sp>
      <p:cxnSp>
        <p:nvCxnSpPr>
          <p:cNvPr id="905" name="Google Shape;905;p92"/>
          <p:cNvCxnSpPr/>
          <p:nvPr/>
        </p:nvCxnSpPr>
        <p:spPr>
          <a:xfrm flipH="1">
            <a:off x="3184375" y="3468375"/>
            <a:ext cx="1341000" cy="806400"/>
          </a:xfrm>
          <a:prstGeom prst="straightConnector1">
            <a:avLst/>
          </a:prstGeom>
          <a:noFill/>
          <a:ln cap="flat" cmpd="sng" w="9525">
            <a:solidFill>
              <a:schemeClr val="dk2"/>
            </a:solidFill>
            <a:prstDash val="solid"/>
            <a:round/>
            <a:headEnd len="med" w="med" type="none"/>
            <a:tailEnd len="med" w="med" type="triangle"/>
          </a:ln>
        </p:spPr>
      </p:cxnSp>
      <p:sp>
        <p:nvSpPr>
          <p:cNvPr id="906" name="Google Shape;906;p92"/>
          <p:cNvSpPr txBox="1"/>
          <p:nvPr/>
        </p:nvSpPr>
        <p:spPr>
          <a:xfrm>
            <a:off x="311725" y="3199975"/>
            <a:ext cx="30000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200">
                <a:solidFill>
                  <a:schemeClr val="dk2"/>
                </a:solidFill>
                <a:latin typeface="Roboto"/>
                <a:ea typeface="Roboto"/>
                <a:cs typeface="Roboto"/>
                <a:sym typeface="Roboto"/>
              </a:rPr>
              <a:t>Too much tuning caused pixel clustering</a:t>
            </a:r>
            <a:endParaRPr sz="1200">
              <a:solidFill>
                <a:schemeClr val="dk2"/>
              </a:solidFill>
              <a:latin typeface="Roboto"/>
              <a:ea typeface="Roboto"/>
              <a:cs typeface="Roboto"/>
              <a:sym typeface="Roboto"/>
            </a:endParaRPr>
          </a:p>
        </p:txBody>
      </p:sp>
      <p:pic>
        <p:nvPicPr>
          <p:cNvPr id="907" name="Google Shape;907;p92"/>
          <p:cNvPicPr preferRelativeResize="0"/>
          <p:nvPr/>
        </p:nvPicPr>
        <p:blipFill>
          <a:blip r:embed="rId3">
            <a:alphaModFix/>
          </a:blip>
          <a:stretch>
            <a:fillRect/>
          </a:stretch>
        </p:blipFill>
        <p:spPr>
          <a:xfrm>
            <a:off x="772675" y="3468373"/>
            <a:ext cx="1859750" cy="14115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93"/>
          <p:cNvSpPr txBox="1"/>
          <p:nvPr>
            <p:ph type="title"/>
          </p:nvPr>
        </p:nvSpPr>
        <p:spPr>
          <a:xfrm>
            <a:off x="311700" y="3484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Original hair removal          Adjusted hair removal</a:t>
            </a:r>
            <a:endParaRPr/>
          </a:p>
        </p:txBody>
      </p:sp>
      <p:sp>
        <p:nvSpPr>
          <p:cNvPr id="913" name="Google Shape;913;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914" name="Google Shape;914;p93"/>
          <p:cNvPicPr preferRelativeResize="0"/>
          <p:nvPr/>
        </p:nvPicPr>
        <p:blipFill>
          <a:blip r:embed="rId3">
            <a:alphaModFix/>
          </a:blip>
          <a:stretch>
            <a:fillRect/>
          </a:stretch>
        </p:blipFill>
        <p:spPr>
          <a:xfrm>
            <a:off x="185625" y="1753550"/>
            <a:ext cx="4105588" cy="2344376"/>
          </a:xfrm>
          <a:prstGeom prst="rect">
            <a:avLst/>
          </a:prstGeom>
          <a:noFill/>
          <a:ln>
            <a:noFill/>
          </a:ln>
          <a:effectLst>
            <a:outerShdw blurRad="57150" rotWithShape="0" algn="bl" dir="5400000" dist="19050">
              <a:srgbClr val="000000">
                <a:alpha val="50000"/>
              </a:srgbClr>
            </a:outerShdw>
          </a:effectLst>
        </p:spPr>
      </p:pic>
      <p:pic>
        <p:nvPicPr>
          <p:cNvPr id="915" name="Google Shape;915;p93"/>
          <p:cNvPicPr preferRelativeResize="0"/>
          <p:nvPr/>
        </p:nvPicPr>
        <p:blipFill>
          <a:blip r:embed="rId4">
            <a:alphaModFix/>
          </a:blip>
          <a:stretch>
            <a:fillRect/>
          </a:stretch>
        </p:blipFill>
        <p:spPr>
          <a:xfrm>
            <a:off x="4835978" y="1721737"/>
            <a:ext cx="3996346" cy="234437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94"/>
          <p:cNvSpPr txBox="1"/>
          <p:nvPr>
            <p:ph type="title"/>
          </p:nvPr>
        </p:nvSpPr>
        <p:spPr>
          <a:xfrm>
            <a:off x="311700" y="21517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Extended model with texture </a:t>
            </a:r>
            <a:endParaRPr/>
          </a:p>
          <a:p>
            <a:pPr indent="0" lvl="0" marL="0" rtl="0" algn="l">
              <a:spcBef>
                <a:spcPts val="0"/>
              </a:spcBef>
              <a:spcAft>
                <a:spcPts val="0"/>
              </a:spcAft>
              <a:buNone/>
            </a:pPr>
            <a:r>
              <a:rPr lang="pl"/>
              <a:t>but no </a:t>
            </a:r>
            <a:r>
              <a:rPr lang="pl"/>
              <a:t>hair feature (adjusted removal)</a:t>
            </a:r>
            <a:endParaRPr/>
          </a:p>
        </p:txBody>
      </p:sp>
      <p:sp>
        <p:nvSpPr>
          <p:cNvPr id="921" name="Google Shape;921;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922" name="Google Shape;922;p94"/>
          <p:cNvPicPr preferRelativeResize="0"/>
          <p:nvPr/>
        </p:nvPicPr>
        <p:blipFill>
          <a:blip r:embed="rId3">
            <a:alphaModFix/>
          </a:blip>
          <a:stretch>
            <a:fillRect/>
          </a:stretch>
        </p:blipFill>
        <p:spPr>
          <a:xfrm>
            <a:off x="395023" y="1450900"/>
            <a:ext cx="4614949" cy="3424950"/>
          </a:xfrm>
          <a:prstGeom prst="rect">
            <a:avLst/>
          </a:prstGeom>
          <a:noFill/>
          <a:ln>
            <a:noFill/>
          </a:ln>
        </p:spPr>
      </p:pic>
      <p:sp>
        <p:nvSpPr>
          <p:cNvPr id="923" name="Google Shape;923;p94"/>
          <p:cNvSpPr txBox="1"/>
          <p:nvPr/>
        </p:nvSpPr>
        <p:spPr>
          <a:xfrm>
            <a:off x="4939700" y="2747725"/>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a:t>Best performance:</a:t>
            </a:r>
            <a:endParaRPr/>
          </a:p>
          <a:p>
            <a:pPr indent="0" lvl="0" marL="0" rtl="0" algn="l">
              <a:spcBef>
                <a:spcPts val="0"/>
              </a:spcBef>
              <a:spcAft>
                <a:spcPts val="0"/>
              </a:spcAft>
              <a:buNone/>
            </a:pPr>
            <a:r>
              <a:rPr lang="pl"/>
              <a:t>Tree depth: 6.0</a:t>
            </a:r>
            <a:endParaRPr/>
          </a:p>
          <a:p>
            <a:pPr indent="0" lvl="0" marL="0" rtl="0" algn="l">
              <a:spcBef>
                <a:spcPts val="0"/>
              </a:spcBef>
              <a:spcAft>
                <a:spcPts val="0"/>
              </a:spcAft>
              <a:buNone/>
            </a:pPr>
            <a:r>
              <a:rPr lang="pl"/>
              <a:t>Mean AUC: 0.6858 ± 0.0253</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9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Original hair removal method</a:t>
            </a:r>
            <a:endParaRPr/>
          </a:p>
        </p:txBody>
      </p:sp>
      <p:sp>
        <p:nvSpPr>
          <p:cNvPr id="929" name="Google Shape;929;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930" name="Google Shape;930;p95"/>
          <p:cNvPicPr preferRelativeResize="0"/>
          <p:nvPr/>
        </p:nvPicPr>
        <p:blipFill>
          <a:blip r:embed="rId3">
            <a:alphaModFix/>
          </a:blip>
          <a:stretch>
            <a:fillRect/>
          </a:stretch>
        </p:blipFill>
        <p:spPr>
          <a:xfrm>
            <a:off x="513178" y="1539438"/>
            <a:ext cx="4232174" cy="3189274"/>
          </a:xfrm>
          <a:prstGeom prst="rect">
            <a:avLst/>
          </a:prstGeom>
          <a:noFill/>
          <a:ln>
            <a:noFill/>
          </a:ln>
        </p:spPr>
      </p:pic>
      <p:sp>
        <p:nvSpPr>
          <p:cNvPr id="931" name="Google Shape;931;p95"/>
          <p:cNvSpPr txBox="1"/>
          <p:nvPr/>
        </p:nvSpPr>
        <p:spPr>
          <a:xfrm>
            <a:off x="5249825" y="2718413"/>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a:t>Best performance:</a:t>
            </a:r>
            <a:endParaRPr/>
          </a:p>
          <a:p>
            <a:pPr indent="0" lvl="0" marL="0" rtl="0" algn="l">
              <a:spcBef>
                <a:spcPts val="0"/>
              </a:spcBef>
              <a:spcAft>
                <a:spcPts val="0"/>
              </a:spcAft>
              <a:buNone/>
            </a:pPr>
            <a:r>
              <a:rPr lang="pl"/>
              <a:t>Tree depth: 4.0</a:t>
            </a:r>
            <a:endParaRPr/>
          </a:p>
          <a:p>
            <a:pPr indent="0" lvl="0" marL="0" rtl="0" algn="l">
              <a:spcBef>
                <a:spcPts val="0"/>
              </a:spcBef>
              <a:spcAft>
                <a:spcPts val="0"/>
              </a:spcAft>
              <a:buNone/>
            </a:pPr>
            <a:r>
              <a:rPr lang="pl"/>
              <a:t>Mean AUC: 0.7144 ± 0.0399</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96"/>
          <p:cNvSpPr txBox="1"/>
          <p:nvPr>
            <p:ph type="title"/>
          </p:nvPr>
        </p:nvSpPr>
        <p:spPr>
          <a:xfrm>
            <a:off x="311700" y="3484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Changed</a:t>
            </a:r>
            <a:r>
              <a:rPr lang="pl"/>
              <a:t> hair removal (no hair feature)</a:t>
            </a:r>
            <a:endParaRPr/>
          </a:p>
        </p:txBody>
      </p:sp>
      <p:sp>
        <p:nvSpPr>
          <p:cNvPr id="937" name="Google Shape;937;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938" name="Google Shape;938;p96"/>
          <p:cNvSpPr txBox="1"/>
          <p:nvPr/>
        </p:nvSpPr>
        <p:spPr>
          <a:xfrm>
            <a:off x="5167300" y="2500325"/>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a:t>Metrics on test set:</a:t>
            </a:r>
            <a:endParaRPr/>
          </a:p>
          <a:p>
            <a:pPr indent="0" lvl="0" marL="0" rtl="0" algn="l">
              <a:spcBef>
                <a:spcPts val="0"/>
              </a:spcBef>
              <a:spcAft>
                <a:spcPts val="0"/>
              </a:spcAft>
              <a:buNone/>
            </a:pPr>
            <a:r>
              <a:rPr lang="pl"/>
              <a:t>Accuracy:  0.6897</a:t>
            </a:r>
            <a:endParaRPr/>
          </a:p>
          <a:p>
            <a:pPr indent="0" lvl="0" marL="0" rtl="0" algn="l">
              <a:spcBef>
                <a:spcPts val="0"/>
              </a:spcBef>
              <a:spcAft>
                <a:spcPts val="0"/>
              </a:spcAft>
              <a:buNone/>
            </a:pPr>
            <a:r>
              <a:rPr lang="pl"/>
              <a:t>Recall:    0.6757</a:t>
            </a:r>
            <a:endParaRPr/>
          </a:p>
          <a:p>
            <a:pPr indent="0" lvl="0" marL="0" rtl="0" algn="l">
              <a:spcBef>
                <a:spcPts val="0"/>
              </a:spcBef>
              <a:spcAft>
                <a:spcPts val="0"/>
              </a:spcAft>
              <a:buNone/>
            </a:pPr>
            <a:r>
              <a:rPr lang="pl"/>
              <a:t>AUC:       0.7262</a:t>
            </a:r>
            <a:endParaRPr/>
          </a:p>
          <a:p>
            <a:pPr indent="0" lvl="0" marL="0" rtl="0" algn="l">
              <a:spcBef>
                <a:spcPts val="0"/>
              </a:spcBef>
              <a:spcAft>
                <a:spcPts val="0"/>
              </a:spcAft>
              <a:buNone/>
            </a:pPr>
            <a:r>
              <a:rPr lang="pl"/>
              <a:t>Precision: 0.6720</a:t>
            </a:r>
            <a:endParaRPr/>
          </a:p>
          <a:p>
            <a:pPr indent="0" lvl="0" marL="0" rtl="0" algn="l">
              <a:spcBef>
                <a:spcPts val="0"/>
              </a:spcBef>
              <a:spcAft>
                <a:spcPts val="0"/>
              </a:spcAft>
              <a:buNone/>
            </a:pPr>
            <a:r>
              <a:rPr lang="pl"/>
              <a:t>F1 Score:  0.6739</a:t>
            </a:r>
            <a:endParaRPr/>
          </a:p>
        </p:txBody>
      </p:sp>
      <p:pic>
        <p:nvPicPr>
          <p:cNvPr id="939" name="Google Shape;939;p96"/>
          <p:cNvPicPr preferRelativeResize="0"/>
          <p:nvPr/>
        </p:nvPicPr>
        <p:blipFill>
          <a:blip r:embed="rId3">
            <a:alphaModFix/>
          </a:blip>
          <a:stretch>
            <a:fillRect/>
          </a:stretch>
        </p:blipFill>
        <p:spPr>
          <a:xfrm>
            <a:off x="412803" y="1561950"/>
            <a:ext cx="4288000" cy="349487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97"/>
          <p:cNvSpPr txBox="1"/>
          <p:nvPr>
            <p:ph type="title"/>
          </p:nvPr>
        </p:nvSpPr>
        <p:spPr>
          <a:xfrm>
            <a:off x="244650" y="3833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Discussion </a:t>
            </a:r>
            <a:endParaRPr/>
          </a:p>
        </p:txBody>
      </p:sp>
      <p:sp>
        <p:nvSpPr>
          <p:cNvPr id="945" name="Google Shape;945;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946" name="Google Shape;946;p97"/>
          <p:cNvSpPr/>
          <p:nvPr/>
        </p:nvSpPr>
        <p:spPr>
          <a:xfrm flipH="1" rot="915444">
            <a:off x="6760125" y="3169191"/>
            <a:ext cx="1317850" cy="64232"/>
          </a:xfrm>
          <a:prstGeom prst="roundRect">
            <a:avLst>
              <a:gd fmla="val 50000"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47" name="Google Shape;947;p97"/>
          <p:cNvSpPr/>
          <p:nvPr/>
        </p:nvSpPr>
        <p:spPr>
          <a:xfrm rot="-915444">
            <a:off x="5546618" y="3169191"/>
            <a:ext cx="1317850" cy="64232"/>
          </a:xfrm>
          <a:prstGeom prst="roundRect">
            <a:avLst>
              <a:gd fmla="val 50000"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48" name="Google Shape;948;p97"/>
          <p:cNvSpPr/>
          <p:nvPr/>
        </p:nvSpPr>
        <p:spPr>
          <a:xfrm flipH="1" rot="915444">
            <a:off x="4318649" y="3169191"/>
            <a:ext cx="1317850" cy="64232"/>
          </a:xfrm>
          <a:prstGeom prst="roundRect">
            <a:avLst>
              <a:gd fmla="val 50000"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49" name="Google Shape;949;p97"/>
          <p:cNvSpPr/>
          <p:nvPr/>
        </p:nvSpPr>
        <p:spPr>
          <a:xfrm rot="-915444">
            <a:off x="3105142" y="3169191"/>
            <a:ext cx="1317850" cy="64232"/>
          </a:xfrm>
          <a:prstGeom prst="roundRect">
            <a:avLst>
              <a:gd fmla="val 50000"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50" name="Google Shape;950;p97"/>
          <p:cNvSpPr/>
          <p:nvPr/>
        </p:nvSpPr>
        <p:spPr>
          <a:xfrm flipH="1" rot="915444">
            <a:off x="1882057" y="3169191"/>
            <a:ext cx="1317850" cy="64232"/>
          </a:xfrm>
          <a:prstGeom prst="roundRect">
            <a:avLst>
              <a:gd fmla="val 50000"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nvGrpSpPr>
          <p:cNvPr id="951" name="Google Shape;951;p97"/>
          <p:cNvGrpSpPr/>
          <p:nvPr/>
        </p:nvGrpSpPr>
        <p:grpSpPr>
          <a:xfrm>
            <a:off x="2144862" y="3236173"/>
            <a:ext cx="2032461" cy="1351817"/>
            <a:chOff x="2683803" y="2543425"/>
            <a:chExt cx="1712700" cy="1230715"/>
          </a:xfrm>
        </p:grpSpPr>
        <p:sp>
          <p:nvSpPr>
            <p:cNvPr id="952" name="Google Shape;952;p97"/>
            <p:cNvSpPr txBox="1"/>
            <p:nvPr/>
          </p:nvSpPr>
          <p:spPr>
            <a:xfrm>
              <a:off x="3191705" y="2737212"/>
              <a:ext cx="696900" cy="276000"/>
            </a:xfrm>
            <a:prstGeom prst="rect">
              <a:avLst/>
            </a:prstGeom>
            <a:solidFill>
              <a:srgbClr val="1F887E">
                <a:alpha val="40000"/>
              </a:srgbClr>
            </a:solidFill>
            <a:ln cap="flat" cmpd="sng" w="9525">
              <a:solidFill>
                <a:srgbClr val="701C7F"/>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pl" sz="800">
                  <a:solidFill>
                    <a:schemeClr val="dk1"/>
                  </a:solidFill>
                  <a:latin typeface="Roboto"/>
                  <a:ea typeface="Roboto"/>
                  <a:cs typeface="Roboto"/>
                  <a:sym typeface="Roboto"/>
                </a:rPr>
                <a:t>Texture</a:t>
              </a:r>
              <a:endParaRPr b="1" sz="800">
                <a:solidFill>
                  <a:schemeClr val="dk1"/>
                </a:solidFill>
                <a:latin typeface="Roboto"/>
                <a:ea typeface="Roboto"/>
                <a:cs typeface="Roboto"/>
                <a:sym typeface="Roboto"/>
              </a:endParaRPr>
            </a:p>
          </p:txBody>
        </p:sp>
        <p:sp>
          <p:nvSpPr>
            <p:cNvPr id="953" name="Google Shape;953;p97"/>
            <p:cNvSpPr/>
            <p:nvPr/>
          </p:nvSpPr>
          <p:spPr>
            <a:xfrm rot="-1789476">
              <a:off x="3457142" y="2572699"/>
              <a:ext cx="160451" cy="160451"/>
            </a:xfrm>
            <a:prstGeom prst="ellipse">
              <a:avLst/>
            </a:prstGeom>
            <a:solidFill>
              <a:srgbClr val="1F887E">
                <a:alpha val="40000"/>
              </a:srgbClr>
            </a:solidFill>
            <a:ln cap="flat" cmpd="sng" w="38100">
              <a:solidFill>
                <a:srgbClr val="701C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54" name="Google Shape;954;p97"/>
            <p:cNvSpPr/>
            <p:nvPr/>
          </p:nvSpPr>
          <p:spPr>
            <a:xfrm>
              <a:off x="2683803" y="3070640"/>
              <a:ext cx="1712700" cy="703500"/>
            </a:xfrm>
            <a:prstGeom prst="roundRect">
              <a:avLst>
                <a:gd fmla="val 4485"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955" name="Google Shape;955;p97"/>
            <p:cNvSpPr txBox="1"/>
            <p:nvPr/>
          </p:nvSpPr>
          <p:spPr>
            <a:xfrm>
              <a:off x="2728053" y="3107840"/>
              <a:ext cx="1624200" cy="624600"/>
            </a:xfrm>
            <a:prstGeom prst="rect">
              <a:avLst/>
            </a:prstGeom>
            <a:solidFill>
              <a:srgbClr val="1F887E">
                <a:alpha val="40000"/>
              </a:srgbClr>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pl" sz="800">
                  <a:solidFill>
                    <a:schemeClr val="dk1"/>
                  </a:solidFill>
                  <a:latin typeface="Roboto"/>
                  <a:ea typeface="Roboto"/>
                  <a:cs typeface="Roboto"/>
                  <a:sym typeface="Roboto"/>
                </a:rPr>
                <a:t>No clear benefit:  likely tested too late or not well captured.</a:t>
              </a:r>
              <a:endParaRPr sz="800">
                <a:solidFill>
                  <a:schemeClr val="dk1"/>
                </a:solidFill>
              </a:endParaRPr>
            </a:p>
          </p:txBody>
        </p:sp>
        <p:sp>
          <p:nvSpPr>
            <p:cNvPr id="956" name="Google Shape;956;p97"/>
            <p:cNvSpPr/>
            <p:nvPr/>
          </p:nvSpPr>
          <p:spPr>
            <a:xfrm>
              <a:off x="3495153" y="3005991"/>
              <a:ext cx="90000" cy="67500"/>
            </a:xfrm>
            <a:prstGeom prst="triangle">
              <a:avLst>
                <a:gd fmla="val 50000"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grpSp>
        <p:nvGrpSpPr>
          <p:cNvPr id="957" name="Google Shape;957;p97"/>
          <p:cNvGrpSpPr/>
          <p:nvPr/>
        </p:nvGrpSpPr>
        <p:grpSpPr>
          <a:xfrm>
            <a:off x="4578072" y="3236173"/>
            <a:ext cx="2032461" cy="1351817"/>
            <a:chOff x="4734203" y="2543425"/>
            <a:chExt cx="1712700" cy="1230715"/>
          </a:xfrm>
        </p:grpSpPr>
        <p:sp>
          <p:nvSpPr>
            <p:cNvPr id="958" name="Google Shape;958;p97"/>
            <p:cNvSpPr/>
            <p:nvPr/>
          </p:nvSpPr>
          <p:spPr>
            <a:xfrm rot="-1789476">
              <a:off x="5510320" y="2572699"/>
              <a:ext cx="160451" cy="160451"/>
            </a:xfrm>
            <a:prstGeom prst="ellipse">
              <a:avLst/>
            </a:prstGeom>
            <a:solidFill>
              <a:srgbClr val="1F887E">
                <a:alpha val="40000"/>
              </a:srgbClr>
            </a:solidFill>
            <a:ln cap="flat" cmpd="sng" w="38100">
              <a:solidFill>
                <a:srgbClr val="701C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59" name="Google Shape;959;p97"/>
            <p:cNvSpPr txBox="1"/>
            <p:nvPr/>
          </p:nvSpPr>
          <p:spPr>
            <a:xfrm>
              <a:off x="5234191" y="2737212"/>
              <a:ext cx="696900" cy="276000"/>
            </a:xfrm>
            <a:prstGeom prst="rect">
              <a:avLst/>
            </a:prstGeom>
            <a:solidFill>
              <a:srgbClr val="1F887E">
                <a:alpha val="40000"/>
              </a:srgbClr>
            </a:solidFill>
            <a:ln cap="flat" cmpd="sng" w="9525">
              <a:solidFill>
                <a:srgbClr val="701C7F"/>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pl" sz="800">
                  <a:solidFill>
                    <a:schemeClr val="dk1"/>
                  </a:solidFill>
                  <a:latin typeface="Roboto"/>
                  <a:ea typeface="Roboto"/>
                  <a:cs typeface="Roboto"/>
                  <a:sym typeface="Roboto"/>
                </a:rPr>
                <a:t>Lesson</a:t>
              </a:r>
              <a:endParaRPr b="1" sz="800">
                <a:solidFill>
                  <a:schemeClr val="dk1"/>
                </a:solidFill>
                <a:latin typeface="Roboto"/>
                <a:ea typeface="Roboto"/>
                <a:cs typeface="Roboto"/>
                <a:sym typeface="Roboto"/>
              </a:endParaRPr>
            </a:p>
          </p:txBody>
        </p:sp>
        <p:sp>
          <p:nvSpPr>
            <p:cNvPr id="960" name="Google Shape;960;p97"/>
            <p:cNvSpPr/>
            <p:nvPr/>
          </p:nvSpPr>
          <p:spPr>
            <a:xfrm>
              <a:off x="4734203" y="3070640"/>
              <a:ext cx="1712700" cy="703500"/>
            </a:xfrm>
            <a:prstGeom prst="roundRect">
              <a:avLst>
                <a:gd fmla="val 4485"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961" name="Google Shape;961;p97"/>
            <p:cNvSpPr txBox="1"/>
            <p:nvPr/>
          </p:nvSpPr>
          <p:spPr>
            <a:xfrm>
              <a:off x="4778453" y="3107840"/>
              <a:ext cx="1624200" cy="624600"/>
            </a:xfrm>
            <a:prstGeom prst="rect">
              <a:avLst/>
            </a:prstGeom>
            <a:solidFill>
              <a:srgbClr val="1F887E">
                <a:alpha val="40000"/>
              </a:srgbClr>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pl" sz="800">
                  <a:solidFill>
                    <a:schemeClr val="dk1"/>
                  </a:solidFill>
                  <a:latin typeface="Roboto"/>
                  <a:ea typeface="Roboto"/>
                  <a:cs typeface="Roboto"/>
                  <a:sym typeface="Roboto"/>
                </a:rPr>
                <a:t>New features must be tested early and implemented carefully to avoid misleading results.</a:t>
              </a:r>
              <a:endParaRPr sz="800">
                <a:solidFill>
                  <a:schemeClr val="dk1"/>
                </a:solidFill>
              </a:endParaRPr>
            </a:p>
          </p:txBody>
        </p:sp>
        <p:sp>
          <p:nvSpPr>
            <p:cNvPr id="962" name="Google Shape;962;p97"/>
            <p:cNvSpPr/>
            <p:nvPr/>
          </p:nvSpPr>
          <p:spPr>
            <a:xfrm>
              <a:off x="5545553" y="3005991"/>
              <a:ext cx="90000" cy="67500"/>
            </a:xfrm>
            <a:prstGeom prst="triangle">
              <a:avLst>
                <a:gd fmla="val 50000"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sp>
        <p:nvSpPr>
          <p:cNvPr id="963" name="Google Shape;963;p97"/>
          <p:cNvSpPr/>
          <p:nvPr/>
        </p:nvSpPr>
        <p:spPr>
          <a:xfrm rot="-915444">
            <a:off x="668550" y="3169191"/>
            <a:ext cx="1317850" cy="64232"/>
          </a:xfrm>
          <a:prstGeom prst="roundRect">
            <a:avLst>
              <a:gd fmla="val 50000"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nvGrpSpPr>
          <p:cNvPr id="964" name="Google Shape;964;p97"/>
          <p:cNvGrpSpPr/>
          <p:nvPr/>
        </p:nvGrpSpPr>
        <p:grpSpPr>
          <a:xfrm>
            <a:off x="908380" y="1784247"/>
            <a:ext cx="2032461" cy="1369434"/>
            <a:chOff x="1641853" y="1221570"/>
            <a:chExt cx="1712700" cy="1246754"/>
          </a:xfrm>
        </p:grpSpPr>
        <p:sp>
          <p:nvSpPr>
            <p:cNvPr id="965" name="Google Shape;965;p97"/>
            <p:cNvSpPr/>
            <p:nvPr/>
          </p:nvSpPr>
          <p:spPr>
            <a:xfrm>
              <a:off x="1641853" y="1221570"/>
              <a:ext cx="1712700" cy="703500"/>
            </a:xfrm>
            <a:prstGeom prst="roundRect">
              <a:avLst>
                <a:gd fmla="val 4485"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966" name="Google Shape;966;p97"/>
            <p:cNvSpPr txBox="1"/>
            <p:nvPr/>
          </p:nvSpPr>
          <p:spPr>
            <a:xfrm>
              <a:off x="2148922" y="1986924"/>
              <a:ext cx="696900" cy="276000"/>
            </a:xfrm>
            <a:prstGeom prst="rect">
              <a:avLst/>
            </a:prstGeom>
            <a:solidFill>
              <a:srgbClr val="1F887E">
                <a:alpha val="40000"/>
              </a:srgbClr>
            </a:solidFill>
            <a:ln cap="flat" cmpd="sng" w="9525">
              <a:solidFill>
                <a:srgbClr val="701C7F"/>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pl" sz="800">
                  <a:solidFill>
                    <a:schemeClr val="dk1"/>
                  </a:solidFill>
                  <a:latin typeface="Roboto"/>
                  <a:ea typeface="Roboto"/>
                  <a:cs typeface="Roboto"/>
                  <a:sym typeface="Roboto"/>
                </a:rPr>
                <a:t>Best Model</a:t>
              </a:r>
              <a:endParaRPr b="1" sz="800">
                <a:solidFill>
                  <a:schemeClr val="dk1"/>
                </a:solidFill>
                <a:latin typeface="Roboto"/>
                <a:ea typeface="Roboto"/>
                <a:cs typeface="Roboto"/>
                <a:sym typeface="Roboto"/>
              </a:endParaRPr>
            </a:p>
          </p:txBody>
        </p:sp>
        <p:sp>
          <p:nvSpPr>
            <p:cNvPr id="967" name="Google Shape;967;p97"/>
            <p:cNvSpPr/>
            <p:nvPr/>
          </p:nvSpPr>
          <p:spPr>
            <a:xfrm rot="10800000">
              <a:off x="2453178" y="1920663"/>
              <a:ext cx="90000" cy="67500"/>
            </a:xfrm>
            <a:prstGeom prst="triangle">
              <a:avLst>
                <a:gd fmla="val 50000"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68" name="Google Shape;968;p97"/>
            <p:cNvSpPr txBox="1"/>
            <p:nvPr/>
          </p:nvSpPr>
          <p:spPr>
            <a:xfrm>
              <a:off x="1686103" y="1258770"/>
              <a:ext cx="1624200" cy="624600"/>
            </a:xfrm>
            <a:prstGeom prst="rect">
              <a:avLst/>
            </a:prstGeom>
            <a:solidFill>
              <a:srgbClr val="1F887E">
                <a:alpha val="40000"/>
              </a:srgbClr>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pl" sz="800">
                  <a:solidFill>
                    <a:schemeClr val="dk1"/>
                  </a:solidFill>
                  <a:latin typeface="Roboto"/>
                  <a:ea typeface="Roboto"/>
                  <a:cs typeface="Roboto"/>
                  <a:sym typeface="Roboto"/>
                </a:rPr>
                <a:t>Baseline (ABC features) was most reliable.</a:t>
              </a:r>
              <a:endParaRPr sz="800">
                <a:solidFill>
                  <a:schemeClr val="dk1"/>
                </a:solidFill>
              </a:endParaRPr>
            </a:p>
          </p:txBody>
        </p:sp>
        <p:sp>
          <p:nvSpPr>
            <p:cNvPr id="969" name="Google Shape;969;p97"/>
            <p:cNvSpPr/>
            <p:nvPr/>
          </p:nvSpPr>
          <p:spPr>
            <a:xfrm rot="-1789476">
              <a:off x="2415143" y="2278597"/>
              <a:ext cx="160451" cy="160451"/>
            </a:xfrm>
            <a:prstGeom prst="ellipse">
              <a:avLst/>
            </a:prstGeom>
            <a:solidFill>
              <a:srgbClr val="1F887E">
                <a:alpha val="40000"/>
              </a:srgbClr>
            </a:solidFill>
            <a:ln cap="flat" cmpd="sng" w="38100">
              <a:solidFill>
                <a:srgbClr val="701C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grpSp>
        <p:nvGrpSpPr>
          <p:cNvPr id="970" name="Google Shape;970;p97"/>
          <p:cNvGrpSpPr/>
          <p:nvPr/>
        </p:nvGrpSpPr>
        <p:grpSpPr>
          <a:xfrm>
            <a:off x="5782580" y="1784247"/>
            <a:ext cx="2032461" cy="1369434"/>
            <a:chOff x="5770307" y="1221570"/>
            <a:chExt cx="1712700" cy="1246754"/>
          </a:xfrm>
        </p:grpSpPr>
        <p:sp>
          <p:nvSpPr>
            <p:cNvPr id="971" name="Google Shape;971;p97"/>
            <p:cNvSpPr/>
            <p:nvPr/>
          </p:nvSpPr>
          <p:spPr>
            <a:xfrm rot="-1789476">
              <a:off x="6546711" y="2278597"/>
              <a:ext cx="160451" cy="160451"/>
            </a:xfrm>
            <a:prstGeom prst="ellipse">
              <a:avLst/>
            </a:prstGeom>
            <a:solidFill>
              <a:srgbClr val="1F887E">
                <a:alpha val="40000"/>
              </a:srgbClr>
            </a:solidFill>
            <a:ln cap="flat" cmpd="sng" w="38100">
              <a:solidFill>
                <a:srgbClr val="701C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72" name="Google Shape;972;p97"/>
            <p:cNvSpPr txBox="1"/>
            <p:nvPr/>
          </p:nvSpPr>
          <p:spPr>
            <a:xfrm>
              <a:off x="6290844" y="1986924"/>
              <a:ext cx="696900" cy="276000"/>
            </a:xfrm>
            <a:prstGeom prst="rect">
              <a:avLst/>
            </a:prstGeom>
            <a:solidFill>
              <a:srgbClr val="1F887E">
                <a:alpha val="40000"/>
              </a:srgbClr>
            </a:solidFill>
            <a:ln cap="flat" cmpd="sng" w="9525">
              <a:solidFill>
                <a:srgbClr val="701C7F"/>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pl" sz="800">
                  <a:solidFill>
                    <a:schemeClr val="dk1"/>
                  </a:solidFill>
                  <a:latin typeface="Roboto"/>
                  <a:ea typeface="Roboto"/>
                  <a:cs typeface="Roboto"/>
                  <a:sym typeface="Roboto"/>
                </a:rPr>
                <a:t>Hair feature</a:t>
              </a:r>
              <a:endParaRPr b="1" sz="800">
                <a:solidFill>
                  <a:schemeClr val="dk1"/>
                </a:solidFill>
                <a:latin typeface="Roboto"/>
                <a:ea typeface="Roboto"/>
                <a:cs typeface="Roboto"/>
                <a:sym typeface="Roboto"/>
              </a:endParaRPr>
            </a:p>
          </p:txBody>
        </p:sp>
        <p:sp>
          <p:nvSpPr>
            <p:cNvPr id="973" name="Google Shape;973;p97"/>
            <p:cNvSpPr/>
            <p:nvPr/>
          </p:nvSpPr>
          <p:spPr>
            <a:xfrm>
              <a:off x="5770307" y="1221570"/>
              <a:ext cx="1712700" cy="703500"/>
            </a:xfrm>
            <a:prstGeom prst="roundRect">
              <a:avLst>
                <a:gd fmla="val 4485"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974" name="Google Shape;974;p97"/>
            <p:cNvSpPr/>
            <p:nvPr/>
          </p:nvSpPr>
          <p:spPr>
            <a:xfrm rot="10800000">
              <a:off x="6581632" y="1920663"/>
              <a:ext cx="90000" cy="67500"/>
            </a:xfrm>
            <a:prstGeom prst="triangle">
              <a:avLst>
                <a:gd fmla="val 50000"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75" name="Google Shape;975;p97"/>
            <p:cNvSpPr txBox="1"/>
            <p:nvPr/>
          </p:nvSpPr>
          <p:spPr>
            <a:xfrm>
              <a:off x="5814557" y="1258770"/>
              <a:ext cx="1624200" cy="624600"/>
            </a:xfrm>
            <a:prstGeom prst="rect">
              <a:avLst/>
            </a:prstGeom>
            <a:solidFill>
              <a:srgbClr val="1F887E">
                <a:alpha val="40000"/>
              </a:srgbClr>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pl" sz="800">
                  <a:solidFill>
                    <a:schemeClr val="dk1"/>
                  </a:solidFill>
                  <a:latin typeface="Roboto"/>
                  <a:ea typeface="Roboto"/>
                  <a:cs typeface="Roboto"/>
                  <a:sym typeface="Roboto"/>
                </a:rPr>
                <a:t>Slight performance drop:  likely due to poor hair removal or model bias (e.g., associating dark hair with cancer).</a:t>
              </a:r>
              <a:endParaRPr sz="800">
                <a:solidFill>
                  <a:schemeClr val="dk1"/>
                </a:solidFill>
              </a:endParaRPr>
            </a:p>
          </p:txBody>
        </p:sp>
      </p:grpSp>
      <p:grpSp>
        <p:nvGrpSpPr>
          <p:cNvPr id="976" name="Google Shape;976;p97"/>
          <p:cNvGrpSpPr/>
          <p:nvPr/>
        </p:nvGrpSpPr>
        <p:grpSpPr>
          <a:xfrm>
            <a:off x="3341530" y="1784247"/>
            <a:ext cx="2032461" cy="1369434"/>
            <a:chOff x="3692203" y="1221570"/>
            <a:chExt cx="1712700" cy="1246754"/>
          </a:xfrm>
        </p:grpSpPr>
        <p:sp>
          <p:nvSpPr>
            <p:cNvPr id="977" name="Google Shape;977;p97"/>
            <p:cNvSpPr/>
            <p:nvPr/>
          </p:nvSpPr>
          <p:spPr>
            <a:xfrm rot="-1789476">
              <a:off x="4468320" y="2278597"/>
              <a:ext cx="160451" cy="160451"/>
            </a:xfrm>
            <a:prstGeom prst="ellipse">
              <a:avLst/>
            </a:prstGeom>
            <a:solidFill>
              <a:srgbClr val="1F887E">
                <a:alpha val="40000"/>
              </a:srgbClr>
            </a:solidFill>
            <a:ln cap="flat" cmpd="sng" w="38100">
              <a:solidFill>
                <a:srgbClr val="701C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78" name="Google Shape;978;p97"/>
            <p:cNvSpPr txBox="1"/>
            <p:nvPr/>
          </p:nvSpPr>
          <p:spPr>
            <a:xfrm>
              <a:off x="4143884" y="1986913"/>
              <a:ext cx="840900" cy="276000"/>
            </a:xfrm>
            <a:prstGeom prst="rect">
              <a:avLst/>
            </a:prstGeom>
            <a:solidFill>
              <a:srgbClr val="1F887E">
                <a:alpha val="40000"/>
              </a:srgbClr>
            </a:solidFill>
            <a:ln cap="flat" cmpd="sng" w="9525">
              <a:solidFill>
                <a:srgbClr val="701C7F"/>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pl" sz="800">
                  <a:solidFill>
                    <a:schemeClr val="dk1"/>
                  </a:solidFill>
                  <a:latin typeface="Roboto"/>
                  <a:ea typeface="Roboto"/>
                  <a:cs typeface="Roboto"/>
                  <a:sym typeface="Roboto"/>
                </a:rPr>
                <a:t>Top features</a:t>
              </a:r>
              <a:endParaRPr b="1" sz="800">
                <a:solidFill>
                  <a:schemeClr val="dk1"/>
                </a:solidFill>
                <a:latin typeface="Roboto"/>
                <a:ea typeface="Roboto"/>
                <a:cs typeface="Roboto"/>
                <a:sym typeface="Roboto"/>
              </a:endParaRPr>
            </a:p>
          </p:txBody>
        </p:sp>
        <p:sp>
          <p:nvSpPr>
            <p:cNvPr id="979" name="Google Shape;979;p97"/>
            <p:cNvSpPr/>
            <p:nvPr/>
          </p:nvSpPr>
          <p:spPr>
            <a:xfrm>
              <a:off x="3692203" y="1221570"/>
              <a:ext cx="1712700" cy="703500"/>
            </a:xfrm>
            <a:prstGeom prst="roundRect">
              <a:avLst>
                <a:gd fmla="val 4485"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980" name="Google Shape;980;p97"/>
            <p:cNvSpPr/>
            <p:nvPr/>
          </p:nvSpPr>
          <p:spPr>
            <a:xfrm rot="10800000">
              <a:off x="4503528" y="1920663"/>
              <a:ext cx="90000" cy="67500"/>
            </a:xfrm>
            <a:prstGeom prst="triangle">
              <a:avLst>
                <a:gd fmla="val 50000" name="adj"/>
              </a:avLst>
            </a:prstGeom>
            <a:solidFill>
              <a:srgbClr val="1F887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81" name="Google Shape;981;p97"/>
            <p:cNvSpPr txBox="1"/>
            <p:nvPr/>
          </p:nvSpPr>
          <p:spPr>
            <a:xfrm>
              <a:off x="3736453" y="1258770"/>
              <a:ext cx="1624200" cy="624600"/>
            </a:xfrm>
            <a:prstGeom prst="rect">
              <a:avLst/>
            </a:prstGeom>
            <a:solidFill>
              <a:srgbClr val="1F887E">
                <a:alpha val="40000"/>
              </a:srgbClr>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pl" sz="800">
                  <a:solidFill>
                    <a:schemeClr val="dk1"/>
                  </a:solidFill>
                  <a:latin typeface="Roboto"/>
                  <a:ea typeface="Roboto"/>
                  <a:cs typeface="Roboto"/>
                  <a:sym typeface="Roboto"/>
                </a:rPr>
                <a:t>Asymmetry and color had the biggest impact.</a:t>
              </a:r>
              <a:endParaRPr sz="800">
                <a:solidFill>
                  <a:schemeClr val="dk1"/>
                </a:solidFill>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9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Future notes</a:t>
            </a:r>
            <a:endParaRPr/>
          </a:p>
        </p:txBody>
      </p:sp>
      <p:sp>
        <p:nvSpPr>
          <p:cNvPr id="987" name="Google Shape;987;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988" name="Google Shape;988;p98"/>
          <p:cNvSpPr txBox="1"/>
          <p:nvPr/>
        </p:nvSpPr>
        <p:spPr>
          <a:xfrm>
            <a:off x="908200" y="1967750"/>
            <a:ext cx="6379500" cy="15855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2"/>
              </a:buClr>
              <a:buSzPts val="1300"/>
              <a:buFont typeface="Roboto"/>
              <a:buChar char="-"/>
            </a:pPr>
            <a:r>
              <a:rPr lang="pl" sz="1300">
                <a:solidFill>
                  <a:schemeClr val="dk2"/>
                </a:solidFill>
                <a:latin typeface="Roboto"/>
                <a:ea typeface="Roboto"/>
                <a:cs typeface="Roboto"/>
                <a:sym typeface="Roboto"/>
              </a:rPr>
              <a:t>Dataset investigation</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pl" sz="1300">
                <a:solidFill>
                  <a:schemeClr val="dk2"/>
                </a:solidFill>
                <a:latin typeface="Roboto"/>
                <a:ea typeface="Roboto"/>
                <a:cs typeface="Roboto"/>
                <a:sym typeface="Roboto"/>
              </a:rPr>
              <a:t>Maks making</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pl" sz="1300">
                <a:solidFill>
                  <a:schemeClr val="dk2"/>
                </a:solidFill>
                <a:latin typeface="Roboto"/>
                <a:ea typeface="Roboto"/>
                <a:cs typeface="Roboto"/>
                <a:sym typeface="Roboto"/>
              </a:rPr>
              <a:t>Annotators </a:t>
            </a:r>
            <a:r>
              <a:rPr lang="pl" sz="1300">
                <a:solidFill>
                  <a:schemeClr val="dk2"/>
                </a:solidFill>
                <a:latin typeface="Roboto"/>
                <a:ea typeface="Roboto"/>
                <a:cs typeface="Roboto"/>
                <a:sym typeface="Roboto"/>
              </a:rPr>
              <a:t>training</a:t>
            </a:r>
            <a:r>
              <a:rPr lang="pl" sz="1300">
                <a:solidFill>
                  <a:schemeClr val="dk2"/>
                </a:solidFill>
                <a:latin typeface="Roboto"/>
                <a:ea typeface="Roboto"/>
                <a:cs typeface="Roboto"/>
                <a:sym typeface="Roboto"/>
              </a:rPr>
              <a:t> </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pl" sz="1300">
                <a:solidFill>
                  <a:schemeClr val="dk2"/>
                </a:solidFill>
                <a:latin typeface="Roboto"/>
                <a:ea typeface="Roboto"/>
                <a:cs typeface="Roboto"/>
                <a:sym typeface="Roboto"/>
              </a:rPr>
              <a:t>Modular programming</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pl" sz="1300">
                <a:solidFill>
                  <a:schemeClr val="dk2"/>
                </a:solidFill>
                <a:latin typeface="Roboto"/>
                <a:ea typeface="Roboto"/>
                <a:cs typeface="Roboto"/>
                <a:sym typeface="Roboto"/>
              </a:rPr>
              <a:t>Coordination</a:t>
            </a:r>
            <a:r>
              <a:rPr lang="pl" sz="1300">
                <a:solidFill>
                  <a:schemeClr val="dk2"/>
                </a:solidFill>
                <a:latin typeface="Roboto"/>
                <a:ea typeface="Roboto"/>
                <a:cs typeface="Roboto"/>
                <a:sym typeface="Roboto"/>
              </a:rPr>
              <a:t> and time planning (we spent too much time on details)</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pl" sz="1300">
                <a:solidFill>
                  <a:schemeClr val="dk2"/>
                </a:solidFill>
                <a:latin typeface="Roboto"/>
                <a:ea typeface="Roboto"/>
                <a:cs typeface="Roboto"/>
                <a:sym typeface="Roboto"/>
              </a:rPr>
              <a:t>Random forest</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989" name="Google Shape;989;p98"/>
          <p:cNvSpPr txBox="1"/>
          <p:nvPr/>
        </p:nvSpPr>
        <p:spPr>
          <a:xfrm>
            <a:off x="130100" y="62725"/>
            <a:ext cx="2183700" cy="5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300">
                <a:solidFill>
                  <a:schemeClr val="lt1"/>
                </a:solidFill>
                <a:latin typeface="Roboto"/>
                <a:ea typeface="Roboto"/>
                <a:cs typeface="Roboto"/>
                <a:sym typeface="Roboto"/>
              </a:rPr>
              <a:t>adjust/move?</a:t>
            </a:r>
            <a:endParaRPr sz="1300">
              <a:solidFill>
                <a:schemeClr val="lt1"/>
              </a:solidFill>
              <a:latin typeface="Roboto"/>
              <a:ea typeface="Roboto"/>
              <a:cs typeface="Roboto"/>
              <a:sym typeface="Roboto"/>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9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All features - Knn</a:t>
            </a:r>
            <a:endParaRPr/>
          </a:p>
        </p:txBody>
      </p:sp>
      <p:sp>
        <p:nvSpPr>
          <p:cNvPr id="995" name="Google Shape;995;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996" name="Google Shape;996;p99"/>
          <p:cNvPicPr preferRelativeResize="0"/>
          <p:nvPr/>
        </p:nvPicPr>
        <p:blipFill>
          <a:blip r:embed="rId3">
            <a:alphaModFix/>
          </a:blip>
          <a:stretch>
            <a:fillRect/>
          </a:stretch>
        </p:blipFill>
        <p:spPr>
          <a:xfrm>
            <a:off x="152400" y="1277025"/>
            <a:ext cx="4766841" cy="3714075"/>
          </a:xfrm>
          <a:prstGeom prst="rect">
            <a:avLst/>
          </a:prstGeom>
          <a:noFill/>
          <a:ln>
            <a:noFill/>
          </a:ln>
        </p:spPr>
      </p:pic>
      <p:sp>
        <p:nvSpPr>
          <p:cNvPr id="997" name="Google Shape;997;p99"/>
          <p:cNvSpPr txBox="1"/>
          <p:nvPr/>
        </p:nvSpPr>
        <p:spPr>
          <a:xfrm>
            <a:off x="5135200" y="2070650"/>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a:t>Best cross-validation result:</a:t>
            </a:r>
            <a:endParaRPr/>
          </a:p>
          <a:p>
            <a:pPr indent="0" lvl="0" marL="0" rtl="0" algn="l">
              <a:spcBef>
                <a:spcPts val="0"/>
              </a:spcBef>
              <a:spcAft>
                <a:spcPts val="0"/>
              </a:spcAft>
              <a:buNone/>
            </a:pPr>
            <a:r>
              <a:rPr lang="pl"/>
              <a:t>k                   26.000000</a:t>
            </a:r>
            <a:endParaRPr/>
          </a:p>
          <a:p>
            <a:pPr indent="0" lvl="0" marL="0" rtl="0" algn="l">
              <a:spcBef>
                <a:spcPts val="0"/>
              </a:spcBef>
              <a:spcAft>
                <a:spcPts val="0"/>
              </a:spcAft>
              <a:buNone/>
            </a:pPr>
            <a:r>
              <a:rPr lang="pl"/>
              <a:t>mean_auc     0.738069</a:t>
            </a:r>
            <a:endParaRPr/>
          </a:p>
          <a:p>
            <a:pPr indent="0" lvl="0" marL="0" rtl="0" algn="l">
              <a:spcBef>
                <a:spcPts val="0"/>
              </a:spcBef>
              <a:spcAft>
                <a:spcPts val="0"/>
              </a:spcAft>
              <a:buNone/>
            </a:pPr>
            <a:r>
              <a:rPr lang="pl"/>
              <a:t>std_auc          0.028553</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Best k: 26.0</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0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Knn on test data</a:t>
            </a:r>
            <a:endParaRPr/>
          </a:p>
        </p:txBody>
      </p:sp>
      <p:sp>
        <p:nvSpPr>
          <p:cNvPr id="1003" name="Google Shape;1003;p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1004" name="Google Shape;1004;p100"/>
          <p:cNvPicPr preferRelativeResize="0"/>
          <p:nvPr/>
        </p:nvPicPr>
        <p:blipFill>
          <a:blip r:embed="rId3">
            <a:alphaModFix/>
          </a:blip>
          <a:stretch>
            <a:fillRect/>
          </a:stretch>
        </p:blipFill>
        <p:spPr>
          <a:xfrm>
            <a:off x="152400" y="1277025"/>
            <a:ext cx="4555931" cy="3714074"/>
          </a:xfrm>
          <a:prstGeom prst="rect">
            <a:avLst/>
          </a:prstGeom>
          <a:noFill/>
          <a:ln>
            <a:noFill/>
          </a:ln>
        </p:spPr>
      </p:pic>
      <p:sp>
        <p:nvSpPr>
          <p:cNvPr id="1005" name="Google Shape;1005;p100"/>
          <p:cNvSpPr txBox="1"/>
          <p:nvPr/>
        </p:nvSpPr>
        <p:spPr>
          <a:xfrm>
            <a:off x="4941950" y="2395313"/>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a:t>Metrics on test set:</a:t>
            </a:r>
            <a:endParaRPr/>
          </a:p>
          <a:p>
            <a:pPr indent="0" lvl="0" marL="0" rtl="0" algn="l">
              <a:spcBef>
                <a:spcPts val="0"/>
              </a:spcBef>
              <a:spcAft>
                <a:spcPts val="0"/>
              </a:spcAft>
              <a:buNone/>
            </a:pPr>
            <a:r>
              <a:rPr lang="pl"/>
              <a:t>Accuracy:  0.6641</a:t>
            </a:r>
            <a:endParaRPr/>
          </a:p>
          <a:p>
            <a:pPr indent="0" lvl="0" marL="0" rtl="0" algn="l">
              <a:spcBef>
                <a:spcPts val="0"/>
              </a:spcBef>
              <a:spcAft>
                <a:spcPts val="0"/>
              </a:spcAft>
              <a:buNone/>
            </a:pPr>
            <a:r>
              <a:rPr lang="pl"/>
              <a:t>Recall:    0.6216</a:t>
            </a:r>
            <a:endParaRPr/>
          </a:p>
          <a:p>
            <a:pPr indent="0" lvl="0" marL="0" rtl="0" algn="l">
              <a:spcBef>
                <a:spcPts val="0"/>
              </a:spcBef>
              <a:spcAft>
                <a:spcPts val="0"/>
              </a:spcAft>
              <a:buNone/>
            </a:pPr>
            <a:r>
              <a:rPr lang="pl"/>
              <a:t>AUC:       0.7098</a:t>
            </a:r>
            <a:endParaRPr/>
          </a:p>
          <a:p>
            <a:pPr indent="0" lvl="0" marL="0" rtl="0" algn="l">
              <a:spcBef>
                <a:spcPts val="0"/>
              </a:spcBef>
              <a:spcAft>
                <a:spcPts val="0"/>
              </a:spcAft>
              <a:buNone/>
            </a:pPr>
            <a:r>
              <a:rPr lang="pl"/>
              <a:t>Precision: 0.6534</a:t>
            </a:r>
            <a:endParaRPr/>
          </a:p>
          <a:p>
            <a:pPr indent="0" lvl="0" marL="0" rtl="0" algn="l">
              <a:spcBef>
                <a:spcPts val="0"/>
              </a:spcBef>
              <a:spcAft>
                <a:spcPts val="0"/>
              </a:spcAft>
              <a:buNone/>
            </a:pPr>
            <a:r>
              <a:rPr lang="pl"/>
              <a:t>F1 Score:  0.6371</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0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Overfitting detremination</a:t>
            </a:r>
            <a:endParaRPr/>
          </a:p>
        </p:txBody>
      </p:sp>
      <p:sp>
        <p:nvSpPr>
          <p:cNvPr id="1011" name="Google Shape;1011;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1012" name="Google Shape;1012;p101"/>
          <p:cNvPicPr preferRelativeResize="0"/>
          <p:nvPr/>
        </p:nvPicPr>
        <p:blipFill>
          <a:blip r:embed="rId3">
            <a:alphaModFix/>
          </a:blip>
          <a:stretch>
            <a:fillRect/>
          </a:stretch>
        </p:blipFill>
        <p:spPr>
          <a:xfrm>
            <a:off x="1273675" y="1264975"/>
            <a:ext cx="6101329" cy="371407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0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Logistic regression</a:t>
            </a:r>
            <a:endParaRPr/>
          </a:p>
        </p:txBody>
      </p:sp>
      <p:sp>
        <p:nvSpPr>
          <p:cNvPr id="1018" name="Google Shape;1018;p1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1019" name="Google Shape;1019;p102"/>
          <p:cNvSpPr txBox="1"/>
          <p:nvPr/>
        </p:nvSpPr>
        <p:spPr>
          <a:xfrm>
            <a:off x="5222625" y="2610713"/>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l"/>
              <a:t>Best performance:</a:t>
            </a:r>
            <a:endParaRPr b="1"/>
          </a:p>
          <a:p>
            <a:pPr indent="0" lvl="0" marL="0" rtl="0" algn="l">
              <a:spcBef>
                <a:spcPts val="0"/>
              </a:spcBef>
              <a:spcAft>
                <a:spcPts val="0"/>
              </a:spcAft>
              <a:buNone/>
            </a:pPr>
            <a:r>
              <a:rPr b="1" lang="pl"/>
              <a:t>c = 1</a:t>
            </a:r>
            <a:endParaRPr b="1"/>
          </a:p>
          <a:p>
            <a:pPr indent="0" lvl="0" marL="0" rtl="0" algn="l">
              <a:spcBef>
                <a:spcPts val="0"/>
              </a:spcBef>
              <a:spcAft>
                <a:spcPts val="0"/>
              </a:spcAft>
              <a:buNone/>
            </a:pPr>
            <a:r>
              <a:rPr b="1" lang="pl"/>
              <a:t>mean_auc      0.74</a:t>
            </a:r>
            <a:endParaRPr b="1"/>
          </a:p>
          <a:p>
            <a:pPr indent="0" lvl="0" marL="0" rtl="0" algn="l">
              <a:spcBef>
                <a:spcPts val="0"/>
              </a:spcBef>
              <a:spcAft>
                <a:spcPts val="0"/>
              </a:spcAft>
              <a:buNone/>
            </a:pPr>
            <a:r>
              <a:rPr b="1" lang="pl"/>
              <a:t>std_auc       0.03</a:t>
            </a:r>
            <a:endParaRPr b="1"/>
          </a:p>
        </p:txBody>
      </p:sp>
      <p:pic>
        <p:nvPicPr>
          <p:cNvPr id="1020" name="Google Shape;1020;p102"/>
          <p:cNvPicPr preferRelativeResize="0"/>
          <p:nvPr/>
        </p:nvPicPr>
        <p:blipFill>
          <a:blip r:embed="rId3">
            <a:alphaModFix/>
          </a:blip>
          <a:stretch>
            <a:fillRect/>
          </a:stretch>
        </p:blipFill>
        <p:spPr>
          <a:xfrm>
            <a:off x="366700" y="1444850"/>
            <a:ext cx="4528449" cy="354625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0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Logistic regression on test data</a:t>
            </a:r>
            <a:endParaRPr/>
          </a:p>
        </p:txBody>
      </p:sp>
      <p:sp>
        <p:nvSpPr>
          <p:cNvPr id="1026" name="Google Shape;1026;p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1027" name="Google Shape;1027;p103"/>
          <p:cNvPicPr preferRelativeResize="0"/>
          <p:nvPr/>
        </p:nvPicPr>
        <p:blipFill>
          <a:blip r:embed="rId3">
            <a:alphaModFix/>
          </a:blip>
          <a:stretch>
            <a:fillRect/>
          </a:stretch>
        </p:blipFill>
        <p:spPr>
          <a:xfrm>
            <a:off x="311725" y="1429425"/>
            <a:ext cx="4740550" cy="3714075"/>
          </a:xfrm>
          <a:prstGeom prst="rect">
            <a:avLst/>
          </a:prstGeom>
          <a:noFill/>
          <a:ln>
            <a:noFill/>
          </a:ln>
        </p:spPr>
      </p:pic>
      <p:sp>
        <p:nvSpPr>
          <p:cNvPr id="1028" name="Google Shape;1028;p103"/>
          <p:cNvSpPr txBox="1"/>
          <p:nvPr/>
        </p:nvSpPr>
        <p:spPr>
          <a:xfrm>
            <a:off x="5137275" y="2547713"/>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l"/>
              <a:t>Metrics on test set:</a:t>
            </a:r>
            <a:endParaRPr b="1"/>
          </a:p>
          <a:p>
            <a:pPr indent="0" lvl="0" marL="0" rtl="0" algn="l">
              <a:spcBef>
                <a:spcPts val="0"/>
              </a:spcBef>
              <a:spcAft>
                <a:spcPts val="0"/>
              </a:spcAft>
              <a:buNone/>
            </a:pPr>
            <a:r>
              <a:rPr b="1" lang="pl"/>
              <a:t>Accuracy:  0.6256</a:t>
            </a:r>
            <a:endParaRPr b="1"/>
          </a:p>
          <a:p>
            <a:pPr indent="0" lvl="0" marL="0" rtl="0" algn="l">
              <a:spcBef>
                <a:spcPts val="0"/>
              </a:spcBef>
              <a:spcAft>
                <a:spcPts val="0"/>
              </a:spcAft>
              <a:buNone/>
            </a:pPr>
            <a:r>
              <a:rPr b="1" lang="pl"/>
              <a:t>Recall:    0.5351</a:t>
            </a:r>
            <a:endParaRPr b="1"/>
          </a:p>
          <a:p>
            <a:pPr indent="0" lvl="0" marL="0" rtl="0" algn="l">
              <a:spcBef>
                <a:spcPts val="0"/>
              </a:spcBef>
              <a:spcAft>
                <a:spcPts val="0"/>
              </a:spcAft>
              <a:buNone/>
            </a:pPr>
            <a:r>
              <a:rPr b="1" lang="pl"/>
              <a:t>AUC:       0.6974</a:t>
            </a:r>
            <a:endParaRPr b="1"/>
          </a:p>
          <a:p>
            <a:pPr indent="0" lvl="0" marL="0" rtl="0" algn="l">
              <a:spcBef>
                <a:spcPts val="0"/>
              </a:spcBef>
              <a:spcAft>
                <a:spcPts val="0"/>
              </a:spcAft>
              <a:buNone/>
            </a:pPr>
            <a:r>
              <a:rPr b="1" lang="pl"/>
              <a:t>Precision: 0.6226</a:t>
            </a:r>
            <a:endParaRPr b="1"/>
          </a:p>
          <a:p>
            <a:pPr indent="0" lvl="0" marL="0" rtl="0" algn="l">
              <a:spcBef>
                <a:spcPts val="0"/>
              </a:spcBef>
              <a:spcAft>
                <a:spcPts val="0"/>
              </a:spcAft>
              <a:buNone/>
            </a:pPr>
            <a:r>
              <a:rPr b="1" lang="pl"/>
              <a:t>F1 Score:  0.5756</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F6424A2442DE4792A8B8AA1009316B" ma:contentTypeVersion="8" ma:contentTypeDescription="Create a new document." ma:contentTypeScope="" ma:versionID="ca579b7596d820bbcd6c85c3910315ae">
  <xsd:schema xmlns:xsd="http://www.w3.org/2001/XMLSchema" xmlns:xs="http://www.w3.org/2001/XMLSchema" xmlns:p="http://schemas.microsoft.com/office/2006/metadata/properties" xmlns:ns2="7aaeaff4-cab8-42d9-ac18-7d357cd82656" targetNamespace="http://schemas.microsoft.com/office/2006/metadata/properties" ma:root="true" ma:fieldsID="c96df5d9f9e9ca91041b612fa3bc6e6b" ns2:_="">
    <xsd:import namespace="7aaeaff4-cab8-42d9-ac18-7d357cd8265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aeaff4-cab8-42d9-ac18-7d357cd826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df8619d-ff31-4982-ad5c-b33dabae477f"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aeaff4-cab8-42d9-ac18-7d357cd8265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04B6C1C-8BA0-49B8-94CA-909F49774A16}"/>
</file>

<file path=customXml/itemProps2.xml><?xml version="1.0" encoding="utf-8"?>
<ds:datastoreItem xmlns:ds="http://schemas.openxmlformats.org/officeDocument/2006/customXml" ds:itemID="{5D7E1A23-FE21-48B5-9692-7E3D39FFFC5D}"/>
</file>

<file path=customXml/itemProps3.xml><?xml version="1.0" encoding="utf-8"?>
<ds:datastoreItem xmlns:ds="http://schemas.openxmlformats.org/officeDocument/2006/customXml" ds:itemID="{60C87C6D-C9E3-4897-A27D-F0B7C1046A47}"/>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0x0101006BF6424A2442DE4792A8B8AA1009316B</vt:lpwstr>
  </property>
</Properties>
</file>